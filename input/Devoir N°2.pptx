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610"/>
  </p:normalViewPr>
  <p:slideViewPr>
    <p:cSldViewPr snapToGrid="0" snapToObjects="1">
      <p:cViewPr varScale="1">
        <p:scale>
          <a:sx n="88" d="100"/>
          <a:sy n="88" d="100"/>
        </p:scale>
        <p:origin x="81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87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Shape 1"/>
          <p:cNvSpPr/>
          <p:nvPr/>
        </p:nvSpPr>
        <p:spPr>
          <a:xfrm>
            <a:off x="6035040" y="0"/>
            <a:ext cx="3108960" cy="5143500"/>
          </a:xfrm>
          <a:prstGeom prst="rect">
            <a:avLst/>
          </a:prstGeom>
          <a:solidFill>
            <a:srgbClr val="2A3A7A"/>
          </a:solidFill>
          <a:ln/>
        </p:spPr>
        <p:txBody>
          <a:bodyPr/>
          <a:lstStyle/>
          <a:p>
            <a:endParaRPr lang="fr-FR"/>
          </a:p>
        </p:txBody>
      </p:sp>
      <p:sp>
        <p:nvSpPr>
          <p:cNvPr id="4" name="Shape 2"/>
          <p:cNvSpPr/>
          <p:nvPr/>
        </p:nvSpPr>
        <p:spPr>
          <a:xfrm>
            <a:off x="6858000" y="-914400"/>
            <a:ext cx="3657600" cy="3657600"/>
          </a:xfrm>
          <a:prstGeom prst="ellipse">
            <a:avLst/>
          </a:prstGeom>
          <a:solidFill>
            <a:srgbClr val="1E2761"/>
          </a:solidFill>
          <a:ln w="12700">
            <a:solidFill>
              <a:srgbClr val="C9A227"/>
            </a:solidFill>
            <a:prstDash val="solid"/>
          </a:ln>
        </p:spPr>
        <p:txBody>
          <a:bodyPr/>
          <a:lstStyle/>
          <a:p>
            <a:endParaRPr lang="fr-FR"/>
          </a:p>
        </p:txBody>
      </p:sp>
      <p:sp>
        <p:nvSpPr>
          <p:cNvPr id="5" name="Shape 3"/>
          <p:cNvSpPr/>
          <p:nvPr/>
        </p:nvSpPr>
        <p:spPr>
          <a:xfrm>
            <a:off x="7498080" y="2926080"/>
            <a:ext cx="2286000" cy="2286000"/>
          </a:xfrm>
          <a:prstGeom prst="ellipse">
            <a:avLst/>
          </a:prstGeom>
          <a:solidFill>
            <a:srgbClr val="2A3A7A"/>
          </a:solidFill>
          <a:ln w="9525">
            <a:solidFill>
              <a:srgbClr val="CADCFC"/>
            </a:solidFill>
            <a:prstDash val="solid"/>
          </a:ln>
        </p:spPr>
        <p:txBody>
          <a:bodyPr/>
          <a:lstStyle/>
          <a:p>
            <a:endParaRPr lang="fr-FR"/>
          </a:p>
        </p:txBody>
      </p:sp>
      <p:sp>
        <p:nvSpPr>
          <p:cNvPr id="6" name="Text 4"/>
          <p:cNvSpPr/>
          <p:nvPr/>
        </p:nvSpPr>
        <p:spPr>
          <a:xfrm>
            <a:off x="548640" y="640080"/>
            <a:ext cx="5486400" cy="365760"/>
          </a:xfrm>
          <a:prstGeom prst="rect">
            <a:avLst/>
          </a:prstGeom>
          <a:noFill/>
          <a:ln/>
        </p:spPr>
        <p:txBody>
          <a:bodyPr wrap="square" rtlCol="0" anchor="ctr"/>
          <a:lstStyle/>
          <a:p>
            <a:pPr marL="0" indent="0">
              <a:buNone/>
            </a:pPr>
            <a:r>
              <a:rPr lang="en-US" sz="1200" b="1" kern="0" spc="300" dirty="0">
                <a:solidFill>
                  <a:srgbClr val="C9A227"/>
                </a:solidFill>
                <a:latin typeface="Calibri" pitchFamily="34" charset="0"/>
                <a:ea typeface="Calibri" pitchFamily="34" charset="-122"/>
                <a:cs typeface="Calibri" pitchFamily="34" charset="-120"/>
              </a:rPr>
              <a:t>ESPI  •  ALT3  •  TEAM WORK D2</a:t>
            </a:r>
            <a:endParaRPr lang="en-US" sz="1200" dirty="0"/>
          </a:p>
        </p:txBody>
      </p:sp>
      <p:sp>
        <p:nvSpPr>
          <p:cNvPr id="7" name="Text 5"/>
          <p:cNvSpPr/>
          <p:nvPr/>
        </p:nvSpPr>
        <p:spPr>
          <a:xfrm>
            <a:off x="548640" y="1371600"/>
            <a:ext cx="5943600" cy="9144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Marketing de l'Immobilier</a:t>
            </a:r>
            <a:endParaRPr lang="en-US" sz="3600" dirty="0"/>
          </a:p>
        </p:txBody>
      </p:sp>
      <p:sp>
        <p:nvSpPr>
          <p:cNvPr id="8" name="Text 6"/>
          <p:cNvSpPr/>
          <p:nvPr/>
        </p:nvSpPr>
        <p:spPr>
          <a:xfrm>
            <a:off x="548640" y="2331720"/>
            <a:ext cx="5943600" cy="457200"/>
          </a:xfrm>
          <a:prstGeom prst="rect">
            <a:avLst/>
          </a:prstGeom>
          <a:noFill/>
          <a:ln/>
        </p:spPr>
        <p:txBody>
          <a:bodyPr wrap="square" rtlCol="0" anchor="ctr"/>
          <a:lstStyle/>
          <a:p>
            <a:pPr marL="0" indent="0">
              <a:buNone/>
            </a:pPr>
            <a:r>
              <a:rPr lang="en-US" sz="1800" i="1" dirty="0">
                <a:solidFill>
                  <a:srgbClr val="CADCFC"/>
                </a:solidFill>
                <a:latin typeface="Georgia" pitchFamily="34" charset="0"/>
                <a:ea typeface="Georgia" pitchFamily="34" charset="-122"/>
                <a:cs typeface="Georgia" pitchFamily="34" charset="-120"/>
              </a:rPr>
              <a:t>Du Marketing Mix à la Relation Client</a:t>
            </a:r>
            <a:endParaRPr lang="en-US" sz="1800" dirty="0"/>
          </a:p>
        </p:txBody>
      </p:sp>
      <p:sp>
        <p:nvSpPr>
          <p:cNvPr id="9" name="Shape 7"/>
          <p:cNvSpPr/>
          <p:nvPr/>
        </p:nvSpPr>
        <p:spPr>
          <a:xfrm>
            <a:off x="548640" y="2926080"/>
            <a:ext cx="548640" cy="36576"/>
          </a:xfrm>
          <a:prstGeom prst="rect">
            <a:avLst/>
          </a:prstGeom>
          <a:solidFill>
            <a:srgbClr val="C9A227"/>
          </a:solidFill>
          <a:ln/>
        </p:spPr>
        <p:txBody>
          <a:bodyPr/>
          <a:lstStyle/>
          <a:p>
            <a:endParaRPr lang="fr-FR"/>
          </a:p>
        </p:txBody>
      </p:sp>
      <p:sp>
        <p:nvSpPr>
          <p:cNvPr id="10" name="Text 8"/>
          <p:cNvSpPr/>
          <p:nvPr/>
        </p:nvSpPr>
        <p:spPr>
          <a:xfrm>
            <a:off x="548640" y="3063240"/>
            <a:ext cx="5486400" cy="320040"/>
          </a:xfrm>
          <a:prstGeom prst="rect">
            <a:avLst/>
          </a:prstGeom>
          <a:noFill/>
          <a:ln/>
        </p:spPr>
        <p:txBody>
          <a:bodyPr wrap="square" rtlCol="0" anchor="ctr"/>
          <a:lstStyle/>
          <a:p>
            <a:pPr marL="0" indent="0">
              <a:buNone/>
            </a:pPr>
            <a:endParaRPr lang="en-US" sz="1300" dirty="0"/>
          </a:p>
        </p:txBody>
      </p:sp>
      <p:sp>
        <p:nvSpPr>
          <p:cNvPr id="11" name="Text 9"/>
          <p:cNvSpPr/>
          <p:nvPr/>
        </p:nvSpPr>
        <p:spPr>
          <a:xfrm>
            <a:off x="228600" y="4011743"/>
            <a:ext cx="82296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Groupe : </a:t>
            </a:r>
            <a:r>
              <a:rPr lang="en-US" sz="1100" dirty="0">
                <a:solidFill>
                  <a:srgbClr val="CADCFC"/>
                </a:solidFill>
                <a:latin typeface="Calibri" pitchFamily="34" charset="0"/>
                <a:ea typeface="Calibri" pitchFamily="34" charset="-122"/>
                <a:cs typeface="Calibri" pitchFamily="34" charset="-120"/>
              </a:rPr>
              <a:t>Aloys Gervois  •  Matisse Lebreton  •  Matheis Lopes  •  Edouard Saury  •  Corentin Lardeux</a:t>
            </a:r>
            <a:endParaRPr lang="en-US" sz="1100" dirty="0"/>
          </a:p>
        </p:txBody>
      </p:sp>
      <p:sp>
        <p:nvSpPr>
          <p:cNvPr id="12" name="Text 10"/>
          <p:cNvSpPr/>
          <p:nvPr/>
        </p:nvSpPr>
        <p:spPr>
          <a:xfrm>
            <a:off x="548640" y="4343400"/>
            <a:ext cx="8229600" cy="274320"/>
          </a:xfrm>
          <a:prstGeom prst="rect">
            <a:avLst/>
          </a:prstGeom>
          <a:noFill/>
          <a:ln/>
        </p:spPr>
        <p:txBody>
          <a:bodyPr wrap="square" rtlCol="0" anchor="ctr"/>
          <a:lstStyle/>
          <a:p>
            <a:pPr marL="0" indent="0">
              <a:buNone/>
            </a:pPr>
            <a:endParaRPr lang="en-US" sz="1000" dirty="0"/>
          </a:p>
        </p:txBody>
      </p:sp>
      <p:sp>
        <p:nvSpPr>
          <p:cNvPr id="13" name="Text 11"/>
          <p:cNvSpPr/>
          <p:nvPr/>
        </p:nvSpPr>
        <p:spPr>
          <a:xfrm>
            <a:off x="548640" y="4617720"/>
            <a:ext cx="8229600" cy="274320"/>
          </a:xfrm>
          <a:prstGeom prst="rect">
            <a:avLst/>
          </a:prstGeom>
          <a:noFill/>
          <a:ln/>
        </p:spPr>
        <p:txBody>
          <a:bodyPr wrap="square" rtlCol="0" anchor="ctr"/>
          <a:lstStyle/>
          <a:p>
            <a:pPr marL="0" indent="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PLAN</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Sommaire</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2 / 15</a:t>
            </a:r>
            <a:endParaRPr lang="en-US" sz="900" dirty="0"/>
          </a:p>
        </p:txBody>
      </p:sp>
      <p:sp>
        <p:nvSpPr>
          <p:cNvPr id="9" name="Text 7"/>
          <p:cNvSpPr/>
          <p:nvPr/>
        </p:nvSpPr>
        <p:spPr>
          <a:xfrm>
            <a:off x="548640" y="155448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01</a:t>
            </a:r>
            <a:endParaRPr lang="en-US" sz="1800" dirty="0"/>
          </a:p>
        </p:txBody>
      </p:sp>
      <p:sp>
        <p:nvSpPr>
          <p:cNvPr id="10" name="Text 8"/>
          <p:cNvSpPr/>
          <p:nvPr/>
        </p:nvSpPr>
        <p:spPr>
          <a:xfrm>
            <a:off x="1143000" y="155448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Introduction</a:t>
            </a:r>
            <a:endParaRPr lang="en-US" sz="1400" dirty="0"/>
          </a:p>
        </p:txBody>
      </p:sp>
      <p:sp>
        <p:nvSpPr>
          <p:cNvPr id="11" name="Text 9"/>
          <p:cNvSpPr/>
          <p:nvPr/>
        </p:nvSpPr>
        <p:spPr>
          <a:xfrm>
            <a:off x="4572000" y="155448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Le marketing au cœur de l'immobilier</a:t>
            </a:r>
            <a:endParaRPr lang="en-US" sz="1100" dirty="0"/>
          </a:p>
        </p:txBody>
      </p:sp>
      <p:sp>
        <p:nvSpPr>
          <p:cNvPr id="12" name="Text 10"/>
          <p:cNvSpPr/>
          <p:nvPr/>
        </p:nvSpPr>
        <p:spPr>
          <a:xfrm>
            <a:off x="548640" y="196596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1143000" y="196596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Thème 1 — Le Marketing Mix</a:t>
            </a:r>
            <a:endParaRPr lang="en-US" sz="1400" dirty="0"/>
          </a:p>
        </p:txBody>
      </p:sp>
      <p:sp>
        <p:nvSpPr>
          <p:cNvPr id="14" name="Text 12"/>
          <p:cNvSpPr/>
          <p:nvPr/>
        </p:nvSpPr>
        <p:spPr>
          <a:xfrm>
            <a:off x="4572000" y="196596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Définition, 4P et extension au 7P</a:t>
            </a:r>
            <a:endParaRPr lang="en-US" sz="1100" dirty="0"/>
          </a:p>
        </p:txBody>
      </p:sp>
      <p:sp>
        <p:nvSpPr>
          <p:cNvPr id="15" name="Text 13"/>
          <p:cNvSpPr/>
          <p:nvPr/>
        </p:nvSpPr>
        <p:spPr>
          <a:xfrm>
            <a:off x="548640" y="237744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03</a:t>
            </a:r>
            <a:endParaRPr lang="en-US" sz="1800" dirty="0"/>
          </a:p>
        </p:txBody>
      </p:sp>
      <p:sp>
        <p:nvSpPr>
          <p:cNvPr id="16" name="Text 14"/>
          <p:cNvSpPr/>
          <p:nvPr/>
        </p:nvSpPr>
        <p:spPr>
          <a:xfrm>
            <a:off x="1143000" y="237744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Application au secteur immobilier</a:t>
            </a:r>
            <a:endParaRPr lang="en-US" sz="1400" dirty="0"/>
          </a:p>
        </p:txBody>
      </p:sp>
      <p:sp>
        <p:nvSpPr>
          <p:cNvPr id="17" name="Text 15"/>
          <p:cNvSpPr/>
          <p:nvPr/>
        </p:nvSpPr>
        <p:spPr>
          <a:xfrm>
            <a:off x="4572000" y="237744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Lecture sectorielle des 7P</a:t>
            </a:r>
            <a:endParaRPr lang="en-US" sz="1100" dirty="0"/>
          </a:p>
        </p:txBody>
      </p:sp>
      <p:sp>
        <p:nvSpPr>
          <p:cNvPr id="18" name="Text 16"/>
          <p:cNvSpPr/>
          <p:nvPr/>
        </p:nvSpPr>
        <p:spPr>
          <a:xfrm>
            <a:off x="548640" y="278892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04</a:t>
            </a:r>
            <a:endParaRPr lang="en-US" sz="1800" dirty="0"/>
          </a:p>
        </p:txBody>
      </p:sp>
      <p:sp>
        <p:nvSpPr>
          <p:cNvPr id="19" name="Text 17"/>
          <p:cNvSpPr/>
          <p:nvPr/>
        </p:nvSpPr>
        <p:spPr>
          <a:xfrm>
            <a:off x="1143000" y="278892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Thème 2 — La GRC &amp; le marketing relationnel</a:t>
            </a:r>
            <a:endParaRPr lang="en-US" sz="1400" dirty="0"/>
          </a:p>
        </p:txBody>
      </p:sp>
      <p:sp>
        <p:nvSpPr>
          <p:cNvPr id="20" name="Text 18"/>
          <p:cNvSpPr/>
          <p:nvPr/>
        </p:nvSpPr>
        <p:spPr>
          <a:xfrm>
            <a:off x="4572000" y="278892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De la transaction à la relation</a:t>
            </a:r>
            <a:endParaRPr lang="en-US" sz="1100" dirty="0"/>
          </a:p>
        </p:txBody>
      </p:sp>
      <p:sp>
        <p:nvSpPr>
          <p:cNvPr id="21" name="Text 19"/>
          <p:cNvSpPr/>
          <p:nvPr/>
        </p:nvSpPr>
        <p:spPr>
          <a:xfrm>
            <a:off x="548640" y="320040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05</a:t>
            </a:r>
            <a:endParaRPr lang="en-US" sz="1800" dirty="0"/>
          </a:p>
        </p:txBody>
      </p:sp>
      <p:sp>
        <p:nvSpPr>
          <p:cNvPr id="22" name="Text 20"/>
          <p:cNvSpPr/>
          <p:nvPr/>
        </p:nvSpPr>
        <p:spPr>
          <a:xfrm>
            <a:off x="1143000" y="320040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Le parcours client</a:t>
            </a:r>
            <a:endParaRPr lang="en-US" sz="1400" dirty="0"/>
          </a:p>
        </p:txBody>
      </p:sp>
      <p:sp>
        <p:nvSpPr>
          <p:cNvPr id="23" name="Text 21"/>
          <p:cNvSpPr/>
          <p:nvPr/>
        </p:nvSpPr>
        <p:spPr>
          <a:xfrm>
            <a:off x="4572000" y="320040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Avant, pendant, après l'achat</a:t>
            </a:r>
            <a:endParaRPr lang="en-US" sz="1100" dirty="0"/>
          </a:p>
        </p:txBody>
      </p:sp>
      <p:sp>
        <p:nvSpPr>
          <p:cNvPr id="24" name="Text 22"/>
          <p:cNvSpPr/>
          <p:nvPr/>
        </p:nvSpPr>
        <p:spPr>
          <a:xfrm>
            <a:off x="548640" y="361188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06</a:t>
            </a:r>
            <a:endParaRPr lang="en-US" sz="1800" dirty="0"/>
          </a:p>
        </p:txBody>
      </p:sp>
      <p:sp>
        <p:nvSpPr>
          <p:cNvPr id="25" name="Text 23"/>
          <p:cNvSpPr/>
          <p:nvPr/>
        </p:nvSpPr>
        <p:spPr>
          <a:xfrm>
            <a:off x="1143000" y="361188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Étude de cas : Bouygues Immobilier</a:t>
            </a:r>
            <a:endParaRPr lang="en-US" sz="1400" dirty="0"/>
          </a:p>
        </p:txBody>
      </p:sp>
      <p:sp>
        <p:nvSpPr>
          <p:cNvPr id="26" name="Text 24"/>
          <p:cNvSpPr/>
          <p:nvPr/>
        </p:nvSpPr>
        <p:spPr>
          <a:xfrm>
            <a:off x="4572000" y="361188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Un parcours client orchestré</a:t>
            </a:r>
            <a:endParaRPr lang="en-US" sz="1100" dirty="0"/>
          </a:p>
        </p:txBody>
      </p:sp>
      <p:sp>
        <p:nvSpPr>
          <p:cNvPr id="27" name="Text 25"/>
          <p:cNvSpPr/>
          <p:nvPr/>
        </p:nvSpPr>
        <p:spPr>
          <a:xfrm>
            <a:off x="548640" y="4023360"/>
            <a:ext cx="548640" cy="411480"/>
          </a:xfrm>
          <a:prstGeom prst="rect">
            <a:avLst/>
          </a:prstGeom>
          <a:noFill/>
          <a:ln/>
        </p:spPr>
        <p:txBody>
          <a:bodyPr wrap="square" lIns="0" tIns="0" rIns="0" bIns="0" rtlCol="0" anchor="ctr"/>
          <a:lstStyle/>
          <a:p>
            <a:pPr marL="0" indent="0">
              <a:buNone/>
            </a:pPr>
            <a:r>
              <a:rPr lang="en-US" sz="1800" b="1" dirty="0">
                <a:solidFill>
                  <a:srgbClr val="C9A227"/>
                </a:solidFill>
                <a:latin typeface="Georgia" pitchFamily="34" charset="0"/>
                <a:ea typeface="Georgia" pitchFamily="34" charset="-122"/>
                <a:cs typeface="Georgia" pitchFamily="34" charset="-120"/>
              </a:rPr>
              <a:t>07</a:t>
            </a:r>
            <a:endParaRPr lang="en-US" sz="1800" dirty="0"/>
          </a:p>
        </p:txBody>
      </p:sp>
      <p:sp>
        <p:nvSpPr>
          <p:cNvPr id="28" name="Text 26"/>
          <p:cNvSpPr/>
          <p:nvPr/>
        </p:nvSpPr>
        <p:spPr>
          <a:xfrm>
            <a:off x="1143000" y="4023360"/>
            <a:ext cx="4572000" cy="4114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Conclusion &amp; enjeux</a:t>
            </a:r>
            <a:endParaRPr lang="en-US" sz="1400" dirty="0"/>
          </a:p>
        </p:txBody>
      </p:sp>
      <p:sp>
        <p:nvSpPr>
          <p:cNvPr id="29" name="Text 27"/>
          <p:cNvSpPr/>
          <p:nvPr/>
        </p:nvSpPr>
        <p:spPr>
          <a:xfrm>
            <a:off x="4572000" y="4023360"/>
            <a:ext cx="4206240" cy="411480"/>
          </a:xfrm>
          <a:prstGeom prst="rect">
            <a:avLst/>
          </a:prstGeom>
          <a:noFill/>
          <a:ln/>
        </p:spPr>
        <p:txBody>
          <a:bodyPr wrap="square" lIns="0" tIns="0" rIns="0" bIns="0" rtlCol="0" anchor="ctr"/>
          <a:lstStyle/>
          <a:p>
            <a:pPr marL="0" indent="0" algn="r">
              <a:buNone/>
            </a:pPr>
            <a:r>
              <a:rPr lang="en-US" sz="1100" i="1" dirty="0">
                <a:solidFill>
                  <a:srgbClr val="64748B"/>
                </a:solidFill>
                <a:latin typeface="Calibri" pitchFamily="34" charset="0"/>
                <a:ea typeface="Calibri" pitchFamily="34" charset="-122"/>
                <a:cs typeface="Calibri" pitchFamily="34" charset="-120"/>
              </a:rPr>
              <a:t>Vers une expérience client augmentée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INTRODUCTION</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Pourquoi le marketing en immobilier ?</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 / 15</a:t>
            </a:r>
            <a:endParaRPr lang="en-US" sz="900" dirty="0"/>
          </a:p>
        </p:txBody>
      </p:sp>
      <p:sp>
        <p:nvSpPr>
          <p:cNvPr id="9" name="Text 7"/>
          <p:cNvSpPr/>
          <p:nvPr/>
        </p:nvSpPr>
        <p:spPr>
          <a:xfrm>
            <a:off x="365760" y="1554480"/>
            <a:ext cx="5120640" cy="3017520"/>
          </a:xfrm>
          <a:prstGeom prst="rect">
            <a:avLst/>
          </a:prstGeom>
          <a:noFill/>
          <a:ln/>
        </p:spPr>
        <p:txBody>
          <a:bodyPr wrap="square" rtlCol="0" anchor="ctr"/>
          <a:lstStyle/>
          <a:p>
            <a:pPr marL="0" indent="0">
              <a:spcAft>
                <a:spcPts val="600"/>
              </a:spcAft>
              <a:buNone/>
            </a:pPr>
            <a:r>
              <a:rPr lang="en-US" sz="1200" b="1" dirty="0">
                <a:solidFill>
                  <a:srgbClr val="1E2761"/>
                </a:solidFill>
                <a:latin typeface="Calibri" pitchFamily="34" charset="0"/>
                <a:ea typeface="Calibri" pitchFamily="34" charset="-122"/>
                <a:cs typeface="Calibri" pitchFamily="34" charset="-120"/>
              </a:rPr>
              <a:t>Un marché en mutation profonde. </a:t>
            </a:r>
            <a:endParaRPr lang="en-US" sz="1200" dirty="0"/>
          </a:p>
          <a:p>
            <a:pPr marL="0" indent="0">
              <a:spcAft>
                <a:spcPts val="600"/>
              </a:spcAft>
              <a:buNone/>
            </a:pPr>
            <a:r>
              <a:rPr lang="en-US" sz="1200" dirty="0">
                <a:solidFill>
                  <a:srgbClr val="1F2937"/>
                </a:solidFill>
                <a:latin typeface="Calibri" pitchFamily="34" charset="0"/>
                <a:ea typeface="Calibri" pitchFamily="34" charset="-122"/>
                <a:cs typeface="Calibri" pitchFamily="34" charset="-120"/>
              </a:rPr>
              <a:t>Hausse des taux, raréfaction du foncier, exigences ESG, nouveaux usages post-Covid : le </a:t>
            </a:r>
            <a:r>
              <a:rPr lang="en-US" sz="1200" dirty="0" err="1">
                <a:solidFill>
                  <a:srgbClr val="1F2937"/>
                </a:solidFill>
                <a:latin typeface="Calibri" pitchFamily="34" charset="0"/>
                <a:ea typeface="Calibri" pitchFamily="34" charset="-122"/>
                <a:cs typeface="Calibri" pitchFamily="34" charset="-120"/>
              </a:rPr>
              <a:t>secteur</a:t>
            </a:r>
            <a:r>
              <a:rPr lang="en-US" sz="1200" dirty="0">
                <a:solidFill>
                  <a:srgbClr val="1F2937"/>
                </a:solidFill>
                <a:latin typeface="Calibri" pitchFamily="34" charset="0"/>
                <a:ea typeface="Calibri" pitchFamily="34" charset="-122"/>
                <a:cs typeface="Calibri" pitchFamily="34" charset="-120"/>
              </a:rPr>
              <a:t> </a:t>
            </a:r>
            <a:r>
              <a:rPr lang="en-US" sz="1200" dirty="0" err="1">
                <a:solidFill>
                  <a:srgbClr val="1F2937"/>
                </a:solidFill>
                <a:latin typeface="Calibri" pitchFamily="34" charset="0"/>
                <a:ea typeface="Calibri" pitchFamily="34" charset="-122"/>
                <a:cs typeface="Calibri" pitchFamily="34" charset="-120"/>
              </a:rPr>
              <a:t>immobilier</a:t>
            </a:r>
            <a:r>
              <a:rPr lang="en-US" sz="1200" dirty="0">
                <a:solidFill>
                  <a:srgbClr val="1F2937"/>
                </a:solidFill>
                <a:latin typeface="Calibri" pitchFamily="34" charset="0"/>
                <a:ea typeface="Calibri" pitchFamily="34" charset="-122"/>
                <a:cs typeface="Calibri" pitchFamily="34" charset="-120"/>
              </a:rPr>
              <a:t>, résidentiel comme </a:t>
            </a:r>
            <a:r>
              <a:rPr lang="en-US" sz="1200" dirty="0" err="1">
                <a:solidFill>
                  <a:srgbClr val="1F2937"/>
                </a:solidFill>
                <a:latin typeface="Calibri" pitchFamily="34" charset="0"/>
                <a:ea typeface="Calibri" pitchFamily="34" charset="-122"/>
                <a:cs typeface="Calibri" pitchFamily="34" charset="-120"/>
              </a:rPr>
              <a:t>tertiaire</a:t>
            </a:r>
            <a:r>
              <a:rPr lang="en-US" sz="1200" dirty="0">
                <a:solidFill>
                  <a:srgbClr val="1F2937"/>
                </a:solidFill>
                <a:latin typeface="Calibri" pitchFamily="34" charset="0"/>
                <a:ea typeface="Calibri" pitchFamily="34" charset="-122"/>
                <a:cs typeface="Calibri" pitchFamily="34" charset="-120"/>
              </a:rPr>
              <a:t> </a:t>
            </a:r>
            <a:r>
              <a:rPr lang="en-US" sz="1200" dirty="0" err="1">
                <a:solidFill>
                  <a:srgbClr val="1F2937"/>
                </a:solidFill>
                <a:latin typeface="Calibri" pitchFamily="34" charset="0"/>
                <a:ea typeface="Calibri" pitchFamily="34" charset="-122"/>
                <a:cs typeface="Calibri" pitchFamily="34" charset="-120"/>
              </a:rPr>
              <a:t>n'échappe</a:t>
            </a:r>
            <a:r>
              <a:rPr lang="en-US" sz="1200" dirty="0">
                <a:solidFill>
                  <a:srgbClr val="1F2937"/>
                </a:solidFill>
                <a:latin typeface="Calibri" pitchFamily="34" charset="0"/>
                <a:ea typeface="Calibri" pitchFamily="34" charset="-122"/>
                <a:cs typeface="Calibri" pitchFamily="34" charset="-120"/>
              </a:rPr>
              <a:t> plus à la logique de différenciation marketing.</a:t>
            </a:r>
            <a:endParaRPr lang="en-US" sz="1200" dirty="0"/>
          </a:p>
          <a:p>
            <a:pPr marL="0" indent="0">
              <a:spcAft>
                <a:spcPts val="6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marL="0" indent="0">
              <a:spcAft>
                <a:spcPts val="600"/>
              </a:spcAft>
              <a:buNone/>
            </a:pPr>
            <a:r>
              <a:rPr lang="en-US" sz="1200" b="1" dirty="0">
                <a:solidFill>
                  <a:srgbClr val="1E2761"/>
                </a:solidFill>
                <a:latin typeface="Calibri" pitchFamily="34" charset="0"/>
                <a:ea typeface="Calibri" pitchFamily="34" charset="-122"/>
                <a:cs typeface="Calibri" pitchFamily="34" charset="-120"/>
              </a:rPr>
              <a:t>D'un produit à une expérience. </a:t>
            </a:r>
            <a:endParaRPr lang="en-US" sz="1200" dirty="0"/>
          </a:p>
          <a:p>
            <a:pPr marL="0" indent="0">
              <a:spcAft>
                <a:spcPts val="600"/>
              </a:spcAft>
              <a:buNone/>
            </a:pPr>
            <a:r>
              <a:rPr lang="en-US" sz="1200" dirty="0">
                <a:solidFill>
                  <a:srgbClr val="1F2937"/>
                </a:solidFill>
                <a:latin typeface="Calibri" pitchFamily="34" charset="0"/>
                <a:ea typeface="Calibri" pitchFamily="34" charset="-122"/>
                <a:cs typeface="Calibri" pitchFamily="34" charset="-120"/>
              </a:rPr>
              <a:t>Le bien immobilier ne se vend plus seul : il s'inscrit dans une promesse de marque, un parcours d'achat long et </a:t>
            </a:r>
            <a:r>
              <a:rPr lang="en-US" sz="1200" dirty="0" err="1">
                <a:solidFill>
                  <a:srgbClr val="1F2937"/>
                </a:solidFill>
                <a:latin typeface="Calibri" pitchFamily="34" charset="0"/>
                <a:ea typeface="Calibri" pitchFamily="34" charset="-122"/>
                <a:cs typeface="Calibri" pitchFamily="34" charset="-120"/>
              </a:rPr>
              <a:t>émotionnel</a:t>
            </a:r>
            <a:r>
              <a:rPr lang="en-US" sz="1200" dirty="0">
                <a:solidFill>
                  <a:srgbClr val="1F2937"/>
                </a:solidFill>
                <a:latin typeface="Calibri" pitchFamily="34" charset="0"/>
                <a:ea typeface="Calibri" pitchFamily="34" charset="-122"/>
                <a:cs typeface="Calibri" pitchFamily="34" charset="-120"/>
              </a:rPr>
              <a:t> </a:t>
            </a:r>
            <a:r>
              <a:rPr lang="en-US" sz="1200" dirty="0" err="1">
                <a:solidFill>
                  <a:srgbClr val="1F2937"/>
                </a:solidFill>
                <a:latin typeface="Calibri" pitchFamily="34" charset="0"/>
                <a:ea typeface="Calibri" pitchFamily="34" charset="-122"/>
                <a:cs typeface="Calibri" pitchFamily="34" charset="-120"/>
              </a:rPr>
              <a:t>ainsi</a:t>
            </a:r>
            <a:r>
              <a:rPr lang="en-US" sz="1200" dirty="0">
                <a:solidFill>
                  <a:srgbClr val="1F2937"/>
                </a:solidFill>
                <a:latin typeface="Calibri" pitchFamily="34" charset="0"/>
                <a:ea typeface="Calibri" pitchFamily="34" charset="-122"/>
                <a:cs typeface="Calibri" pitchFamily="34" charset="-120"/>
              </a:rPr>
              <a:t> </a:t>
            </a:r>
            <a:r>
              <a:rPr lang="en-US" sz="1200" dirty="0" err="1">
                <a:solidFill>
                  <a:srgbClr val="1F2937"/>
                </a:solidFill>
                <a:latin typeface="Calibri" pitchFamily="34" charset="0"/>
                <a:ea typeface="Calibri" pitchFamily="34" charset="-122"/>
                <a:cs typeface="Calibri" pitchFamily="34" charset="-120"/>
              </a:rPr>
              <a:t>qu’une</a:t>
            </a:r>
            <a:r>
              <a:rPr lang="en-US" sz="1200" dirty="0">
                <a:solidFill>
                  <a:srgbClr val="1F2937"/>
                </a:solidFill>
                <a:latin typeface="Calibri" pitchFamily="34" charset="0"/>
                <a:ea typeface="Calibri" pitchFamily="34" charset="-122"/>
                <a:cs typeface="Calibri" pitchFamily="34" charset="-120"/>
              </a:rPr>
              <a:t> relation client qui se prolonge bien après la signature.</a:t>
            </a:r>
            <a:endParaRPr lang="en-US" sz="1200" dirty="0"/>
          </a:p>
        </p:txBody>
      </p:sp>
      <p:sp>
        <p:nvSpPr>
          <p:cNvPr id="10" name="Shape 8"/>
          <p:cNvSpPr/>
          <p:nvPr/>
        </p:nvSpPr>
        <p:spPr>
          <a:xfrm>
            <a:off x="5669280" y="1554480"/>
            <a:ext cx="3200400" cy="86868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5669280" y="1554480"/>
            <a:ext cx="73152" cy="868680"/>
          </a:xfrm>
          <a:prstGeom prst="rect">
            <a:avLst/>
          </a:prstGeom>
          <a:solidFill>
            <a:srgbClr val="C9A227"/>
          </a:solidFill>
          <a:ln w="12700">
            <a:solidFill>
              <a:srgbClr val="C9A227"/>
            </a:solidFill>
            <a:prstDash val="solid"/>
          </a:ln>
        </p:spPr>
        <p:txBody>
          <a:bodyPr/>
          <a:lstStyle/>
          <a:p>
            <a:endParaRPr lang="fr-FR"/>
          </a:p>
        </p:txBody>
      </p:sp>
      <p:sp>
        <p:nvSpPr>
          <p:cNvPr id="12" name="Text 10"/>
          <p:cNvSpPr/>
          <p:nvPr/>
        </p:nvSpPr>
        <p:spPr>
          <a:xfrm>
            <a:off x="5806440" y="1627632"/>
            <a:ext cx="3017520" cy="384048"/>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 18 mois</a:t>
            </a:r>
            <a:endParaRPr lang="en-US" sz="2000" dirty="0"/>
          </a:p>
        </p:txBody>
      </p:sp>
      <p:sp>
        <p:nvSpPr>
          <p:cNvPr id="13" name="Text 11"/>
          <p:cNvSpPr/>
          <p:nvPr/>
        </p:nvSpPr>
        <p:spPr>
          <a:xfrm>
            <a:off x="5806440" y="2011680"/>
            <a:ext cx="301752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durée moyenne d'un parcours d'achat immobilier neuf</a:t>
            </a:r>
            <a:endParaRPr lang="en-US" sz="1000" dirty="0"/>
          </a:p>
        </p:txBody>
      </p:sp>
      <p:sp>
        <p:nvSpPr>
          <p:cNvPr id="14" name="Shape 12"/>
          <p:cNvSpPr/>
          <p:nvPr/>
        </p:nvSpPr>
        <p:spPr>
          <a:xfrm>
            <a:off x="5669280" y="2514600"/>
            <a:ext cx="3200400" cy="868680"/>
          </a:xfrm>
          <a:prstGeom prst="rect">
            <a:avLst/>
          </a:prstGeom>
          <a:solidFill>
            <a:srgbClr val="F5F7FB"/>
          </a:solidFill>
          <a:ln w="9525">
            <a:solidFill>
              <a:srgbClr val="CADCFC"/>
            </a:solidFill>
            <a:prstDash val="solid"/>
          </a:ln>
        </p:spPr>
        <p:txBody>
          <a:bodyPr/>
          <a:lstStyle/>
          <a:p>
            <a:endParaRPr lang="fr-FR"/>
          </a:p>
        </p:txBody>
      </p:sp>
      <p:sp>
        <p:nvSpPr>
          <p:cNvPr id="15" name="Shape 13"/>
          <p:cNvSpPr/>
          <p:nvPr/>
        </p:nvSpPr>
        <p:spPr>
          <a:xfrm>
            <a:off x="5669280" y="2514600"/>
            <a:ext cx="73152" cy="868680"/>
          </a:xfrm>
          <a:prstGeom prst="rect">
            <a:avLst/>
          </a:prstGeom>
          <a:solidFill>
            <a:srgbClr val="C9A227"/>
          </a:solidFill>
          <a:ln w="12700">
            <a:solidFill>
              <a:srgbClr val="C9A227"/>
            </a:solidFill>
            <a:prstDash val="solid"/>
          </a:ln>
        </p:spPr>
        <p:txBody>
          <a:bodyPr/>
          <a:lstStyle/>
          <a:p>
            <a:endParaRPr lang="fr-FR"/>
          </a:p>
        </p:txBody>
      </p:sp>
      <p:sp>
        <p:nvSpPr>
          <p:cNvPr id="16" name="Text 14"/>
          <p:cNvSpPr/>
          <p:nvPr/>
        </p:nvSpPr>
        <p:spPr>
          <a:xfrm>
            <a:off x="5806440" y="2587752"/>
            <a:ext cx="3017520" cy="384048"/>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7 P</a:t>
            </a:r>
            <a:endParaRPr lang="en-US" sz="2000" dirty="0"/>
          </a:p>
        </p:txBody>
      </p:sp>
      <p:sp>
        <p:nvSpPr>
          <p:cNvPr id="17" name="Text 15"/>
          <p:cNvSpPr/>
          <p:nvPr/>
        </p:nvSpPr>
        <p:spPr>
          <a:xfrm>
            <a:off x="5806440" y="2971800"/>
            <a:ext cx="301752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du marketing des services appliqués à l'immobilier</a:t>
            </a:r>
            <a:endParaRPr lang="en-US" sz="1000" dirty="0"/>
          </a:p>
        </p:txBody>
      </p:sp>
      <p:sp>
        <p:nvSpPr>
          <p:cNvPr id="18" name="Shape 16"/>
          <p:cNvSpPr/>
          <p:nvPr/>
        </p:nvSpPr>
        <p:spPr>
          <a:xfrm>
            <a:off x="5669280" y="3474720"/>
            <a:ext cx="3200400" cy="868680"/>
          </a:xfrm>
          <a:prstGeom prst="rect">
            <a:avLst/>
          </a:prstGeom>
          <a:solidFill>
            <a:srgbClr val="F5F7FB"/>
          </a:solidFill>
          <a:ln w="9525">
            <a:solidFill>
              <a:srgbClr val="CADCFC"/>
            </a:solidFill>
            <a:prstDash val="solid"/>
          </a:ln>
        </p:spPr>
        <p:txBody>
          <a:bodyPr/>
          <a:lstStyle/>
          <a:p>
            <a:endParaRPr lang="fr-FR"/>
          </a:p>
        </p:txBody>
      </p:sp>
      <p:sp>
        <p:nvSpPr>
          <p:cNvPr id="19" name="Shape 17"/>
          <p:cNvSpPr/>
          <p:nvPr/>
        </p:nvSpPr>
        <p:spPr>
          <a:xfrm>
            <a:off x="5669280" y="3474720"/>
            <a:ext cx="73152" cy="868680"/>
          </a:xfrm>
          <a:prstGeom prst="rect">
            <a:avLst/>
          </a:prstGeom>
          <a:solidFill>
            <a:srgbClr val="C9A227"/>
          </a:solidFill>
          <a:ln w="12700">
            <a:solidFill>
              <a:srgbClr val="C9A227"/>
            </a:solidFill>
            <a:prstDash val="solid"/>
          </a:ln>
        </p:spPr>
        <p:txBody>
          <a:bodyPr/>
          <a:lstStyle/>
          <a:p>
            <a:endParaRPr lang="fr-FR"/>
          </a:p>
        </p:txBody>
      </p:sp>
      <p:sp>
        <p:nvSpPr>
          <p:cNvPr id="20" name="Text 18"/>
          <p:cNvSpPr/>
          <p:nvPr/>
        </p:nvSpPr>
        <p:spPr>
          <a:xfrm>
            <a:off x="5806440" y="3547872"/>
            <a:ext cx="3017520" cy="384048"/>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3 phases</a:t>
            </a:r>
            <a:endParaRPr lang="en-US" sz="2000" dirty="0"/>
          </a:p>
        </p:txBody>
      </p:sp>
      <p:sp>
        <p:nvSpPr>
          <p:cNvPr id="21" name="Text 19"/>
          <p:cNvSpPr/>
          <p:nvPr/>
        </p:nvSpPr>
        <p:spPr>
          <a:xfrm>
            <a:off x="5806440" y="3931920"/>
            <a:ext cx="301752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avant , pendant et après l'achat à orchestrer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Text 1"/>
          <p:cNvSpPr/>
          <p:nvPr/>
        </p:nvSpPr>
        <p:spPr>
          <a:xfrm>
            <a:off x="731520" y="1645920"/>
            <a:ext cx="7315200" cy="457200"/>
          </a:xfrm>
          <a:prstGeom prst="rect">
            <a:avLst/>
          </a:prstGeom>
          <a:noFill/>
          <a:ln/>
        </p:spPr>
        <p:txBody>
          <a:bodyPr wrap="square" rtlCol="0" anchor="ctr"/>
          <a:lstStyle/>
          <a:p>
            <a:pPr marL="0" indent="0">
              <a:buNone/>
            </a:pPr>
            <a:r>
              <a:rPr lang="en-US" sz="1400" b="1" kern="0" spc="400" dirty="0">
                <a:solidFill>
                  <a:srgbClr val="C9A227"/>
                </a:solidFill>
                <a:latin typeface="Calibri" pitchFamily="34" charset="0"/>
                <a:ea typeface="Calibri" pitchFamily="34" charset="-122"/>
                <a:cs typeface="Calibri" pitchFamily="34" charset="-120"/>
              </a:rPr>
              <a:t>THÈME 1</a:t>
            </a:r>
            <a:endParaRPr lang="en-US" sz="1400" dirty="0"/>
          </a:p>
        </p:txBody>
      </p:sp>
      <p:sp>
        <p:nvSpPr>
          <p:cNvPr id="4" name="Text 2"/>
          <p:cNvSpPr/>
          <p:nvPr/>
        </p:nvSpPr>
        <p:spPr>
          <a:xfrm>
            <a:off x="731520" y="2103120"/>
            <a:ext cx="8229600" cy="91440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Le Marketing Mix</a:t>
            </a:r>
            <a:endParaRPr lang="en-US" sz="4400" dirty="0"/>
          </a:p>
        </p:txBody>
      </p:sp>
      <p:sp>
        <p:nvSpPr>
          <p:cNvPr id="5" name="Shape 3"/>
          <p:cNvSpPr/>
          <p:nvPr/>
        </p:nvSpPr>
        <p:spPr>
          <a:xfrm>
            <a:off x="731520" y="3108960"/>
            <a:ext cx="731520" cy="45720"/>
          </a:xfrm>
          <a:prstGeom prst="rect">
            <a:avLst/>
          </a:prstGeom>
          <a:solidFill>
            <a:srgbClr val="C9A227"/>
          </a:solidFill>
          <a:ln/>
        </p:spPr>
        <p:txBody>
          <a:bodyPr/>
          <a:lstStyle/>
          <a:p>
            <a:endParaRPr lang="fr-FR"/>
          </a:p>
        </p:txBody>
      </p:sp>
      <p:sp>
        <p:nvSpPr>
          <p:cNvPr id="6" name="Text 4"/>
          <p:cNvSpPr/>
          <p:nvPr/>
        </p:nvSpPr>
        <p:spPr>
          <a:xfrm>
            <a:off x="731520" y="3246120"/>
            <a:ext cx="7772400" cy="457200"/>
          </a:xfrm>
          <a:prstGeom prst="rect">
            <a:avLst/>
          </a:prstGeom>
          <a:noFill/>
          <a:ln/>
        </p:spPr>
        <p:txBody>
          <a:bodyPr wrap="square" rtlCol="0" anchor="ctr"/>
          <a:lstStyle/>
          <a:p>
            <a:pPr marL="0" indent="0">
              <a:buNone/>
            </a:pPr>
            <a:endParaRPr lang="en-US" sz="1600" dirty="0"/>
          </a:p>
        </p:txBody>
      </p:sp>
      <p:sp>
        <p:nvSpPr>
          <p:cNvPr id="7" name="Shape 5"/>
          <p:cNvSpPr/>
          <p:nvPr/>
        </p:nvSpPr>
        <p:spPr>
          <a:xfrm>
            <a:off x="0" y="4850892"/>
            <a:ext cx="9144000" cy="292608"/>
          </a:xfrm>
          <a:prstGeom prst="rect">
            <a:avLst/>
          </a:prstGeom>
          <a:solidFill>
            <a:srgbClr val="1E2761"/>
          </a:solidFill>
          <a:ln/>
        </p:spPr>
        <p:txBody>
          <a:bodyPr/>
          <a:lstStyle/>
          <a:p>
            <a:endParaRPr lang="fr-FR" dirty="0"/>
          </a:p>
        </p:txBody>
      </p:sp>
      <p:sp>
        <p:nvSpPr>
          <p:cNvPr id="9" name="Text 7"/>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Qu'est-ce que le marketing mix ?</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5 / 15</a:t>
            </a:r>
            <a:endParaRPr lang="en-US" sz="900" dirty="0"/>
          </a:p>
        </p:txBody>
      </p:sp>
      <p:sp>
        <p:nvSpPr>
          <p:cNvPr id="9" name="Shape 7"/>
          <p:cNvSpPr/>
          <p:nvPr/>
        </p:nvSpPr>
        <p:spPr>
          <a:xfrm>
            <a:off x="365760" y="1554480"/>
            <a:ext cx="8412480" cy="105156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54480"/>
            <a:ext cx="73152" cy="105156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627632"/>
            <a:ext cx="8046720" cy="9144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Définition.  </a:t>
            </a:r>
            <a:r>
              <a:rPr lang="en-US" sz="1100" dirty="0">
                <a:solidFill>
                  <a:srgbClr val="1F2937"/>
                </a:solidFill>
                <a:latin typeface="Calibri" pitchFamily="34" charset="0"/>
                <a:ea typeface="Calibri" pitchFamily="34" charset="-122"/>
                <a:cs typeface="Calibri" pitchFamily="34" charset="-120"/>
              </a:rPr>
              <a:t>Le marketing mix désigne l'ensemble cohérent des décisions et actions marketing qu'une entreprise met en œuvre pour atteindre ses objectifs commerciaux sur un marché cible. Il traduit la stratégie marketing en leviers opérationnels articulés autour de variables </a:t>
            </a:r>
            <a:r>
              <a:rPr lang="en-US" sz="1100" dirty="0" err="1">
                <a:solidFill>
                  <a:srgbClr val="1F2937"/>
                </a:solidFill>
                <a:latin typeface="Calibri" pitchFamily="34" charset="0"/>
                <a:ea typeface="Calibri" pitchFamily="34" charset="-122"/>
                <a:cs typeface="Calibri" pitchFamily="34" charset="-120"/>
              </a:rPr>
              <a:t>interdépendantes</a:t>
            </a:r>
            <a:r>
              <a:rPr lang="en-US" sz="1100" dirty="0">
                <a:solidFill>
                  <a:srgbClr val="1F2937"/>
                </a:solidFill>
                <a:latin typeface="Calibri" pitchFamily="34" charset="0"/>
                <a:ea typeface="Calibri" pitchFamily="34" charset="-122"/>
                <a:cs typeface="Calibri" pitchFamily="34" charset="-120"/>
              </a:rPr>
              <a:t>. </a:t>
            </a:r>
            <a:r>
              <a:rPr lang="en-US" sz="1100" dirty="0" err="1">
                <a:solidFill>
                  <a:srgbClr val="1F2937"/>
                </a:solidFill>
                <a:latin typeface="Calibri" pitchFamily="34" charset="0"/>
                <a:ea typeface="Calibri" pitchFamily="34" charset="-122"/>
                <a:cs typeface="Calibri" pitchFamily="34" charset="-120"/>
              </a:rPr>
              <a:t>Historiquement</a:t>
            </a:r>
            <a:r>
              <a:rPr lang="en-US" sz="1100" dirty="0">
                <a:solidFill>
                  <a:srgbClr val="1F2937"/>
                </a:solidFill>
                <a:latin typeface="Calibri" pitchFamily="34" charset="0"/>
                <a:ea typeface="Calibri" pitchFamily="34" charset="-122"/>
                <a:cs typeface="Calibri" pitchFamily="34" charset="-120"/>
              </a:rPr>
              <a:t> les </a:t>
            </a:r>
            <a:r>
              <a:rPr lang="en-US" sz="1100" b="1" dirty="0">
                <a:solidFill>
                  <a:srgbClr val="1E2761"/>
                </a:solidFill>
                <a:latin typeface="Calibri" pitchFamily="34" charset="0"/>
                <a:ea typeface="Calibri" pitchFamily="34" charset="-122"/>
                <a:cs typeface="Calibri" pitchFamily="34" charset="-120"/>
              </a:rPr>
              <a:t>4P</a:t>
            </a:r>
            <a:r>
              <a:rPr lang="en-US" sz="1100" dirty="0">
                <a:solidFill>
                  <a:srgbClr val="1F2937"/>
                </a:solidFill>
                <a:latin typeface="Calibri" pitchFamily="34" charset="0"/>
                <a:ea typeface="Calibri" pitchFamily="34" charset="-122"/>
                <a:cs typeface="Calibri" pitchFamily="34" charset="-120"/>
              </a:rPr>
              <a:t> formalisés par E. Jerome McCarthy </a:t>
            </a:r>
            <a:r>
              <a:rPr lang="en-US" sz="1100" dirty="0" err="1">
                <a:solidFill>
                  <a:srgbClr val="1F2937"/>
                </a:solidFill>
                <a:latin typeface="Calibri" pitchFamily="34" charset="0"/>
                <a:ea typeface="Calibri" pitchFamily="34" charset="-122"/>
                <a:cs typeface="Calibri" pitchFamily="34" charset="-120"/>
              </a:rPr>
              <a:t>en</a:t>
            </a:r>
            <a:r>
              <a:rPr lang="en-US" sz="1100" dirty="0">
                <a:solidFill>
                  <a:srgbClr val="1F2937"/>
                </a:solidFill>
                <a:latin typeface="Calibri" pitchFamily="34" charset="0"/>
                <a:ea typeface="Calibri" pitchFamily="34" charset="-122"/>
                <a:cs typeface="Calibri" pitchFamily="34" charset="-120"/>
              </a:rPr>
              <a:t> 1960 </a:t>
            </a:r>
            <a:r>
              <a:rPr lang="en-US" sz="1100" dirty="0" err="1">
                <a:solidFill>
                  <a:srgbClr val="1F2937"/>
                </a:solidFill>
                <a:latin typeface="Calibri" pitchFamily="34" charset="0"/>
                <a:ea typeface="Calibri" pitchFamily="34" charset="-122"/>
                <a:cs typeface="Calibri" pitchFamily="34" charset="-120"/>
              </a:rPr>
              <a:t>ont</a:t>
            </a:r>
            <a:r>
              <a:rPr lang="en-US" sz="1100" dirty="0">
                <a:solidFill>
                  <a:srgbClr val="1F2937"/>
                </a:solidFill>
                <a:latin typeface="Calibri" pitchFamily="34" charset="0"/>
                <a:ea typeface="Calibri" pitchFamily="34" charset="-122"/>
                <a:cs typeface="Calibri" pitchFamily="34" charset="-120"/>
              </a:rPr>
              <a:t> </a:t>
            </a:r>
            <a:r>
              <a:rPr lang="en-US" sz="1100" dirty="0" err="1">
                <a:solidFill>
                  <a:srgbClr val="1F2937"/>
                </a:solidFill>
                <a:latin typeface="Calibri" pitchFamily="34" charset="0"/>
                <a:ea typeface="Calibri" pitchFamily="34" charset="-122"/>
                <a:cs typeface="Calibri" pitchFamily="34" charset="-120"/>
              </a:rPr>
              <a:t>été</a:t>
            </a:r>
            <a:r>
              <a:rPr lang="en-US" sz="1100" dirty="0">
                <a:solidFill>
                  <a:srgbClr val="1F2937"/>
                </a:solidFill>
                <a:latin typeface="Calibri" pitchFamily="34" charset="0"/>
                <a:ea typeface="Calibri" pitchFamily="34" charset="-122"/>
                <a:cs typeface="Calibri" pitchFamily="34" charset="-120"/>
              </a:rPr>
              <a:t> </a:t>
            </a:r>
            <a:r>
              <a:rPr lang="en-US" sz="1100" dirty="0" err="1">
                <a:solidFill>
                  <a:srgbClr val="1F2937"/>
                </a:solidFill>
                <a:latin typeface="Calibri" pitchFamily="34" charset="0"/>
                <a:ea typeface="Calibri" pitchFamily="34" charset="-122"/>
                <a:cs typeface="Calibri" pitchFamily="34" charset="-120"/>
              </a:rPr>
              <a:t>étendus</a:t>
            </a:r>
            <a:r>
              <a:rPr lang="en-US" sz="1100" dirty="0">
                <a:solidFill>
                  <a:srgbClr val="1F2937"/>
                </a:solidFill>
                <a:latin typeface="Calibri" pitchFamily="34" charset="0"/>
                <a:ea typeface="Calibri" pitchFamily="34" charset="-122"/>
                <a:cs typeface="Calibri" pitchFamily="34" charset="-120"/>
              </a:rPr>
              <a:t> aux </a:t>
            </a:r>
            <a:r>
              <a:rPr lang="en-US" sz="1100" b="1" dirty="0">
                <a:solidFill>
                  <a:srgbClr val="1E2761"/>
                </a:solidFill>
                <a:latin typeface="Calibri" pitchFamily="34" charset="0"/>
                <a:ea typeface="Calibri" pitchFamily="34" charset="-122"/>
                <a:cs typeface="Calibri" pitchFamily="34" charset="-120"/>
              </a:rPr>
              <a:t>7P</a:t>
            </a:r>
            <a:r>
              <a:rPr lang="en-US" sz="1100" dirty="0">
                <a:solidFill>
                  <a:srgbClr val="1F2937"/>
                </a:solidFill>
                <a:latin typeface="Calibri" pitchFamily="34" charset="0"/>
                <a:ea typeface="Calibri" pitchFamily="34" charset="-122"/>
                <a:cs typeface="Calibri" pitchFamily="34" charset="-120"/>
              </a:rPr>
              <a:t> par Booms &amp; Bitner (1981) pour les activités de service.</a:t>
            </a:r>
            <a:endParaRPr lang="en-US" sz="1100" dirty="0"/>
          </a:p>
        </p:txBody>
      </p:sp>
      <p:sp>
        <p:nvSpPr>
          <p:cNvPr id="12" name="Shape 10"/>
          <p:cNvSpPr/>
          <p:nvPr/>
        </p:nvSpPr>
        <p:spPr>
          <a:xfrm>
            <a:off x="36576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13" name="Shape 11"/>
          <p:cNvSpPr/>
          <p:nvPr/>
        </p:nvSpPr>
        <p:spPr>
          <a:xfrm>
            <a:off x="36576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475488" y="2880360"/>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Cohérence</a:t>
            </a:r>
            <a:endParaRPr lang="en-US" sz="1200" dirty="0"/>
          </a:p>
        </p:txBody>
      </p:sp>
      <p:sp>
        <p:nvSpPr>
          <p:cNvPr id="15" name="Text 13"/>
          <p:cNvSpPr/>
          <p:nvPr/>
        </p:nvSpPr>
        <p:spPr>
          <a:xfrm>
            <a:off x="502920" y="3246120"/>
            <a:ext cx="2468880" cy="128016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Les variables doivent former un </a:t>
            </a:r>
            <a:r>
              <a:rPr lang="en-US" sz="1100" dirty="0" err="1">
                <a:solidFill>
                  <a:srgbClr val="1F2937"/>
                </a:solidFill>
                <a:latin typeface="Calibri" pitchFamily="34" charset="0"/>
                <a:ea typeface="Calibri" pitchFamily="34" charset="-122"/>
                <a:cs typeface="Calibri" pitchFamily="34" charset="-120"/>
              </a:rPr>
              <a:t>système</a:t>
            </a:r>
            <a:r>
              <a:rPr lang="en-US" sz="1100" dirty="0">
                <a:solidFill>
                  <a:srgbClr val="1F2937"/>
                </a:solidFill>
                <a:latin typeface="Calibri" pitchFamily="34" charset="0"/>
                <a:ea typeface="Calibri" pitchFamily="34" charset="-122"/>
                <a:cs typeface="Calibri" pitchFamily="34" charset="-120"/>
              </a:rPr>
              <a:t> </a:t>
            </a:r>
            <a:r>
              <a:rPr lang="en-US" sz="1100" dirty="0" err="1">
                <a:solidFill>
                  <a:srgbClr val="1F2937"/>
                </a:solidFill>
                <a:latin typeface="Calibri" pitchFamily="34" charset="0"/>
                <a:ea typeface="Calibri" pitchFamily="34" charset="-122"/>
                <a:cs typeface="Calibri" pitchFamily="34" charset="-120"/>
              </a:rPr>
              <a:t>harmonisé</a:t>
            </a:r>
            <a:r>
              <a:rPr lang="en-US" sz="1100" dirty="0">
                <a:solidFill>
                  <a:srgbClr val="1F2937"/>
                </a:solidFill>
                <a:latin typeface="Calibri" pitchFamily="34" charset="0"/>
                <a:ea typeface="Calibri" pitchFamily="34" charset="-122"/>
                <a:cs typeface="Calibri" pitchFamily="34" charset="-120"/>
              </a:rPr>
              <a:t> sans contradiction interne.</a:t>
            </a:r>
            <a:endParaRPr lang="en-US" sz="1100" dirty="0"/>
          </a:p>
        </p:txBody>
      </p:sp>
      <p:sp>
        <p:nvSpPr>
          <p:cNvPr id="16" name="Shape 14"/>
          <p:cNvSpPr/>
          <p:nvPr/>
        </p:nvSpPr>
        <p:spPr>
          <a:xfrm>
            <a:off x="324612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17" name="Shape 15"/>
          <p:cNvSpPr/>
          <p:nvPr/>
        </p:nvSpPr>
        <p:spPr>
          <a:xfrm>
            <a:off x="324612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18" name="Text 16"/>
          <p:cNvSpPr/>
          <p:nvPr/>
        </p:nvSpPr>
        <p:spPr>
          <a:xfrm>
            <a:off x="3355848" y="2880360"/>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Cible</a:t>
            </a:r>
            <a:endParaRPr lang="en-US" sz="1200" dirty="0"/>
          </a:p>
        </p:txBody>
      </p:sp>
      <p:sp>
        <p:nvSpPr>
          <p:cNvPr id="19" name="Text 17"/>
          <p:cNvSpPr/>
          <p:nvPr/>
        </p:nvSpPr>
        <p:spPr>
          <a:xfrm>
            <a:off x="3383280" y="3246120"/>
            <a:ext cx="2468880" cy="128016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Le mix se construit en fonction d'un segment précis et de son insight.</a:t>
            </a:r>
            <a:endParaRPr lang="en-US" sz="1100" dirty="0"/>
          </a:p>
        </p:txBody>
      </p:sp>
      <p:sp>
        <p:nvSpPr>
          <p:cNvPr id="20" name="Shape 18"/>
          <p:cNvSpPr/>
          <p:nvPr/>
        </p:nvSpPr>
        <p:spPr>
          <a:xfrm>
            <a:off x="612648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21" name="Shape 19"/>
          <p:cNvSpPr/>
          <p:nvPr/>
        </p:nvSpPr>
        <p:spPr>
          <a:xfrm>
            <a:off x="612648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22" name="Text 20"/>
          <p:cNvSpPr/>
          <p:nvPr/>
        </p:nvSpPr>
        <p:spPr>
          <a:xfrm>
            <a:off x="6236208" y="2880360"/>
            <a:ext cx="246888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Différenciation</a:t>
            </a:r>
            <a:endParaRPr lang="en-US" sz="1200" dirty="0"/>
          </a:p>
        </p:txBody>
      </p:sp>
      <p:sp>
        <p:nvSpPr>
          <p:cNvPr id="23" name="Text 21"/>
          <p:cNvSpPr/>
          <p:nvPr/>
        </p:nvSpPr>
        <p:spPr>
          <a:xfrm>
            <a:off x="6263640" y="3246120"/>
            <a:ext cx="2468880" cy="128016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Il doit créer un avantage concurrentiel perçu et défendable.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Les 4P : le cœur du marketing mix</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6 / 15</a:t>
            </a:r>
            <a:endParaRPr lang="en-US" sz="900" dirty="0"/>
          </a:p>
        </p:txBody>
      </p:sp>
      <p:sp>
        <p:nvSpPr>
          <p:cNvPr id="9" name="Text 7"/>
          <p:cNvSpPr/>
          <p:nvPr/>
        </p:nvSpPr>
        <p:spPr>
          <a:xfrm>
            <a:off x="365760" y="1417320"/>
            <a:ext cx="859536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Modèle fondateur de E. J. McCarthy (1960) les quatre leviers d'action complémentaires.</a:t>
            </a:r>
            <a:endParaRPr lang="en-US" sz="1100" dirty="0"/>
          </a:p>
        </p:txBody>
      </p:sp>
      <p:sp>
        <p:nvSpPr>
          <p:cNvPr id="10" name="Shape 8"/>
          <p:cNvSpPr/>
          <p:nvPr/>
        </p:nvSpPr>
        <p:spPr>
          <a:xfrm>
            <a:off x="365760" y="1790575"/>
            <a:ext cx="4160520" cy="128016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502920" y="1947672"/>
            <a:ext cx="685800" cy="685800"/>
          </a:xfrm>
          <a:prstGeom prst="ellipse">
            <a:avLst/>
          </a:prstGeom>
          <a:solidFill>
            <a:srgbClr val="1E2761"/>
          </a:solidFill>
          <a:ln w="12700">
            <a:solidFill>
              <a:srgbClr val="1E2761"/>
            </a:solidFill>
            <a:prstDash val="solid"/>
          </a:ln>
        </p:spPr>
        <p:txBody>
          <a:bodyPr/>
          <a:lstStyle/>
          <a:p>
            <a:endParaRPr lang="fr-FR"/>
          </a:p>
        </p:txBody>
      </p:sp>
      <p:sp>
        <p:nvSpPr>
          <p:cNvPr id="12" name="Text 10"/>
          <p:cNvSpPr/>
          <p:nvPr/>
        </p:nvSpPr>
        <p:spPr>
          <a:xfrm>
            <a:off x="502920" y="1947672"/>
            <a:ext cx="685800" cy="685800"/>
          </a:xfrm>
          <a:prstGeom prst="rect">
            <a:avLst/>
          </a:prstGeom>
          <a:noFill/>
          <a:ln/>
        </p:spPr>
        <p:txBody>
          <a:bodyPr wrap="square" lIns="0" tIns="0" rIns="0" bIns="0"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P</a:t>
            </a:r>
            <a:endParaRPr lang="en-US" sz="2400" dirty="0"/>
          </a:p>
        </p:txBody>
      </p:sp>
      <p:sp>
        <p:nvSpPr>
          <p:cNvPr id="13" name="Text 11"/>
          <p:cNvSpPr/>
          <p:nvPr/>
        </p:nvSpPr>
        <p:spPr>
          <a:xfrm>
            <a:off x="1280160" y="1920240"/>
            <a:ext cx="32004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Product — Produit</a:t>
            </a:r>
            <a:endParaRPr lang="en-US" sz="1300" dirty="0"/>
          </a:p>
        </p:txBody>
      </p:sp>
      <p:sp>
        <p:nvSpPr>
          <p:cNvPr id="14" name="Text 12"/>
          <p:cNvSpPr/>
          <p:nvPr/>
        </p:nvSpPr>
        <p:spPr>
          <a:xfrm>
            <a:off x="1280160" y="2221992"/>
            <a:ext cx="3154680" cy="82296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Caractéristiques, qualité, gamme, design, marque, services associés, garanties. Ce que l'entreprise offre pour répondre à un besoin.</a:t>
            </a:r>
            <a:endParaRPr lang="en-US" sz="950" dirty="0"/>
          </a:p>
        </p:txBody>
      </p:sp>
      <p:sp>
        <p:nvSpPr>
          <p:cNvPr id="15" name="Shape 13"/>
          <p:cNvSpPr/>
          <p:nvPr/>
        </p:nvSpPr>
        <p:spPr>
          <a:xfrm>
            <a:off x="4709160" y="1783080"/>
            <a:ext cx="4160520" cy="128016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846320" y="1947672"/>
            <a:ext cx="685800" cy="685800"/>
          </a:xfrm>
          <a:prstGeom prst="ellipse">
            <a:avLst/>
          </a:prstGeom>
          <a:solidFill>
            <a:srgbClr val="1E2761"/>
          </a:solidFill>
          <a:ln w="12700">
            <a:solidFill>
              <a:srgbClr val="1E2761"/>
            </a:solidFill>
            <a:prstDash val="solid"/>
          </a:ln>
        </p:spPr>
        <p:txBody>
          <a:bodyPr/>
          <a:lstStyle/>
          <a:p>
            <a:endParaRPr lang="fr-FR"/>
          </a:p>
        </p:txBody>
      </p:sp>
      <p:sp>
        <p:nvSpPr>
          <p:cNvPr id="17" name="Text 15"/>
          <p:cNvSpPr/>
          <p:nvPr/>
        </p:nvSpPr>
        <p:spPr>
          <a:xfrm>
            <a:off x="4846320" y="1947672"/>
            <a:ext cx="685800" cy="685800"/>
          </a:xfrm>
          <a:prstGeom prst="rect">
            <a:avLst/>
          </a:prstGeom>
          <a:noFill/>
          <a:ln/>
        </p:spPr>
        <p:txBody>
          <a:bodyPr wrap="square" lIns="0" tIns="0" rIns="0" bIns="0"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P</a:t>
            </a:r>
            <a:endParaRPr lang="en-US" sz="2400" dirty="0"/>
          </a:p>
        </p:txBody>
      </p:sp>
      <p:sp>
        <p:nvSpPr>
          <p:cNvPr id="18" name="Text 16"/>
          <p:cNvSpPr/>
          <p:nvPr/>
        </p:nvSpPr>
        <p:spPr>
          <a:xfrm>
            <a:off x="5623560" y="1920240"/>
            <a:ext cx="32004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Price — Prix</a:t>
            </a:r>
            <a:endParaRPr lang="en-US" sz="1300" dirty="0"/>
          </a:p>
        </p:txBody>
      </p:sp>
      <p:sp>
        <p:nvSpPr>
          <p:cNvPr id="19" name="Text 17"/>
          <p:cNvSpPr/>
          <p:nvPr/>
        </p:nvSpPr>
        <p:spPr>
          <a:xfrm>
            <a:off x="5623560" y="2221992"/>
            <a:ext cx="3154680" cy="82296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Prix de vente, conditions de paiement, remises, politique tarifaire. Premier signal de positionnement et levier direct de marge.</a:t>
            </a:r>
            <a:endParaRPr lang="en-US" sz="950" dirty="0"/>
          </a:p>
        </p:txBody>
      </p:sp>
      <p:sp>
        <p:nvSpPr>
          <p:cNvPr id="20" name="Shape 18"/>
          <p:cNvSpPr/>
          <p:nvPr/>
        </p:nvSpPr>
        <p:spPr>
          <a:xfrm>
            <a:off x="365760" y="3200400"/>
            <a:ext cx="4160520" cy="1280160"/>
          </a:xfrm>
          <a:prstGeom prst="rect">
            <a:avLst/>
          </a:prstGeom>
          <a:solidFill>
            <a:srgbClr val="F5F7FB"/>
          </a:solidFill>
          <a:ln w="9525">
            <a:solidFill>
              <a:srgbClr val="CADCFC"/>
            </a:solidFill>
            <a:prstDash val="solid"/>
          </a:ln>
        </p:spPr>
        <p:txBody>
          <a:bodyPr/>
          <a:lstStyle/>
          <a:p>
            <a:endParaRPr lang="fr-FR"/>
          </a:p>
        </p:txBody>
      </p:sp>
      <p:sp>
        <p:nvSpPr>
          <p:cNvPr id="21" name="Shape 19"/>
          <p:cNvSpPr/>
          <p:nvPr/>
        </p:nvSpPr>
        <p:spPr>
          <a:xfrm>
            <a:off x="502920" y="3364992"/>
            <a:ext cx="685800" cy="685800"/>
          </a:xfrm>
          <a:prstGeom prst="ellipse">
            <a:avLst/>
          </a:prstGeom>
          <a:solidFill>
            <a:srgbClr val="1E2761"/>
          </a:solidFill>
          <a:ln w="12700">
            <a:solidFill>
              <a:srgbClr val="1E2761"/>
            </a:solidFill>
            <a:prstDash val="solid"/>
          </a:ln>
        </p:spPr>
        <p:txBody>
          <a:bodyPr/>
          <a:lstStyle/>
          <a:p>
            <a:endParaRPr lang="fr-FR"/>
          </a:p>
        </p:txBody>
      </p:sp>
      <p:sp>
        <p:nvSpPr>
          <p:cNvPr id="22" name="Text 20"/>
          <p:cNvSpPr/>
          <p:nvPr/>
        </p:nvSpPr>
        <p:spPr>
          <a:xfrm>
            <a:off x="502920" y="3364992"/>
            <a:ext cx="685800" cy="685800"/>
          </a:xfrm>
          <a:prstGeom prst="rect">
            <a:avLst/>
          </a:prstGeom>
          <a:noFill/>
          <a:ln/>
        </p:spPr>
        <p:txBody>
          <a:bodyPr wrap="square" lIns="0" tIns="0" rIns="0" bIns="0"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P</a:t>
            </a:r>
            <a:endParaRPr lang="en-US" sz="2400" dirty="0"/>
          </a:p>
        </p:txBody>
      </p:sp>
      <p:sp>
        <p:nvSpPr>
          <p:cNvPr id="23" name="Text 21"/>
          <p:cNvSpPr/>
          <p:nvPr/>
        </p:nvSpPr>
        <p:spPr>
          <a:xfrm>
            <a:off x="1280160" y="3337560"/>
            <a:ext cx="32004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Place — Distribution</a:t>
            </a:r>
            <a:endParaRPr lang="en-US" sz="1300" dirty="0"/>
          </a:p>
        </p:txBody>
      </p:sp>
      <p:sp>
        <p:nvSpPr>
          <p:cNvPr id="24" name="Text 22"/>
          <p:cNvSpPr/>
          <p:nvPr/>
        </p:nvSpPr>
        <p:spPr>
          <a:xfrm>
            <a:off x="1280160" y="3639312"/>
            <a:ext cx="3154680" cy="82296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Canaux, points de vente, logistique, couverture géographique. Comment et où le client accède au produit.</a:t>
            </a:r>
            <a:endParaRPr lang="en-US" sz="950" dirty="0"/>
          </a:p>
        </p:txBody>
      </p:sp>
      <p:sp>
        <p:nvSpPr>
          <p:cNvPr id="25" name="Shape 23"/>
          <p:cNvSpPr/>
          <p:nvPr/>
        </p:nvSpPr>
        <p:spPr>
          <a:xfrm>
            <a:off x="4709160" y="3200400"/>
            <a:ext cx="4160520" cy="1280160"/>
          </a:xfrm>
          <a:prstGeom prst="rect">
            <a:avLst/>
          </a:prstGeom>
          <a:solidFill>
            <a:srgbClr val="F5F7FB"/>
          </a:solidFill>
          <a:ln w="9525">
            <a:solidFill>
              <a:srgbClr val="CADCFC"/>
            </a:solidFill>
            <a:prstDash val="solid"/>
          </a:ln>
        </p:spPr>
        <p:txBody>
          <a:bodyPr/>
          <a:lstStyle/>
          <a:p>
            <a:endParaRPr lang="fr-FR"/>
          </a:p>
        </p:txBody>
      </p:sp>
      <p:sp>
        <p:nvSpPr>
          <p:cNvPr id="26" name="Shape 24"/>
          <p:cNvSpPr/>
          <p:nvPr/>
        </p:nvSpPr>
        <p:spPr>
          <a:xfrm>
            <a:off x="4846320" y="3364992"/>
            <a:ext cx="685800" cy="685800"/>
          </a:xfrm>
          <a:prstGeom prst="ellipse">
            <a:avLst/>
          </a:prstGeom>
          <a:solidFill>
            <a:srgbClr val="1E2761"/>
          </a:solidFill>
          <a:ln w="12700">
            <a:solidFill>
              <a:srgbClr val="1E2761"/>
            </a:solidFill>
            <a:prstDash val="solid"/>
          </a:ln>
        </p:spPr>
        <p:txBody>
          <a:bodyPr/>
          <a:lstStyle/>
          <a:p>
            <a:endParaRPr lang="fr-FR"/>
          </a:p>
        </p:txBody>
      </p:sp>
      <p:sp>
        <p:nvSpPr>
          <p:cNvPr id="27" name="Text 25"/>
          <p:cNvSpPr/>
          <p:nvPr/>
        </p:nvSpPr>
        <p:spPr>
          <a:xfrm>
            <a:off x="4846320" y="3364992"/>
            <a:ext cx="685800" cy="685800"/>
          </a:xfrm>
          <a:prstGeom prst="rect">
            <a:avLst/>
          </a:prstGeom>
          <a:noFill/>
          <a:ln/>
        </p:spPr>
        <p:txBody>
          <a:bodyPr wrap="square" lIns="0" tIns="0" rIns="0" bIns="0" rtlCol="0" anchor="ctr"/>
          <a:lstStyle/>
          <a:p>
            <a:pPr marL="0" indent="0" algn="ctr">
              <a:buNone/>
            </a:pPr>
            <a:r>
              <a:rPr lang="en-US" sz="2400" b="1" dirty="0">
                <a:solidFill>
                  <a:srgbClr val="C9A227"/>
                </a:solidFill>
                <a:latin typeface="Georgia" pitchFamily="34" charset="0"/>
                <a:ea typeface="Georgia" pitchFamily="34" charset="-122"/>
                <a:cs typeface="Georgia" pitchFamily="34" charset="-120"/>
              </a:rPr>
              <a:t>P</a:t>
            </a:r>
            <a:endParaRPr lang="en-US" sz="2400" dirty="0"/>
          </a:p>
        </p:txBody>
      </p:sp>
      <p:sp>
        <p:nvSpPr>
          <p:cNvPr id="28" name="Text 26"/>
          <p:cNvSpPr/>
          <p:nvPr/>
        </p:nvSpPr>
        <p:spPr>
          <a:xfrm>
            <a:off x="5623560" y="3337560"/>
            <a:ext cx="32004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Promotion — Communication</a:t>
            </a:r>
            <a:endParaRPr lang="en-US" sz="1300" dirty="0"/>
          </a:p>
        </p:txBody>
      </p:sp>
      <p:sp>
        <p:nvSpPr>
          <p:cNvPr id="29" name="Text 27"/>
          <p:cNvSpPr/>
          <p:nvPr/>
        </p:nvSpPr>
        <p:spPr>
          <a:xfrm>
            <a:off x="5623560" y="3639312"/>
            <a:ext cx="3154680" cy="82296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Publicité, promotion des ventes, RP, marketing digital, force de vente. Comment l'entreprise fait connaître et désirer son offre.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Du 4P au 7P : le marketing des services</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7 / 15</a:t>
            </a:r>
            <a:endParaRPr lang="en-US" sz="900" dirty="0"/>
          </a:p>
        </p:txBody>
      </p:sp>
      <p:sp>
        <p:nvSpPr>
          <p:cNvPr id="9" name="Text 7"/>
          <p:cNvSpPr/>
          <p:nvPr/>
        </p:nvSpPr>
        <p:spPr>
          <a:xfrm>
            <a:off x="365760" y="1417320"/>
            <a:ext cx="859536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Booms &amp; Bitner (1981) ajoutent trois P pour les activités de service </a:t>
            </a:r>
            <a:r>
              <a:rPr lang="en-US" sz="1100" i="1" dirty="0" err="1">
                <a:solidFill>
                  <a:srgbClr val="64748B"/>
                </a:solidFill>
                <a:latin typeface="Calibri" pitchFamily="34" charset="0"/>
                <a:ea typeface="Calibri" pitchFamily="34" charset="-122"/>
                <a:cs typeface="Calibri" pitchFamily="34" charset="-120"/>
              </a:rPr>
              <a:t>ce</a:t>
            </a:r>
            <a:r>
              <a:rPr lang="en-US" sz="1100" i="1" dirty="0">
                <a:solidFill>
                  <a:srgbClr val="64748B"/>
                </a:solidFill>
                <a:latin typeface="Calibri" pitchFamily="34" charset="0"/>
                <a:ea typeface="Calibri" pitchFamily="34" charset="-122"/>
                <a:cs typeface="Calibri" pitchFamily="34" charset="-120"/>
              </a:rPr>
              <a:t> qui est </a:t>
            </a:r>
            <a:r>
              <a:rPr lang="en-US" sz="1100" i="1" dirty="0" err="1">
                <a:solidFill>
                  <a:srgbClr val="64748B"/>
                </a:solidFill>
                <a:latin typeface="Calibri" pitchFamily="34" charset="0"/>
                <a:ea typeface="Calibri" pitchFamily="34" charset="-122"/>
                <a:cs typeface="Calibri" pitchFamily="34" charset="-120"/>
              </a:rPr>
              <a:t>particulièrement</a:t>
            </a:r>
            <a:r>
              <a:rPr lang="en-US" sz="1100" i="1" dirty="0">
                <a:solidFill>
                  <a:srgbClr val="64748B"/>
                </a:solidFill>
                <a:latin typeface="Calibri" pitchFamily="34" charset="0"/>
                <a:ea typeface="Calibri" pitchFamily="34" charset="-122"/>
                <a:cs typeface="Calibri" pitchFamily="34" charset="-120"/>
              </a:rPr>
              <a:t> pertinent en immobilier.</a:t>
            </a:r>
            <a:endParaRPr lang="en-US" sz="1100" dirty="0"/>
          </a:p>
        </p:txBody>
      </p:sp>
      <p:sp>
        <p:nvSpPr>
          <p:cNvPr id="10" name="Shape 8"/>
          <p:cNvSpPr/>
          <p:nvPr/>
        </p:nvSpPr>
        <p:spPr>
          <a:xfrm>
            <a:off x="365760" y="1828800"/>
            <a:ext cx="4023360" cy="2880360"/>
          </a:xfrm>
          <a:prstGeom prst="rect">
            <a:avLst/>
          </a:prstGeom>
          <a:solidFill>
            <a:srgbClr val="FFFFFF"/>
          </a:solidFill>
          <a:ln w="12700">
            <a:solidFill>
              <a:srgbClr val="1E2761"/>
            </a:solidFill>
            <a:prstDash val="solid"/>
          </a:ln>
        </p:spPr>
        <p:txBody>
          <a:bodyPr/>
          <a:lstStyle/>
          <a:p>
            <a:endParaRPr lang="fr-FR"/>
          </a:p>
        </p:txBody>
      </p:sp>
      <p:sp>
        <p:nvSpPr>
          <p:cNvPr id="11" name="Text 9"/>
          <p:cNvSpPr/>
          <p:nvPr/>
        </p:nvSpPr>
        <p:spPr>
          <a:xfrm>
            <a:off x="502920" y="1920240"/>
            <a:ext cx="37490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Les 4P historiques</a:t>
            </a:r>
            <a:endParaRPr lang="en-US" sz="1300" dirty="0"/>
          </a:p>
        </p:txBody>
      </p:sp>
      <p:sp>
        <p:nvSpPr>
          <p:cNvPr id="12" name="Shape 10"/>
          <p:cNvSpPr/>
          <p:nvPr/>
        </p:nvSpPr>
        <p:spPr>
          <a:xfrm>
            <a:off x="502920" y="2240280"/>
            <a:ext cx="365760" cy="27432"/>
          </a:xfrm>
          <a:prstGeom prst="rect">
            <a:avLst/>
          </a:prstGeom>
          <a:solidFill>
            <a:srgbClr val="C9A227"/>
          </a:solidFill>
          <a:ln/>
        </p:spPr>
        <p:txBody>
          <a:bodyPr/>
          <a:lstStyle/>
          <a:p>
            <a:endParaRPr lang="fr-FR"/>
          </a:p>
        </p:txBody>
      </p:sp>
      <p:sp>
        <p:nvSpPr>
          <p:cNvPr id="13" name="Text 11"/>
          <p:cNvSpPr/>
          <p:nvPr/>
        </p:nvSpPr>
        <p:spPr>
          <a:xfrm>
            <a:off x="502920" y="2331720"/>
            <a:ext cx="3749040" cy="2331720"/>
          </a:xfrm>
          <a:prstGeom prst="rect">
            <a:avLst/>
          </a:prstGeom>
          <a:noFill/>
          <a:ln/>
        </p:spPr>
        <p:txBody>
          <a:bodyPr wrap="square" lIns="0" tIns="0" rIns="0" bIns="0" rtlCol="0" anchor="ctr"/>
          <a:lstStyle/>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Product</a:t>
            </a:r>
            <a:endParaRPr lang="en-US" sz="1000" dirty="0"/>
          </a:p>
          <a:p>
            <a:pPr marL="0" indent="0">
              <a:spcAft>
                <a:spcPts val="300"/>
              </a:spcAft>
              <a:buNone/>
            </a:pPr>
            <a:r>
              <a:rPr lang="en-US" sz="1000" dirty="0">
                <a:solidFill>
                  <a:srgbClr val="1F2937"/>
                </a:solidFill>
                <a:latin typeface="Calibri" pitchFamily="34" charset="0"/>
                <a:ea typeface="Calibri" pitchFamily="34" charset="-122"/>
                <a:cs typeface="Calibri" pitchFamily="34" charset="-120"/>
              </a:rPr>
              <a:t>Le bien — neuf, ancien, locatif, tertiaire</a:t>
            </a:r>
            <a:endParaRPr lang="en-US" sz="1000" dirty="0"/>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Price</a:t>
            </a:r>
            <a:endParaRPr lang="en-US" sz="1000" dirty="0"/>
          </a:p>
          <a:p>
            <a:pPr marL="0" indent="0">
              <a:spcAft>
                <a:spcPts val="300"/>
              </a:spcAft>
              <a:buNone/>
            </a:pPr>
            <a:r>
              <a:rPr lang="en-US" sz="1000" dirty="0">
                <a:solidFill>
                  <a:srgbClr val="1F2937"/>
                </a:solidFill>
                <a:latin typeface="Calibri" pitchFamily="34" charset="0"/>
                <a:ea typeface="Calibri" pitchFamily="34" charset="-122"/>
                <a:cs typeface="Calibri" pitchFamily="34" charset="-120"/>
              </a:rPr>
              <a:t>Prix au m², plan de financement, frais</a:t>
            </a:r>
            <a:endParaRPr lang="en-US" sz="1000" dirty="0"/>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Place</a:t>
            </a:r>
            <a:endParaRPr lang="en-US" sz="1000" dirty="0"/>
          </a:p>
          <a:p>
            <a:pPr marL="0" indent="0">
              <a:spcAft>
                <a:spcPts val="300"/>
              </a:spcAft>
              <a:buNone/>
            </a:pPr>
            <a:r>
              <a:rPr lang="en-US" sz="1000" dirty="0">
                <a:solidFill>
                  <a:srgbClr val="1F2937"/>
                </a:solidFill>
                <a:latin typeface="Calibri" pitchFamily="34" charset="0"/>
                <a:ea typeface="Calibri" pitchFamily="34" charset="-122"/>
                <a:cs typeface="Calibri" pitchFamily="34" charset="-120"/>
              </a:rPr>
              <a:t>Agences, plateformes, commercialisation directe</a:t>
            </a:r>
            <a:endParaRPr lang="en-US" sz="1000" dirty="0"/>
          </a:p>
          <a:p>
            <a:pPr marL="0" indent="0">
              <a:spcAft>
                <a:spcPts val="300"/>
              </a:spcAft>
              <a:buNone/>
            </a:pPr>
            <a:r>
              <a:rPr lang="en-US" sz="1000" b="1" dirty="0">
                <a:solidFill>
                  <a:srgbClr val="1E2761"/>
                </a:solidFill>
                <a:latin typeface="Calibri" pitchFamily="34" charset="0"/>
                <a:ea typeface="Calibri" pitchFamily="34" charset="-122"/>
                <a:cs typeface="Calibri" pitchFamily="34" charset="-120"/>
              </a:rPr>
              <a:t>Promotion</a:t>
            </a:r>
            <a:endParaRPr lang="en-US" sz="1000" dirty="0"/>
          </a:p>
          <a:p>
            <a:pPr marL="0" indent="0">
              <a:spcAft>
                <a:spcPts val="300"/>
              </a:spcAft>
              <a:buNone/>
            </a:pPr>
            <a:r>
              <a:rPr lang="en-US" sz="1000" dirty="0">
                <a:solidFill>
                  <a:srgbClr val="1F2937"/>
                </a:solidFill>
                <a:latin typeface="Calibri" pitchFamily="34" charset="0"/>
                <a:ea typeface="Calibri" pitchFamily="34" charset="-122"/>
                <a:cs typeface="Calibri" pitchFamily="34" charset="-120"/>
              </a:rPr>
              <a:t>Site web, salons, brochures, SEO/SEA, RP</a:t>
            </a:r>
            <a:endParaRPr lang="en-US" sz="1000" dirty="0"/>
          </a:p>
        </p:txBody>
      </p:sp>
      <p:sp>
        <p:nvSpPr>
          <p:cNvPr id="14" name="Shape 12"/>
          <p:cNvSpPr/>
          <p:nvPr/>
        </p:nvSpPr>
        <p:spPr>
          <a:xfrm>
            <a:off x="4754880" y="1828800"/>
            <a:ext cx="4023360" cy="2880360"/>
          </a:xfrm>
          <a:prstGeom prst="rect">
            <a:avLst/>
          </a:prstGeom>
          <a:solidFill>
            <a:srgbClr val="1E2761"/>
          </a:solidFill>
          <a:ln w="12700">
            <a:solidFill>
              <a:srgbClr val="1E2761"/>
            </a:solidFill>
            <a:prstDash val="solid"/>
          </a:ln>
        </p:spPr>
        <p:txBody>
          <a:bodyPr/>
          <a:lstStyle/>
          <a:p>
            <a:endParaRPr lang="fr-FR"/>
          </a:p>
        </p:txBody>
      </p:sp>
      <p:sp>
        <p:nvSpPr>
          <p:cNvPr id="15" name="Text 13"/>
          <p:cNvSpPr/>
          <p:nvPr/>
        </p:nvSpPr>
        <p:spPr>
          <a:xfrm>
            <a:off x="4892040" y="1920240"/>
            <a:ext cx="374904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Les 3P ajoutés (services)</a:t>
            </a:r>
            <a:endParaRPr lang="en-US" sz="1300" dirty="0"/>
          </a:p>
        </p:txBody>
      </p:sp>
      <p:sp>
        <p:nvSpPr>
          <p:cNvPr id="16" name="Shape 14"/>
          <p:cNvSpPr/>
          <p:nvPr/>
        </p:nvSpPr>
        <p:spPr>
          <a:xfrm>
            <a:off x="4892040" y="2240280"/>
            <a:ext cx="365760" cy="27432"/>
          </a:xfrm>
          <a:prstGeom prst="rect">
            <a:avLst/>
          </a:prstGeom>
          <a:solidFill>
            <a:srgbClr val="C9A227"/>
          </a:solidFill>
          <a:ln/>
        </p:spPr>
        <p:txBody>
          <a:bodyPr/>
          <a:lstStyle/>
          <a:p>
            <a:endParaRPr lang="fr-FR"/>
          </a:p>
        </p:txBody>
      </p:sp>
      <p:sp>
        <p:nvSpPr>
          <p:cNvPr id="17" name="Text 15"/>
          <p:cNvSpPr/>
          <p:nvPr/>
        </p:nvSpPr>
        <p:spPr>
          <a:xfrm>
            <a:off x="4892040" y="2331720"/>
            <a:ext cx="3749040" cy="2331720"/>
          </a:xfrm>
          <a:prstGeom prst="rect">
            <a:avLst/>
          </a:prstGeom>
          <a:noFill/>
          <a:ln/>
        </p:spPr>
        <p:txBody>
          <a:bodyPr wrap="square" lIns="0" tIns="0" rIns="0" bIns="0" rtlCol="0" anchor="ctr"/>
          <a:lstStyle/>
          <a:p>
            <a:pPr marL="0" indent="0">
              <a:spcAft>
                <a:spcPts val="300"/>
              </a:spcAft>
              <a:buNone/>
            </a:pPr>
            <a:r>
              <a:rPr lang="en-US" sz="1000" b="1" dirty="0">
                <a:solidFill>
                  <a:srgbClr val="C9A227"/>
                </a:solidFill>
                <a:latin typeface="Calibri" pitchFamily="34" charset="0"/>
                <a:ea typeface="Calibri" pitchFamily="34" charset="-122"/>
                <a:cs typeface="Calibri" pitchFamily="34" charset="-120"/>
              </a:rPr>
              <a:t>People — Personnes</a:t>
            </a:r>
            <a:endParaRPr lang="en-US" sz="1000" dirty="0"/>
          </a:p>
          <a:p>
            <a:pPr marL="0" indent="0">
              <a:spcAft>
                <a:spcPts val="300"/>
              </a:spcAft>
              <a:buNone/>
            </a:pPr>
            <a:r>
              <a:rPr lang="en-US" sz="1000" dirty="0">
                <a:solidFill>
                  <a:srgbClr val="CADCFC"/>
                </a:solidFill>
                <a:latin typeface="Calibri" pitchFamily="34" charset="0"/>
                <a:ea typeface="Calibri" pitchFamily="34" charset="-122"/>
                <a:cs typeface="Calibri" pitchFamily="34" charset="-120"/>
              </a:rPr>
              <a:t>Conseillers, équipes commerciales, SAV : la qualité de la relation humaine est un produit en soi</a:t>
            </a:r>
            <a:endParaRPr lang="en-US" sz="1000" dirty="0"/>
          </a:p>
          <a:p>
            <a:pPr marL="0" indent="0">
              <a:spcAft>
                <a:spcPts val="300"/>
              </a:spcAft>
              <a:buNone/>
            </a:pPr>
            <a:r>
              <a:rPr lang="en-US" sz="1000" b="1" dirty="0">
                <a:solidFill>
                  <a:srgbClr val="C9A227"/>
                </a:solidFill>
                <a:latin typeface="Calibri" pitchFamily="34" charset="0"/>
                <a:ea typeface="Calibri" pitchFamily="34" charset="-122"/>
                <a:cs typeface="Calibri" pitchFamily="34" charset="-120"/>
              </a:rPr>
              <a:t>Process — Processus</a:t>
            </a:r>
            <a:endParaRPr lang="en-US" sz="1000" dirty="0"/>
          </a:p>
          <a:p>
            <a:pPr marL="0" indent="0">
              <a:spcAft>
                <a:spcPts val="300"/>
              </a:spcAft>
              <a:buNone/>
            </a:pPr>
            <a:r>
              <a:rPr lang="en-US" sz="1000" dirty="0">
                <a:solidFill>
                  <a:srgbClr val="CADCFC"/>
                </a:solidFill>
                <a:latin typeface="Calibri" pitchFamily="34" charset="0"/>
                <a:ea typeface="Calibri" pitchFamily="34" charset="-122"/>
                <a:cs typeface="Calibri" pitchFamily="34" charset="-120"/>
              </a:rPr>
              <a:t>Procédures de vente, gestion des dossiers, suivi de chantier, livraison</a:t>
            </a:r>
            <a:endParaRPr lang="en-US" sz="1000" dirty="0"/>
          </a:p>
          <a:p>
            <a:pPr marL="0" indent="0">
              <a:spcAft>
                <a:spcPts val="300"/>
              </a:spcAft>
              <a:buNone/>
            </a:pPr>
            <a:r>
              <a:rPr lang="en-US" sz="1000" b="1" dirty="0">
                <a:solidFill>
                  <a:srgbClr val="C9A227"/>
                </a:solidFill>
                <a:latin typeface="Calibri" pitchFamily="34" charset="0"/>
                <a:ea typeface="Calibri" pitchFamily="34" charset="-122"/>
                <a:cs typeface="Calibri" pitchFamily="34" charset="-120"/>
              </a:rPr>
              <a:t>Physical evidence — Preuve physique</a:t>
            </a:r>
            <a:endParaRPr lang="en-US" sz="1000" dirty="0"/>
          </a:p>
          <a:p>
            <a:pPr marL="0" indent="0">
              <a:spcAft>
                <a:spcPts val="300"/>
              </a:spcAft>
              <a:buNone/>
            </a:pPr>
            <a:r>
              <a:rPr lang="en-US" sz="1000" dirty="0">
                <a:solidFill>
                  <a:srgbClr val="CADCFC"/>
                </a:solidFill>
                <a:latin typeface="Calibri" pitchFamily="34" charset="0"/>
                <a:ea typeface="Calibri" pitchFamily="34" charset="-122"/>
                <a:cs typeface="Calibri" pitchFamily="34" charset="-120"/>
              </a:rPr>
              <a:t>Bulles de vente, appartements témoins, supports, charte visuelle, livret de livraison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Lecture des 7P appliquée à l'immobilier</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8 / 15</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281227239"/>
              </p:ext>
            </p:extLst>
          </p:nvPr>
        </p:nvGraphicFramePr>
        <p:xfrm>
          <a:off x="365760" y="1554480"/>
          <a:ext cx="8412480" cy="2688336"/>
        </p:xfrm>
        <a:graphic>
          <a:graphicData uri="http://schemas.openxmlformats.org/drawingml/2006/table">
            <a:tbl>
              <a:tblPr/>
              <a:tblGrid>
                <a:gridCol w="18288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Product</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Logements neufs / anciens, bureaux, résidences services, performance énergétique (RE2020), prestations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Prix de vente, Pinel, prêt à taux zéro, échelonnement des paiements VEFA</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Place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Agences physiques, sites web, portails (SeLoger, Bien'ici), commercialisateurs partenaires, salons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Promotion</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Campagnes digitales, retargeting, brochures, home staging, événements, relations presse, marque employeur</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Conseillers commerciaux, négociateurs, conseils en patrimoine, équipes après-vente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Process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Réservation, dépôt notarial, appels de fonds, visites de chantier, livraison, levée de réserves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Physical evidence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Bulles de vente, maquettes, appartements témoins, visites virtuelles, contrats, livret d'accueil</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Text 1"/>
          <p:cNvSpPr/>
          <p:nvPr/>
        </p:nvSpPr>
        <p:spPr>
          <a:xfrm>
            <a:off x="731520" y="1645920"/>
            <a:ext cx="7315200" cy="457200"/>
          </a:xfrm>
          <a:prstGeom prst="rect">
            <a:avLst/>
          </a:prstGeom>
          <a:noFill/>
          <a:ln/>
        </p:spPr>
        <p:txBody>
          <a:bodyPr wrap="square" rtlCol="0" anchor="ctr"/>
          <a:lstStyle/>
          <a:p>
            <a:pPr marL="0" indent="0">
              <a:buNone/>
            </a:pPr>
            <a:r>
              <a:rPr lang="en-US" sz="1400" b="1" kern="0" spc="400" dirty="0">
                <a:solidFill>
                  <a:srgbClr val="C9A227"/>
                </a:solidFill>
                <a:latin typeface="Calibri" pitchFamily="34" charset="0"/>
                <a:ea typeface="Calibri" pitchFamily="34" charset="-122"/>
                <a:cs typeface="Calibri" pitchFamily="34" charset="-120"/>
              </a:rPr>
              <a:t>THÈME 2</a:t>
            </a:r>
            <a:endParaRPr lang="en-US" sz="1400" dirty="0"/>
          </a:p>
        </p:txBody>
      </p:sp>
      <p:sp>
        <p:nvSpPr>
          <p:cNvPr id="4" name="Text 2"/>
          <p:cNvSpPr/>
          <p:nvPr/>
        </p:nvSpPr>
        <p:spPr>
          <a:xfrm>
            <a:off x="731520" y="2103120"/>
            <a:ext cx="8229600" cy="91440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La GRC &amp; le marketing relationnel</a:t>
            </a:r>
            <a:endParaRPr lang="en-US" sz="4000" dirty="0"/>
          </a:p>
        </p:txBody>
      </p:sp>
      <p:sp>
        <p:nvSpPr>
          <p:cNvPr id="5" name="Shape 3"/>
          <p:cNvSpPr/>
          <p:nvPr/>
        </p:nvSpPr>
        <p:spPr>
          <a:xfrm>
            <a:off x="731520" y="3154680"/>
            <a:ext cx="731520" cy="45720"/>
          </a:xfrm>
          <a:prstGeom prst="rect">
            <a:avLst/>
          </a:prstGeom>
          <a:solidFill>
            <a:srgbClr val="C9A227"/>
          </a:solidFill>
          <a:ln/>
        </p:spPr>
        <p:txBody>
          <a:bodyPr/>
          <a:lstStyle/>
          <a:p>
            <a:endParaRPr lang="fr-FR"/>
          </a:p>
        </p:txBody>
      </p:sp>
      <p:sp>
        <p:nvSpPr>
          <p:cNvPr id="6" name="Text 4"/>
          <p:cNvSpPr/>
          <p:nvPr/>
        </p:nvSpPr>
        <p:spPr>
          <a:xfrm>
            <a:off x="731520" y="3291840"/>
            <a:ext cx="7772400" cy="457200"/>
          </a:xfrm>
          <a:prstGeom prst="rect">
            <a:avLst/>
          </a:prstGeom>
          <a:noFill/>
          <a:ln/>
        </p:spPr>
        <p:txBody>
          <a:bodyPr wrap="square" rtlCol="0" anchor="ctr"/>
          <a:lstStyle/>
          <a:p>
            <a:pPr marL="0" indent="0">
              <a:buNone/>
            </a:pPr>
            <a:endParaRPr lang="en-US" sz="1600" dirty="0"/>
          </a:p>
        </p:txBody>
      </p:sp>
      <p:sp>
        <p:nvSpPr>
          <p:cNvPr id="7" name="Shape 5"/>
          <p:cNvSpPr/>
          <p:nvPr/>
        </p:nvSpPr>
        <p:spPr>
          <a:xfrm>
            <a:off x="0" y="4850892"/>
            <a:ext cx="9144000" cy="292608"/>
          </a:xfrm>
          <a:prstGeom prst="rect">
            <a:avLst/>
          </a:prstGeom>
          <a:solidFill>
            <a:srgbClr val="1E2761"/>
          </a:solidFill>
          <a:ln/>
        </p:spPr>
        <p:txBody>
          <a:bodyPr/>
          <a:lstStyle/>
          <a:p>
            <a:endParaRPr lang="fr-FR"/>
          </a:p>
        </p:txBody>
      </p:sp>
      <p:sp>
        <p:nvSpPr>
          <p:cNvPr id="9" name="Text 7"/>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2</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GRC &amp; marketing relationnel</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10 / 15</a:t>
            </a:r>
            <a:endParaRPr lang="en-US" sz="900" dirty="0"/>
          </a:p>
        </p:txBody>
      </p:sp>
      <p:sp>
        <p:nvSpPr>
          <p:cNvPr id="9" name="Shape 7"/>
          <p:cNvSpPr/>
          <p:nvPr/>
        </p:nvSpPr>
        <p:spPr>
          <a:xfrm>
            <a:off x="365760" y="1508760"/>
            <a:ext cx="8412480" cy="100584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08760"/>
            <a:ext cx="73152" cy="100584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581912"/>
            <a:ext cx="8046720" cy="86868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Définition.  </a:t>
            </a:r>
            <a:r>
              <a:rPr lang="en-US" sz="1100" dirty="0">
                <a:solidFill>
                  <a:srgbClr val="1F2937"/>
                </a:solidFill>
                <a:latin typeface="Calibri" pitchFamily="34" charset="0"/>
                <a:ea typeface="Calibri" pitchFamily="34" charset="-122"/>
                <a:cs typeface="Calibri" pitchFamily="34" charset="-120"/>
              </a:rPr>
              <a:t>La Gestion de la Relation Client (GRC ou CRM) regroupe l'ensemble des stratégies, processus et outils visant à identifier, attirer, fidéliser et développer une relation durable et personnalisée avec chaque client. Le </a:t>
            </a:r>
            <a:r>
              <a:rPr lang="en-US" sz="1100" b="1" dirty="0">
                <a:solidFill>
                  <a:srgbClr val="1E2761"/>
                </a:solidFill>
                <a:latin typeface="Calibri" pitchFamily="34" charset="0"/>
                <a:ea typeface="Calibri" pitchFamily="34" charset="-122"/>
                <a:cs typeface="Calibri" pitchFamily="34" charset="-120"/>
              </a:rPr>
              <a:t>marketing relationnel</a:t>
            </a:r>
            <a:r>
              <a:rPr lang="en-US" sz="1100" dirty="0">
                <a:solidFill>
                  <a:srgbClr val="1F2937"/>
                </a:solidFill>
                <a:latin typeface="Calibri" pitchFamily="34" charset="0"/>
                <a:ea typeface="Calibri" pitchFamily="34" charset="-122"/>
                <a:cs typeface="Calibri" pitchFamily="34" charset="-120"/>
              </a:rPr>
              <a:t> s'oppose au marketing transactionnel : il privilégie la valeur créée sur la durée du cycle de vie client (Lifetime value - LTV) à la maximisation d'une vente isolée.</a:t>
            </a:r>
            <a:endParaRPr lang="en-US" sz="1100" dirty="0"/>
          </a:p>
        </p:txBody>
      </p:sp>
      <p:sp>
        <p:nvSpPr>
          <p:cNvPr id="12" name="Text 10"/>
          <p:cNvSpPr/>
          <p:nvPr/>
        </p:nvSpPr>
        <p:spPr>
          <a:xfrm>
            <a:off x="365760" y="2697480"/>
            <a:ext cx="82296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Marketing transactionnel vs marketing relationnel</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726408059"/>
              </p:ext>
            </p:extLst>
          </p:nvPr>
        </p:nvGraphicFramePr>
        <p:xfrm>
          <a:off x="365760" y="3017520"/>
          <a:ext cx="8412480" cy="1609344"/>
        </p:xfrm>
        <a:graphic>
          <a:graphicData uri="http://schemas.openxmlformats.org/drawingml/2006/table">
            <a:tbl>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Marketing transactionnel</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64748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Marketing relationnel</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Vente unique, court terme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Relation durable, long terme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Centré produit</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Centré client et expérience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Communication de masse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Personnalisation, segmentation fine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Mesure : chiffre d'affaires</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Mesure : satisfaction, fidélité, LTV, </a:t>
                      </a:r>
                      <a:r>
                        <a:rPr lang="fr-FR" sz="1050" kern="1200" dirty="0">
                          <a:solidFill>
                            <a:srgbClr val="1F2937"/>
                          </a:solidFill>
                          <a:latin typeface="Calibri" pitchFamily="34" charset="0"/>
                          <a:ea typeface="Calibri" pitchFamily="34" charset="-122"/>
                          <a:cs typeface="Calibri" pitchFamily="34" charset="-120"/>
                        </a:rPr>
                        <a:t>Net</a:t>
                      </a:r>
                      <a:r>
                        <a:rPr lang="fr-FR" sz="1800" b="1" i="0" kern="1200" dirty="0">
                          <a:solidFill>
                            <a:schemeClr val="tx1"/>
                          </a:solidFill>
                          <a:effectLst/>
                          <a:latin typeface="+mn-lt"/>
                          <a:ea typeface="+mn-ea"/>
                          <a:cs typeface="+mn-cs"/>
                        </a:rPr>
                        <a:t> </a:t>
                      </a:r>
                      <a:r>
                        <a:rPr lang="fr-FR" sz="1050" kern="1200" dirty="0" err="1">
                          <a:solidFill>
                            <a:srgbClr val="1F2937"/>
                          </a:solidFill>
                          <a:latin typeface="Calibri" pitchFamily="34" charset="0"/>
                          <a:ea typeface="Calibri" pitchFamily="34" charset="-122"/>
                          <a:cs typeface="Calibri" pitchFamily="34" charset="-120"/>
                        </a:rPr>
                        <a:t>Promoter</a:t>
                      </a:r>
                      <a:r>
                        <a:rPr lang="fr-FR" sz="1800" b="1" i="0" kern="1200" dirty="0">
                          <a:solidFill>
                            <a:schemeClr val="tx1"/>
                          </a:solidFill>
                          <a:effectLst/>
                          <a:latin typeface="+mn-lt"/>
                          <a:ea typeface="+mn-ea"/>
                          <a:cs typeface="+mn-cs"/>
                        </a:rPr>
                        <a:t> </a:t>
                      </a:r>
                      <a:r>
                        <a:rPr lang="fr-FR" sz="1050" kern="1200" dirty="0">
                          <a:solidFill>
                            <a:srgbClr val="1F2937"/>
                          </a:solidFill>
                          <a:latin typeface="Calibri" pitchFamily="34" charset="0"/>
                          <a:ea typeface="Calibri" pitchFamily="34" charset="-122"/>
                          <a:cs typeface="Calibri" pitchFamily="34" charset="-120"/>
                        </a:rPr>
                        <a:t>Score (NPS)</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THÈME 2</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Le parcours client : définition &amp; enjeux</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11 / 15</a:t>
            </a:r>
            <a:endParaRPr lang="en-US" sz="900" dirty="0"/>
          </a:p>
        </p:txBody>
      </p:sp>
      <p:sp>
        <p:nvSpPr>
          <p:cNvPr id="9" name="Shape 7"/>
          <p:cNvSpPr/>
          <p:nvPr/>
        </p:nvSpPr>
        <p:spPr>
          <a:xfrm>
            <a:off x="365760" y="1508760"/>
            <a:ext cx="8412480" cy="91440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08760"/>
            <a:ext cx="73152" cy="91440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581912"/>
            <a:ext cx="8046720" cy="77724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Définition.  </a:t>
            </a:r>
            <a:r>
              <a:rPr lang="en-US" sz="1100" dirty="0">
                <a:solidFill>
                  <a:srgbClr val="1F2937"/>
                </a:solidFill>
                <a:latin typeface="Calibri" pitchFamily="34" charset="0"/>
                <a:ea typeface="Calibri" pitchFamily="34" charset="-122"/>
                <a:cs typeface="Calibri" pitchFamily="34" charset="-120"/>
              </a:rPr>
              <a:t>Le parcours client (customer journey) désigne l'ensemble des étapes physiques et </a:t>
            </a:r>
            <a:r>
              <a:rPr lang="en-US" sz="1100" dirty="0" err="1">
                <a:solidFill>
                  <a:srgbClr val="1F2937"/>
                </a:solidFill>
                <a:latin typeface="Calibri" pitchFamily="34" charset="0"/>
                <a:ea typeface="Calibri" pitchFamily="34" charset="-122"/>
                <a:cs typeface="Calibri" pitchFamily="34" charset="-120"/>
              </a:rPr>
              <a:t>digitales</a:t>
            </a:r>
            <a:r>
              <a:rPr lang="en-US" sz="1100" dirty="0">
                <a:solidFill>
                  <a:srgbClr val="1F2937"/>
                </a:solidFill>
                <a:latin typeface="Calibri" pitchFamily="34" charset="0"/>
                <a:ea typeface="Calibri" pitchFamily="34" charset="-122"/>
                <a:cs typeface="Calibri" pitchFamily="34" charset="-120"/>
              </a:rPr>
              <a:t> qu'un client traverse dans sa relation avec </a:t>
            </a:r>
            <a:r>
              <a:rPr lang="en-US" sz="1100" dirty="0" err="1">
                <a:solidFill>
                  <a:srgbClr val="1F2937"/>
                </a:solidFill>
                <a:latin typeface="Calibri" pitchFamily="34" charset="0"/>
                <a:ea typeface="Calibri" pitchFamily="34" charset="-122"/>
                <a:cs typeface="Calibri" pitchFamily="34" charset="-120"/>
              </a:rPr>
              <a:t>une</a:t>
            </a:r>
            <a:r>
              <a:rPr lang="en-US" sz="1100" dirty="0">
                <a:solidFill>
                  <a:srgbClr val="1F2937"/>
                </a:solidFill>
                <a:latin typeface="Calibri" pitchFamily="34" charset="0"/>
                <a:ea typeface="Calibri" pitchFamily="34" charset="-122"/>
                <a:cs typeface="Calibri" pitchFamily="34" charset="-120"/>
              </a:rPr>
              <a:t> marque depuis l'apparition du besoin jusqu'à l'usage et la recommandation. </a:t>
            </a:r>
            <a:endParaRPr lang="en-US" sz="1100" dirty="0"/>
          </a:p>
        </p:txBody>
      </p:sp>
      <p:sp>
        <p:nvSpPr>
          <p:cNvPr id="12" name="Shape 10"/>
          <p:cNvSpPr/>
          <p:nvPr/>
        </p:nvSpPr>
        <p:spPr>
          <a:xfrm>
            <a:off x="36576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13" name="Shape 11"/>
          <p:cNvSpPr/>
          <p:nvPr/>
        </p:nvSpPr>
        <p:spPr>
          <a:xfrm>
            <a:off x="36576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365760" y="2697480"/>
            <a:ext cx="2743200" cy="365760"/>
          </a:xfrm>
          <a:prstGeom prst="rect">
            <a:avLst/>
          </a:prstGeom>
          <a:noFill/>
          <a:ln/>
        </p:spPr>
        <p:txBody>
          <a:bodyPr wrap="square" lIns="0" tIns="0" rIns="0" bIns="0" rtlCol="0" anchor="ctr"/>
          <a:lstStyle/>
          <a:p>
            <a:pPr marL="0" indent="0" algn="ctr">
              <a:buNone/>
            </a:pPr>
            <a:r>
              <a:rPr lang="en-US" sz="1300" b="1" kern="0" spc="200" dirty="0">
                <a:solidFill>
                  <a:srgbClr val="C9A227"/>
                </a:solidFill>
                <a:latin typeface="Calibri" pitchFamily="34" charset="0"/>
                <a:ea typeface="Calibri" pitchFamily="34" charset="-122"/>
                <a:cs typeface="Calibri" pitchFamily="34" charset="-120"/>
              </a:rPr>
              <a:t>AVANT</a:t>
            </a:r>
            <a:endParaRPr lang="en-US" sz="1300" dirty="0"/>
          </a:p>
        </p:txBody>
      </p:sp>
      <p:sp>
        <p:nvSpPr>
          <p:cNvPr id="15" name="Text 13"/>
          <p:cNvSpPr/>
          <p:nvPr/>
        </p:nvSpPr>
        <p:spPr>
          <a:xfrm>
            <a:off x="502920" y="3154680"/>
            <a:ext cx="246888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Prise de conscience</a:t>
            </a:r>
            <a:endParaRPr lang="en-US" sz="1200" dirty="0"/>
          </a:p>
        </p:txBody>
      </p:sp>
      <p:sp>
        <p:nvSpPr>
          <p:cNvPr id="16" name="Text 14"/>
          <p:cNvSpPr/>
          <p:nvPr/>
        </p:nvSpPr>
        <p:spPr>
          <a:xfrm>
            <a:off x="502920" y="3474720"/>
            <a:ext cx="2468880" cy="105156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Recherche d'information, comparaison, premières </a:t>
            </a:r>
            <a:r>
              <a:rPr lang="en-US" sz="1000" dirty="0" err="1">
                <a:solidFill>
                  <a:srgbClr val="1F2937"/>
                </a:solidFill>
                <a:latin typeface="Calibri" pitchFamily="34" charset="0"/>
                <a:ea typeface="Calibri" pitchFamily="34" charset="-122"/>
                <a:cs typeface="Calibri" pitchFamily="34" charset="-120"/>
              </a:rPr>
              <a:t>visites</a:t>
            </a:r>
            <a:r>
              <a:rPr lang="en-US" sz="1000" dirty="0">
                <a:solidFill>
                  <a:srgbClr val="1F2937"/>
                </a:solidFill>
                <a:latin typeface="Calibri" pitchFamily="34" charset="0"/>
                <a:ea typeface="Calibri" pitchFamily="34" charset="-122"/>
                <a:cs typeface="Calibri" pitchFamily="34" charset="-120"/>
              </a:rPr>
              <a:t>, le client construit sa décision</a:t>
            </a:r>
            <a:endParaRPr lang="en-US" sz="1000" dirty="0"/>
          </a:p>
        </p:txBody>
      </p:sp>
      <p:sp>
        <p:nvSpPr>
          <p:cNvPr id="18" name="Shape 16"/>
          <p:cNvSpPr/>
          <p:nvPr/>
        </p:nvSpPr>
        <p:spPr>
          <a:xfrm>
            <a:off x="329184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19" name="Shape 17"/>
          <p:cNvSpPr/>
          <p:nvPr/>
        </p:nvSpPr>
        <p:spPr>
          <a:xfrm>
            <a:off x="329184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20" name="Text 18"/>
          <p:cNvSpPr/>
          <p:nvPr/>
        </p:nvSpPr>
        <p:spPr>
          <a:xfrm>
            <a:off x="3291840" y="2697480"/>
            <a:ext cx="2743200" cy="365760"/>
          </a:xfrm>
          <a:prstGeom prst="rect">
            <a:avLst/>
          </a:prstGeom>
          <a:noFill/>
          <a:ln/>
        </p:spPr>
        <p:txBody>
          <a:bodyPr wrap="square" lIns="0" tIns="0" rIns="0" bIns="0" rtlCol="0" anchor="ctr"/>
          <a:lstStyle/>
          <a:p>
            <a:pPr marL="0" indent="0" algn="ctr">
              <a:buNone/>
            </a:pPr>
            <a:r>
              <a:rPr lang="en-US" sz="1300" b="1" kern="0" spc="200" dirty="0">
                <a:solidFill>
                  <a:srgbClr val="C9A227"/>
                </a:solidFill>
                <a:latin typeface="Calibri" pitchFamily="34" charset="0"/>
                <a:ea typeface="Calibri" pitchFamily="34" charset="-122"/>
                <a:cs typeface="Calibri" pitchFamily="34" charset="-120"/>
              </a:rPr>
              <a:t>PENDANT</a:t>
            </a:r>
            <a:endParaRPr lang="en-US" sz="1300" dirty="0"/>
          </a:p>
        </p:txBody>
      </p:sp>
      <p:sp>
        <p:nvSpPr>
          <p:cNvPr id="21" name="Text 19"/>
          <p:cNvSpPr/>
          <p:nvPr/>
        </p:nvSpPr>
        <p:spPr>
          <a:xfrm>
            <a:off x="3429000" y="3154680"/>
            <a:ext cx="246888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Acte d'achat</a:t>
            </a:r>
            <a:endParaRPr lang="en-US" sz="1200" dirty="0"/>
          </a:p>
        </p:txBody>
      </p:sp>
      <p:sp>
        <p:nvSpPr>
          <p:cNvPr id="22" name="Text 20"/>
          <p:cNvSpPr/>
          <p:nvPr/>
        </p:nvSpPr>
        <p:spPr>
          <a:xfrm>
            <a:off x="3429000" y="3474720"/>
            <a:ext cx="2468880" cy="105156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Réservation, négociation, signature, </a:t>
            </a:r>
            <a:r>
              <a:rPr lang="en-US" sz="1000" dirty="0" err="1">
                <a:solidFill>
                  <a:srgbClr val="1F2937"/>
                </a:solidFill>
                <a:latin typeface="Calibri" pitchFamily="34" charset="0"/>
                <a:ea typeface="Calibri" pitchFamily="34" charset="-122"/>
                <a:cs typeface="Calibri" pitchFamily="34" charset="-120"/>
              </a:rPr>
              <a:t>financement</a:t>
            </a:r>
            <a:endParaRPr lang="en-US" sz="1000" dirty="0"/>
          </a:p>
        </p:txBody>
      </p:sp>
      <p:sp>
        <p:nvSpPr>
          <p:cNvPr id="24" name="Shape 22"/>
          <p:cNvSpPr/>
          <p:nvPr/>
        </p:nvSpPr>
        <p:spPr>
          <a:xfrm>
            <a:off x="621792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25" name="Shape 23"/>
          <p:cNvSpPr/>
          <p:nvPr/>
        </p:nvSpPr>
        <p:spPr>
          <a:xfrm>
            <a:off x="621792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26" name="Text 24"/>
          <p:cNvSpPr/>
          <p:nvPr/>
        </p:nvSpPr>
        <p:spPr>
          <a:xfrm>
            <a:off x="6217920" y="2697480"/>
            <a:ext cx="2743200" cy="365760"/>
          </a:xfrm>
          <a:prstGeom prst="rect">
            <a:avLst/>
          </a:prstGeom>
          <a:noFill/>
          <a:ln/>
        </p:spPr>
        <p:txBody>
          <a:bodyPr wrap="square" lIns="0" tIns="0" rIns="0" bIns="0" rtlCol="0" anchor="ctr"/>
          <a:lstStyle/>
          <a:p>
            <a:pPr marL="0" indent="0" algn="ctr">
              <a:buNone/>
            </a:pPr>
            <a:r>
              <a:rPr lang="en-US" sz="1300" b="1" kern="0" spc="200" dirty="0">
                <a:solidFill>
                  <a:srgbClr val="C9A227"/>
                </a:solidFill>
                <a:latin typeface="Calibri" pitchFamily="34" charset="0"/>
                <a:ea typeface="Calibri" pitchFamily="34" charset="-122"/>
                <a:cs typeface="Calibri" pitchFamily="34" charset="-120"/>
              </a:rPr>
              <a:t>APRÈS</a:t>
            </a:r>
            <a:endParaRPr lang="en-US" sz="1300" dirty="0"/>
          </a:p>
        </p:txBody>
      </p:sp>
      <p:sp>
        <p:nvSpPr>
          <p:cNvPr id="27" name="Text 25"/>
          <p:cNvSpPr/>
          <p:nvPr/>
        </p:nvSpPr>
        <p:spPr>
          <a:xfrm>
            <a:off x="6355080" y="3154680"/>
            <a:ext cx="246888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Usage &amp; fidélisation</a:t>
            </a:r>
            <a:endParaRPr lang="en-US" sz="1200" dirty="0"/>
          </a:p>
        </p:txBody>
      </p:sp>
      <p:sp>
        <p:nvSpPr>
          <p:cNvPr id="28" name="Text 26"/>
          <p:cNvSpPr/>
          <p:nvPr/>
        </p:nvSpPr>
        <p:spPr>
          <a:xfrm>
            <a:off x="6355080" y="3474720"/>
            <a:ext cx="2468880" cy="105156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Livraison, SAV, garantie, recommendation, capital de confiance pour de futurs projets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Phase 1 — Avant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12 / 15</a:t>
            </a:r>
            <a:endParaRPr lang="en-US" sz="900" dirty="0"/>
          </a:p>
        </p:txBody>
      </p:sp>
      <p:sp>
        <p:nvSpPr>
          <p:cNvPr id="9" name="Text 7"/>
          <p:cNvSpPr/>
          <p:nvPr/>
        </p:nvSpPr>
        <p:spPr>
          <a:xfrm>
            <a:off x="365760" y="1417320"/>
            <a:ext cx="8595360" cy="457200"/>
          </a:xfrm>
          <a:prstGeom prst="rect">
            <a:avLst/>
          </a:prstGeom>
          <a:noFill/>
          <a:ln/>
        </p:spPr>
        <p:txBody>
          <a:bodyPr wrap="square" lIns="0" tIns="0" rIns="0" bIns="0" rtlCol="0" anchor="ctr"/>
          <a:lstStyle/>
          <a:p>
            <a:pPr marL="0" indent="0">
              <a:buNone/>
            </a:pPr>
            <a:r>
              <a:rPr lang="en-US" sz="1100" b="1" i="1" dirty="0">
                <a:solidFill>
                  <a:srgbClr val="1E2761"/>
                </a:solidFill>
                <a:latin typeface="Calibri" pitchFamily="34" charset="0"/>
                <a:ea typeface="Calibri" pitchFamily="34" charset="-122"/>
                <a:cs typeface="Calibri" pitchFamily="34" charset="-120"/>
              </a:rPr>
              <a:t>Bouygues Immobilier</a:t>
            </a:r>
            <a:r>
              <a:rPr lang="en-US" sz="1100" i="1" dirty="0">
                <a:solidFill>
                  <a:srgbClr val="1F2937"/>
                </a:solidFill>
                <a:latin typeface="Calibri" pitchFamily="34" charset="0"/>
                <a:ea typeface="Calibri" pitchFamily="34" charset="-122"/>
                <a:cs typeface="Calibri" pitchFamily="34" charset="-120"/>
              </a:rPr>
              <a:t> : </a:t>
            </a:r>
            <a:r>
              <a:rPr lang="en-US" sz="1100" i="1" dirty="0" err="1">
                <a:solidFill>
                  <a:srgbClr val="1F2937"/>
                </a:solidFill>
                <a:latin typeface="Calibri" pitchFamily="34" charset="0"/>
                <a:ea typeface="Calibri" pitchFamily="34" charset="-122"/>
                <a:cs typeface="Calibri" pitchFamily="34" charset="-120"/>
              </a:rPr>
              <a:t>promoteur</a:t>
            </a:r>
            <a:r>
              <a:rPr lang="en-US" sz="1100" i="1" dirty="0">
                <a:solidFill>
                  <a:srgbClr val="1F2937"/>
                </a:solidFill>
                <a:latin typeface="Calibri" pitchFamily="34" charset="0"/>
                <a:ea typeface="Calibri" pitchFamily="34" charset="-122"/>
                <a:cs typeface="Calibri" pitchFamily="34" charset="-120"/>
              </a:rPr>
              <a:t> français majeur (logement neuf, immobilier d'entreprise, aménagement urbain). Ancrage de marque autour de l'innovation, du quartier durable (UrbanEra) et de la performance énergétique.</a:t>
            </a:r>
            <a:endParaRPr lang="en-US" sz="1100" dirty="0"/>
          </a:p>
        </p:txBody>
      </p:sp>
      <p:sp>
        <p:nvSpPr>
          <p:cNvPr id="10" name="Text 8"/>
          <p:cNvSpPr/>
          <p:nvPr/>
        </p:nvSpPr>
        <p:spPr>
          <a:xfrm>
            <a:off x="365760" y="1920240"/>
            <a:ext cx="859536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Objectif marketing : transformer un visiteur anonyme en prospect qualifié</a:t>
            </a:r>
            <a:endParaRPr lang="en-US" sz="1200" dirty="0"/>
          </a:p>
        </p:txBody>
      </p:sp>
      <p:sp>
        <p:nvSpPr>
          <p:cNvPr id="11" name="Shape 9"/>
          <p:cNvSpPr/>
          <p:nvPr/>
        </p:nvSpPr>
        <p:spPr>
          <a:xfrm>
            <a:off x="365760" y="2331720"/>
            <a:ext cx="4160520" cy="1005840"/>
          </a:xfrm>
          <a:prstGeom prst="rect">
            <a:avLst/>
          </a:prstGeom>
          <a:solidFill>
            <a:srgbClr val="F5F7FB"/>
          </a:solidFill>
          <a:ln w="9525">
            <a:solidFill>
              <a:srgbClr val="CADCFC"/>
            </a:solidFill>
            <a:prstDash val="solid"/>
          </a:ln>
        </p:spPr>
        <p:txBody>
          <a:bodyPr/>
          <a:lstStyle/>
          <a:p>
            <a:endParaRPr lang="fr-FR"/>
          </a:p>
        </p:txBody>
      </p:sp>
      <p:sp>
        <p:nvSpPr>
          <p:cNvPr id="12" name="Shape 10"/>
          <p:cNvSpPr/>
          <p:nvPr/>
        </p:nvSpPr>
        <p:spPr>
          <a:xfrm>
            <a:off x="365760" y="2331720"/>
            <a:ext cx="73152" cy="1005840"/>
          </a:xfrm>
          <a:prstGeom prst="rect">
            <a:avLst/>
          </a:prstGeom>
          <a:solidFill>
            <a:srgbClr val="C9A227"/>
          </a:solidFill>
          <a:ln w="12700">
            <a:solidFill>
              <a:srgbClr val="C9A227"/>
            </a:solidFill>
            <a:prstDash val="solid"/>
          </a:ln>
        </p:spPr>
        <p:txBody>
          <a:bodyPr/>
          <a:lstStyle/>
          <a:p>
            <a:endParaRPr lang="fr-FR"/>
          </a:p>
        </p:txBody>
      </p:sp>
      <p:sp>
        <p:nvSpPr>
          <p:cNvPr id="13" name="Text 11"/>
          <p:cNvSpPr/>
          <p:nvPr/>
        </p:nvSpPr>
        <p:spPr>
          <a:xfrm>
            <a:off x="548640" y="2423160"/>
            <a:ext cx="384048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Notoriété</a:t>
            </a:r>
            <a:endParaRPr lang="en-US" sz="1200" dirty="0"/>
          </a:p>
        </p:txBody>
      </p:sp>
      <p:sp>
        <p:nvSpPr>
          <p:cNvPr id="14" name="Text 12"/>
          <p:cNvSpPr/>
          <p:nvPr/>
        </p:nvSpPr>
        <p:spPr>
          <a:xfrm>
            <a:off x="548640" y="2715768"/>
            <a:ext cx="3840480" cy="64008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Campagnes TV &amp; digitales, sponsoring, marque employeur, partenariats institutionnels (Grand Paris, label E+C-)</a:t>
            </a:r>
            <a:endParaRPr lang="en-US" sz="1000" dirty="0"/>
          </a:p>
        </p:txBody>
      </p:sp>
      <p:sp>
        <p:nvSpPr>
          <p:cNvPr id="15" name="Shape 13"/>
          <p:cNvSpPr/>
          <p:nvPr/>
        </p:nvSpPr>
        <p:spPr>
          <a:xfrm>
            <a:off x="4709160" y="2331720"/>
            <a:ext cx="4160520" cy="100584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709160" y="2331720"/>
            <a:ext cx="73152" cy="1005840"/>
          </a:xfrm>
          <a:prstGeom prst="rect">
            <a:avLst/>
          </a:prstGeom>
          <a:solidFill>
            <a:srgbClr val="C9A227"/>
          </a:solidFill>
          <a:ln w="12700">
            <a:solidFill>
              <a:srgbClr val="C9A227"/>
            </a:solidFill>
            <a:prstDash val="solid"/>
          </a:ln>
        </p:spPr>
        <p:txBody>
          <a:bodyPr/>
          <a:lstStyle/>
          <a:p>
            <a:endParaRPr lang="fr-FR"/>
          </a:p>
        </p:txBody>
      </p:sp>
      <p:sp>
        <p:nvSpPr>
          <p:cNvPr id="17" name="Text 15"/>
          <p:cNvSpPr/>
          <p:nvPr/>
        </p:nvSpPr>
        <p:spPr>
          <a:xfrm>
            <a:off x="4892040" y="2423160"/>
            <a:ext cx="384048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Acquisition digitale</a:t>
            </a:r>
            <a:endParaRPr lang="en-US" sz="1200" dirty="0"/>
          </a:p>
        </p:txBody>
      </p:sp>
      <p:sp>
        <p:nvSpPr>
          <p:cNvPr id="18" name="Text 16"/>
          <p:cNvSpPr/>
          <p:nvPr/>
        </p:nvSpPr>
        <p:spPr>
          <a:xfrm>
            <a:off x="4892040" y="2715768"/>
            <a:ext cx="3840480" cy="64008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Site bouygues-immobilier.com, </a:t>
            </a:r>
            <a:r>
              <a:rPr lang="en-US" sz="1000" dirty="0" err="1">
                <a:solidFill>
                  <a:srgbClr val="1F2937"/>
                </a:solidFill>
                <a:latin typeface="Calibri" pitchFamily="34" charset="0"/>
                <a:ea typeface="Calibri" pitchFamily="34" charset="-122"/>
                <a:cs typeface="Calibri" pitchFamily="34" charset="-120"/>
              </a:rPr>
              <a:t>présence</a:t>
            </a:r>
            <a:r>
              <a:rPr lang="en-US" sz="1000" dirty="0">
                <a:solidFill>
                  <a:srgbClr val="1F2937"/>
                </a:solidFill>
                <a:latin typeface="Calibri" pitchFamily="34" charset="0"/>
                <a:ea typeface="Calibri" pitchFamily="34" charset="-122"/>
                <a:cs typeface="Calibri" pitchFamily="34" charset="-120"/>
              </a:rPr>
              <a:t> sur SeLoger &amp; Bien'ici, retargeting, configurateurs en ligne</a:t>
            </a:r>
            <a:endParaRPr lang="en-US" sz="1000" dirty="0"/>
          </a:p>
        </p:txBody>
      </p:sp>
      <p:sp>
        <p:nvSpPr>
          <p:cNvPr id="19" name="Shape 17"/>
          <p:cNvSpPr/>
          <p:nvPr/>
        </p:nvSpPr>
        <p:spPr>
          <a:xfrm>
            <a:off x="365760" y="3474720"/>
            <a:ext cx="4160520" cy="1005840"/>
          </a:xfrm>
          <a:prstGeom prst="rect">
            <a:avLst/>
          </a:prstGeom>
          <a:solidFill>
            <a:srgbClr val="F5F7FB"/>
          </a:solidFill>
          <a:ln w="9525">
            <a:solidFill>
              <a:srgbClr val="CADCFC"/>
            </a:solidFill>
            <a:prstDash val="solid"/>
          </a:ln>
        </p:spPr>
        <p:txBody>
          <a:bodyPr/>
          <a:lstStyle/>
          <a:p>
            <a:endParaRPr lang="fr-FR"/>
          </a:p>
        </p:txBody>
      </p:sp>
      <p:sp>
        <p:nvSpPr>
          <p:cNvPr id="20" name="Shape 18"/>
          <p:cNvSpPr/>
          <p:nvPr/>
        </p:nvSpPr>
        <p:spPr>
          <a:xfrm>
            <a:off x="365760" y="3474720"/>
            <a:ext cx="73152" cy="1005840"/>
          </a:xfrm>
          <a:prstGeom prst="rect">
            <a:avLst/>
          </a:prstGeom>
          <a:solidFill>
            <a:srgbClr val="C9A227"/>
          </a:solidFill>
          <a:ln w="12700">
            <a:solidFill>
              <a:srgbClr val="C9A227"/>
            </a:solidFill>
            <a:prstDash val="solid"/>
          </a:ln>
        </p:spPr>
        <p:txBody>
          <a:bodyPr/>
          <a:lstStyle/>
          <a:p>
            <a:endParaRPr lang="fr-FR"/>
          </a:p>
        </p:txBody>
      </p:sp>
      <p:sp>
        <p:nvSpPr>
          <p:cNvPr id="21" name="Text 19"/>
          <p:cNvSpPr/>
          <p:nvPr/>
        </p:nvSpPr>
        <p:spPr>
          <a:xfrm>
            <a:off x="548640" y="3566160"/>
            <a:ext cx="384048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Lead generation</a:t>
            </a:r>
            <a:endParaRPr lang="en-US" sz="1200" dirty="0"/>
          </a:p>
        </p:txBody>
      </p:sp>
      <p:sp>
        <p:nvSpPr>
          <p:cNvPr id="22" name="Text 20"/>
          <p:cNvSpPr/>
          <p:nvPr/>
        </p:nvSpPr>
        <p:spPr>
          <a:xfrm>
            <a:off x="548640" y="3858768"/>
            <a:ext cx="3840480" cy="64008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Formulaires de contact, demandes de documentation, simulateurs de financement, inscriptions newsletter</a:t>
            </a:r>
            <a:endParaRPr lang="en-US" sz="1000" dirty="0"/>
          </a:p>
        </p:txBody>
      </p:sp>
      <p:sp>
        <p:nvSpPr>
          <p:cNvPr id="23" name="Shape 21"/>
          <p:cNvSpPr/>
          <p:nvPr/>
        </p:nvSpPr>
        <p:spPr>
          <a:xfrm>
            <a:off x="4709160" y="3474720"/>
            <a:ext cx="4160520" cy="1005840"/>
          </a:xfrm>
          <a:prstGeom prst="rect">
            <a:avLst/>
          </a:prstGeom>
          <a:solidFill>
            <a:srgbClr val="F5F7FB"/>
          </a:solidFill>
          <a:ln w="9525">
            <a:solidFill>
              <a:srgbClr val="CADCFC"/>
            </a:solidFill>
            <a:prstDash val="solid"/>
          </a:ln>
        </p:spPr>
        <p:txBody>
          <a:bodyPr/>
          <a:lstStyle/>
          <a:p>
            <a:endParaRPr lang="fr-FR" dirty="0"/>
          </a:p>
        </p:txBody>
      </p:sp>
      <p:sp>
        <p:nvSpPr>
          <p:cNvPr id="24" name="Shape 22"/>
          <p:cNvSpPr/>
          <p:nvPr/>
        </p:nvSpPr>
        <p:spPr>
          <a:xfrm>
            <a:off x="4709160" y="3474720"/>
            <a:ext cx="73152" cy="1005840"/>
          </a:xfrm>
          <a:prstGeom prst="rect">
            <a:avLst/>
          </a:prstGeom>
          <a:solidFill>
            <a:srgbClr val="C9A227"/>
          </a:solidFill>
          <a:ln w="12700">
            <a:solidFill>
              <a:srgbClr val="C9A227"/>
            </a:solidFill>
            <a:prstDash val="solid"/>
          </a:ln>
        </p:spPr>
        <p:txBody>
          <a:bodyPr/>
          <a:lstStyle/>
          <a:p>
            <a:endParaRPr lang="fr-FR"/>
          </a:p>
        </p:txBody>
      </p:sp>
      <p:sp>
        <p:nvSpPr>
          <p:cNvPr id="25" name="Text 23"/>
          <p:cNvSpPr/>
          <p:nvPr/>
        </p:nvSpPr>
        <p:spPr>
          <a:xfrm>
            <a:off x="4892040" y="3566160"/>
            <a:ext cx="384048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Recommendation</a:t>
            </a:r>
            <a:endParaRPr lang="en-US" sz="1200" dirty="0"/>
          </a:p>
        </p:txBody>
      </p:sp>
      <p:sp>
        <p:nvSpPr>
          <p:cNvPr id="26" name="Text 24"/>
          <p:cNvSpPr/>
          <p:nvPr/>
        </p:nvSpPr>
        <p:spPr>
          <a:xfrm>
            <a:off x="4892040" y="3858768"/>
            <a:ext cx="3840480" cy="64008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Visites virtuelles 3D, vidéos de chantier, témoignages clients, certifications NF Habitat HQE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Phase 2 — Pendant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13 / 15</a:t>
            </a:r>
            <a:endParaRPr lang="en-US" sz="900" dirty="0"/>
          </a:p>
        </p:txBody>
      </p:sp>
      <p:sp>
        <p:nvSpPr>
          <p:cNvPr id="9" name="Text 7"/>
          <p:cNvSpPr/>
          <p:nvPr/>
        </p:nvSpPr>
        <p:spPr>
          <a:xfrm>
            <a:off x="365760" y="1417320"/>
            <a:ext cx="8595360" cy="292608"/>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Objectif : accompagner et rassurer durant un processus long, complexe et émotionnellement engageant</a:t>
            </a:r>
            <a:endParaRPr lang="en-US" sz="1200" dirty="0"/>
          </a:p>
        </p:txBody>
      </p:sp>
      <p:sp>
        <p:nvSpPr>
          <p:cNvPr id="10" name="Shape 8"/>
          <p:cNvSpPr/>
          <p:nvPr/>
        </p:nvSpPr>
        <p:spPr>
          <a:xfrm>
            <a:off x="365760" y="1874520"/>
            <a:ext cx="411480" cy="411480"/>
          </a:xfrm>
          <a:prstGeom prst="ellipse">
            <a:avLst/>
          </a:prstGeom>
          <a:solidFill>
            <a:srgbClr val="1E2761"/>
          </a:solidFill>
          <a:ln w="12700">
            <a:solidFill>
              <a:srgbClr val="1E2761"/>
            </a:solidFill>
            <a:prstDash val="solid"/>
          </a:ln>
        </p:spPr>
        <p:txBody>
          <a:bodyPr/>
          <a:lstStyle/>
          <a:p>
            <a:endParaRPr lang="fr-FR"/>
          </a:p>
        </p:txBody>
      </p:sp>
      <p:sp>
        <p:nvSpPr>
          <p:cNvPr id="11" name="Text 9"/>
          <p:cNvSpPr/>
          <p:nvPr/>
        </p:nvSpPr>
        <p:spPr>
          <a:xfrm>
            <a:off x="365760" y="1874520"/>
            <a:ext cx="411480" cy="41148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1</a:t>
            </a:r>
            <a:endParaRPr lang="en-US" sz="1600" dirty="0"/>
          </a:p>
        </p:txBody>
      </p:sp>
      <p:sp>
        <p:nvSpPr>
          <p:cNvPr id="12" name="Text 10"/>
          <p:cNvSpPr/>
          <p:nvPr/>
        </p:nvSpPr>
        <p:spPr>
          <a:xfrm>
            <a:off x="914400" y="1847088"/>
            <a:ext cx="237744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Bulle de vente</a:t>
            </a:r>
            <a:endParaRPr lang="en-US" sz="1200" dirty="0"/>
          </a:p>
        </p:txBody>
      </p:sp>
      <p:sp>
        <p:nvSpPr>
          <p:cNvPr id="13" name="Text 11"/>
          <p:cNvSpPr/>
          <p:nvPr/>
        </p:nvSpPr>
        <p:spPr>
          <a:xfrm>
            <a:off x="3383280" y="1847088"/>
            <a:ext cx="548640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Espace de vente sur site avec maquette, plans, échantillons matériaux : la preuve physique au cœur de la décision</a:t>
            </a:r>
            <a:endParaRPr lang="en-US" sz="1000" dirty="0"/>
          </a:p>
        </p:txBody>
      </p:sp>
      <p:sp>
        <p:nvSpPr>
          <p:cNvPr id="14" name="Shape 12"/>
          <p:cNvSpPr/>
          <p:nvPr/>
        </p:nvSpPr>
        <p:spPr>
          <a:xfrm>
            <a:off x="548640" y="2286000"/>
            <a:ext cx="36576" cy="91440"/>
          </a:xfrm>
          <a:prstGeom prst="rect">
            <a:avLst/>
          </a:prstGeom>
          <a:solidFill>
            <a:srgbClr val="CADCFC"/>
          </a:solidFill>
          <a:ln w="12700">
            <a:solidFill>
              <a:srgbClr val="CADCFC"/>
            </a:solidFill>
            <a:prstDash val="solid"/>
          </a:ln>
        </p:spPr>
        <p:txBody>
          <a:bodyPr/>
          <a:lstStyle/>
          <a:p>
            <a:endParaRPr lang="fr-FR"/>
          </a:p>
        </p:txBody>
      </p:sp>
      <p:sp>
        <p:nvSpPr>
          <p:cNvPr id="15" name="Shape 13"/>
          <p:cNvSpPr/>
          <p:nvPr/>
        </p:nvSpPr>
        <p:spPr>
          <a:xfrm>
            <a:off x="365760" y="2423160"/>
            <a:ext cx="411480" cy="411480"/>
          </a:xfrm>
          <a:prstGeom prst="ellipse">
            <a:avLst/>
          </a:prstGeom>
          <a:solidFill>
            <a:srgbClr val="1E2761"/>
          </a:solidFill>
          <a:ln w="12700">
            <a:solidFill>
              <a:srgbClr val="1E2761"/>
            </a:solidFill>
            <a:prstDash val="solid"/>
          </a:ln>
        </p:spPr>
        <p:txBody>
          <a:bodyPr/>
          <a:lstStyle/>
          <a:p>
            <a:endParaRPr lang="fr-FR"/>
          </a:p>
        </p:txBody>
      </p:sp>
      <p:sp>
        <p:nvSpPr>
          <p:cNvPr id="16" name="Text 14"/>
          <p:cNvSpPr/>
          <p:nvPr/>
        </p:nvSpPr>
        <p:spPr>
          <a:xfrm>
            <a:off x="365760" y="2423160"/>
            <a:ext cx="411480" cy="41148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914400" y="2395728"/>
            <a:ext cx="237744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Conseiller dédié</a:t>
            </a:r>
            <a:endParaRPr lang="en-US" sz="1200" dirty="0"/>
          </a:p>
        </p:txBody>
      </p:sp>
      <p:sp>
        <p:nvSpPr>
          <p:cNvPr id="18" name="Text 16"/>
          <p:cNvSpPr/>
          <p:nvPr/>
        </p:nvSpPr>
        <p:spPr>
          <a:xfrm>
            <a:off x="3383280" y="2395728"/>
            <a:ext cx="548640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Un interlocuteur unique qui suit le client de la première visite à la signature, incarnation du "People"</a:t>
            </a:r>
            <a:endParaRPr lang="en-US" sz="1000" dirty="0"/>
          </a:p>
        </p:txBody>
      </p:sp>
      <p:sp>
        <p:nvSpPr>
          <p:cNvPr id="19" name="Shape 17"/>
          <p:cNvSpPr/>
          <p:nvPr/>
        </p:nvSpPr>
        <p:spPr>
          <a:xfrm>
            <a:off x="548640" y="2834640"/>
            <a:ext cx="36576" cy="91440"/>
          </a:xfrm>
          <a:prstGeom prst="rect">
            <a:avLst/>
          </a:prstGeom>
          <a:solidFill>
            <a:srgbClr val="CADCFC"/>
          </a:solidFill>
          <a:ln w="12700">
            <a:solidFill>
              <a:srgbClr val="CADCFC"/>
            </a:solidFill>
            <a:prstDash val="solid"/>
          </a:ln>
        </p:spPr>
        <p:txBody>
          <a:bodyPr/>
          <a:lstStyle/>
          <a:p>
            <a:endParaRPr lang="fr-FR"/>
          </a:p>
        </p:txBody>
      </p:sp>
      <p:sp>
        <p:nvSpPr>
          <p:cNvPr id="20" name="Shape 18"/>
          <p:cNvSpPr/>
          <p:nvPr/>
        </p:nvSpPr>
        <p:spPr>
          <a:xfrm>
            <a:off x="365760" y="2971800"/>
            <a:ext cx="411480" cy="411480"/>
          </a:xfrm>
          <a:prstGeom prst="ellipse">
            <a:avLst/>
          </a:prstGeom>
          <a:solidFill>
            <a:srgbClr val="1E2761"/>
          </a:solidFill>
          <a:ln w="12700">
            <a:solidFill>
              <a:srgbClr val="1E2761"/>
            </a:solidFill>
            <a:prstDash val="solid"/>
          </a:ln>
        </p:spPr>
        <p:txBody>
          <a:bodyPr/>
          <a:lstStyle/>
          <a:p>
            <a:endParaRPr lang="fr-FR"/>
          </a:p>
        </p:txBody>
      </p:sp>
      <p:sp>
        <p:nvSpPr>
          <p:cNvPr id="21" name="Text 19"/>
          <p:cNvSpPr/>
          <p:nvPr/>
        </p:nvSpPr>
        <p:spPr>
          <a:xfrm>
            <a:off x="365760" y="2971800"/>
            <a:ext cx="411480" cy="41148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3</a:t>
            </a:r>
            <a:endParaRPr lang="en-US" sz="1600" dirty="0"/>
          </a:p>
        </p:txBody>
      </p:sp>
      <p:sp>
        <p:nvSpPr>
          <p:cNvPr id="22" name="Text 20"/>
          <p:cNvSpPr/>
          <p:nvPr/>
        </p:nvSpPr>
        <p:spPr>
          <a:xfrm>
            <a:off x="914400" y="2944368"/>
            <a:ext cx="237744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Réservation &amp; contrat</a:t>
            </a:r>
            <a:endParaRPr lang="en-US" sz="1200" dirty="0"/>
          </a:p>
        </p:txBody>
      </p:sp>
      <p:sp>
        <p:nvSpPr>
          <p:cNvPr id="23" name="Text 21"/>
          <p:cNvSpPr/>
          <p:nvPr/>
        </p:nvSpPr>
        <p:spPr>
          <a:xfrm>
            <a:off x="3383280" y="2944368"/>
            <a:ext cx="548640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Contrat préliminaire, dépôt de garantie, délai de rétractation SRU 10 jours</a:t>
            </a:r>
            <a:endParaRPr lang="en-US" sz="1000" dirty="0"/>
          </a:p>
        </p:txBody>
      </p:sp>
      <p:sp>
        <p:nvSpPr>
          <p:cNvPr id="24" name="Shape 22"/>
          <p:cNvSpPr/>
          <p:nvPr/>
        </p:nvSpPr>
        <p:spPr>
          <a:xfrm>
            <a:off x="548640" y="3383280"/>
            <a:ext cx="36576" cy="91440"/>
          </a:xfrm>
          <a:prstGeom prst="rect">
            <a:avLst/>
          </a:prstGeom>
          <a:solidFill>
            <a:srgbClr val="CADCFC"/>
          </a:solidFill>
          <a:ln w="12700">
            <a:solidFill>
              <a:srgbClr val="CADCFC"/>
            </a:solidFill>
            <a:prstDash val="solid"/>
          </a:ln>
        </p:spPr>
        <p:txBody>
          <a:bodyPr/>
          <a:lstStyle/>
          <a:p>
            <a:endParaRPr lang="fr-FR"/>
          </a:p>
        </p:txBody>
      </p:sp>
      <p:sp>
        <p:nvSpPr>
          <p:cNvPr id="25" name="Shape 23"/>
          <p:cNvSpPr/>
          <p:nvPr/>
        </p:nvSpPr>
        <p:spPr>
          <a:xfrm>
            <a:off x="365760" y="3520440"/>
            <a:ext cx="411480" cy="411480"/>
          </a:xfrm>
          <a:prstGeom prst="ellipse">
            <a:avLst/>
          </a:prstGeom>
          <a:solidFill>
            <a:srgbClr val="1E2761"/>
          </a:solidFill>
          <a:ln w="12700">
            <a:solidFill>
              <a:srgbClr val="1E2761"/>
            </a:solidFill>
            <a:prstDash val="solid"/>
          </a:ln>
        </p:spPr>
        <p:txBody>
          <a:bodyPr/>
          <a:lstStyle/>
          <a:p>
            <a:endParaRPr lang="fr-FR"/>
          </a:p>
        </p:txBody>
      </p:sp>
      <p:sp>
        <p:nvSpPr>
          <p:cNvPr id="26" name="Text 24"/>
          <p:cNvSpPr/>
          <p:nvPr/>
        </p:nvSpPr>
        <p:spPr>
          <a:xfrm>
            <a:off x="365760" y="3520440"/>
            <a:ext cx="411480" cy="41148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4</a:t>
            </a:r>
            <a:endParaRPr lang="en-US" sz="1600" dirty="0"/>
          </a:p>
        </p:txBody>
      </p:sp>
      <p:sp>
        <p:nvSpPr>
          <p:cNvPr id="27" name="Text 25"/>
          <p:cNvSpPr/>
          <p:nvPr/>
        </p:nvSpPr>
        <p:spPr>
          <a:xfrm>
            <a:off x="914400" y="3493008"/>
            <a:ext cx="237744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Financement</a:t>
            </a:r>
            <a:endParaRPr lang="en-US" sz="1200" dirty="0"/>
          </a:p>
        </p:txBody>
      </p:sp>
      <p:sp>
        <p:nvSpPr>
          <p:cNvPr id="28" name="Text 26"/>
          <p:cNvSpPr/>
          <p:nvPr/>
        </p:nvSpPr>
        <p:spPr>
          <a:xfrm>
            <a:off x="3383280" y="3493008"/>
            <a:ext cx="548640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Mise en relation avec courtiers partenaires, simulateurs, accompagnement au montage du dossier bancaire</a:t>
            </a:r>
            <a:endParaRPr lang="en-US" sz="1000" dirty="0"/>
          </a:p>
        </p:txBody>
      </p:sp>
      <p:sp>
        <p:nvSpPr>
          <p:cNvPr id="29" name="Shape 27"/>
          <p:cNvSpPr/>
          <p:nvPr/>
        </p:nvSpPr>
        <p:spPr>
          <a:xfrm>
            <a:off x="548640" y="3931920"/>
            <a:ext cx="36576" cy="91440"/>
          </a:xfrm>
          <a:prstGeom prst="rect">
            <a:avLst/>
          </a:prstGeom>
          <a:solidFill>
            <a:srgbClr val="CADCFC"/>
          </a:solidFill>
          <a:ln w="12700">
            <a:solidFill>
              <a:srgbClr val="CADCFC"/>
            </a:solidFill>
            <a:prstDash val="solid"/>
          </a:ln>
        </p:spPr>
        <p:txBody>
          <a:bodyPr/>
          <a:lstStyle/>
          <a:p>
            <a:endParaRPr lang="fr-FR"/>
          </a:p>
        </p:txBody>
      </p:sp>
      <p:sp>
        <p:nvSpPr>
          <p:cNvPr id="30" name="Shape 28"/>
          <p:cNvSpPr/>
          <p:nvPr/>
        </p:nvSpPr>
        <p:spPr>
          <a:xfrm>
            <a:off x="365760" y="4069080"/>
            <a:ext cx="411480" cy="411480"/>
          </a:xfrm>
          <a:prstGeom prst="ellipse">
            <a:avLst/>
          </a:prstGeom>
          <a:solidFill>
            <a:srgbClr val="1E2761"/>
          </a:solidFill>
          <a:ln w="12700">
            <a:solidFill>
              <a:srgbClr val="1E2761"/>
            </a:solidFill>
            <a:prstDash val="solid"/>
          </a:ln>
        </p:spPr>
        <p:txBody>
          <a:bodyPr/>
          <a:lstStyle/>
          <a:p>
            <a:endParaRPr lang="fr-FR"/>
          </a:p>
        </p:txBody>
      </p:sp>
      <p:sp>
        <p:nvSpPr>
          <p:cNvPr id="31" name="Text 29"/>
          <p:cNvSpPr/>
          <p:nvPr/>
        </p:nvSpPr>
        <p:spPr>
          <a:xfrm>
            <a:off x="365760" y="4069080"/>
            <a:ext cx="411480" cy="41148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5</a:t>
            </a:r>
            <a:endParaRPr lang="en-US" sz="1600" dirty="0"/>
          </a:p>
        </p:txBody>
      </p:sp>
      <p:sp>
        <p:nvSpPr>
          <p:cNvPr id="32" name="Text 30"/>
          <p:cNvSpPr/>
          <p:nvPr/>
        </p:nvSpPr>
        <p:spPr>
          <a:xfrm>
            <a:off x="914400" y="4041648"/>
            <a:ext cx="2377440" cy="45720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Acte authentique</a:t>
            </a:r>
            <a:endParaRPr lang="en-US" sz="1200" dirty="0"/>
          </a:p>
        </p:txBody>
      </p:sp>
      <p:sp>
        <p:nvSpPr>
          <p:cNvPr id="33" name="Text 31"/>
          <p:cNvSpPr/>
          <p:nvPr/>
        </p:nvSpPr>
        <p:spPr>
          <a:xfrm>
            <a:off x="3383280" y="4041648"/>
            <a:ext cx="548640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Signature notariée, démarrage des appels de fonds échelonnés selon l'avancement du chantier (VEFA)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Phase 3 — Après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14 / 15</a:t>
            </a:r>
            <a:endParaRPr lang="en-US" sz="900" dirty="0"/>
          </a:p>
        </p:txBody>
      </p:sp>
      <p:sp>
        <p:nvSpPr>
          <p:cNvPr id="9" name="Text 7"/>
          <p:cNvSpPr/>
          <p:nvPr/>
        </p:nvSpPr>
        <p:spPr>
          <a:xfrm>
            <a:off x="365760" y="1417320"/>
            <a:ext cx="8595360" cy="292608"/>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Objectif : transformer le client </a:t>
            </a:r>
            <a:r>
              <a:rPr lang="en-US" sz="1200" i="1" dirty="0" err="1">
                <a:solidFill>
                  <a:srgbClr val="64748B"/>
                </a:solidFill>
                <a:latin typeface="Calibri" pitchFamily="34" charset="0"/>
                <a:ea typeface="Calibri" pitchFamily="34" charset="-122"/>
                <a:cs typeface="Calibri" pitchFamily="34" charset="-120"/>
              </a:rPr>
              <a:t>en</a:t>
            </a:r>
            <a:r>
              <a:rPr lang="en-US" sz="1200" i="1" dirty="0">
                <a:solidFill>
                  <a:srgbClr val="64748B"/>
                </a:solidFill>
                <a:latin typeface="Calibri" pitchFamily="34" charset="0"/>
                <a:ea typeface="Calibri" pitchFamily="34" charset="-122"/>
                <a:cs typeface="Calibri" pitchFamily="34" charset="-120"/>
              </a:rPr>
              <a:t> </a:t>
            </a:r>
            <a:r>
              <a:rPr lang="en-US" sz="1200" i="1" dirty="0" err="1">
                <a:solidFill>
                  <a:srgbClr val="64748B"/>
                </a:solidFill>
                <a:latin typeface="Calibri" pitchFamily="34" charset="0"/>
                <a:ea typeface="Calibri" pitchFamily="34" charset="-122"/>
                <a:cs typeface="Calibri" pitchFamily="34" charset="-120"/>
              </a:rPr>
              <a:t>ambassadeur</a:t>
            </a:r>
            <a:r>
              <a:rPr lang="en-US" sz="1200" i="1" dirty="0">
                <a:solidFill>
                  <a:srgbClr val="64748B"/>
                </a:solidFill>
                <a:latin typeface="Calibri" pitchFamily="34" charset="0"/>
                <a:ea typeface="Calibri" pitchFamily="34" charset="-122"/>
                <a:cs typeface="Calibri" pitchFamily="34" charset="-120"/>
              </a:rPr>
              <a:t>. Un </a:t>
            </a:r>
            <a:r>
              <a:rPr lang="en-US" sz="1200" i="1" dirty="0" err="1">
                <a:solidFill>
                  <a:srgbClr val="64748B"/>
                </a:solidFill>
                <a:latin typeface="Calibri" pitchFamily="34" charset="0"/>
                <a:ea typeface="Calibri" pitchFamily="34" charset="-122"/>
                <a:cs typeface="Calibri" pitchFamily="34" charset="-120"/>
              </a:rPr>
              <a:t>enjeu</a:t>
            </a:r>
            <a:r>
              <a:rPr lang="en-US" sz="1200" i="1" dirty="0">
                <a:solidFill>
                  <a:srgbClr val="64748B"/>
                </a:solidFill>
                <a:latin typeface="Calibri" pitchFamily="34" charset="0"/>
                <a:ea typeface="Calibri" pitchFamily="34" charset="-122"/>
                <a:cs typeface="Calibri" pitchFamily="34" charset="-120"/>
              </a:rPr>
              <a:t> central du marketing relationnel</a:t>
            </a:r>
            <a:endParaRPr lang="en-US" sz="1200" dirty="0"/>
          </a:p>
        </p:txBody>
      </p:sp>
      <p:sp>
        <p:nvSpPr>
          <p:cNvPr id="10" name="Text 8"/>
          <p:cNvSpPr/>
          <p:nvPr/>
        </p:nvSpPr>
        <p:spPr>
          <a:xfrm>
            <a:off x="365760" y="1783080"/>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Leviers déployés</a:t>
            </a:r>
            <a:endParaRPr lang="en-US" sz="1300" dirty="0"/>
          </a:p>
        </p:txBody>
      </p:sp>
      <p:sp>
        <p:nvSpPr>
          <p:cNvPr id="11" name="Shape 9"/>
          <p:cNvSpPr/>
          <p:nvPr/>
        </p:nvSpPr>
        <p:spPr>
          <a:xfrm>
            <a:off x="365760" y="2057400"/>
            <a:ext cx="365760" cy="27432"/>
          </a:xfrm>
          <a:prstGeom prst="rect">
            <a:avLst/>
          </a:prstGeom>
          <a:solidFill>
            <a:srgbClr val="C9A227"/>
          </a:solidFill>
          <a:ln/>
        </p:spPr>
        <p:txBody>
          <a:bodyPr/>
          <a:lstStyle/>
          <a:p>
            <a:endParaRPr lang="fr-FR"/>
          </a:p>
        </p:txBody>
      </p:sp>
      <p:sp>
        <p:nvSpPr>
          <p:cNvPr id="12" name="Text 10"/>
          <p:cNvSpPr/>
          <p:nvPr/>
        </p:nvSpPr>
        <p:spPr>
          <a:xfrm>
            <a:off x="365760" y="2148840"/>
            <a:ext cx="4846320" cy="2468880"/>
          </a:xfrm>
          <a:prstGeom prst="rect">
            <a:avLst/>
          </a:prstGeom>
          <a:noFill/>
          <a:ln/>
        </p:spPr>
        <p:txBody>
          <a:bodyPr wrap="square" lIns="0" tIns="0" rIns="0" bIns="0" rtlCol="0" anchor="ctr"/>
          <a:lstStyle/>
          <a:p>
            <a:pPr marL="0" indent="0">
              <a:spcAft>
                <a:spcPts val="400"/>
              </a:spcAft>
              <a:buNone/>
            </a:pPr>
            <a:r>
              <a:rPr lang="en-US" sz="1000" b="1" dirty="0">
                <a:solidFill>
                  <a:srgbClr val="1E2761"/>
                </a:solidFill>
                <a:latin typeface="Calibri" pitchFamily="34" charset="0"/>
                <a:ea typeface="Calibri" pitchFamily="34" charset="-122"/>
                <a:cs typeface="Calibri" pitchFamily="34" charset="-120"/>
              </a:rPr>
              <a:t>Livraison personnalisée</a:t>
            </a:r>
            <a:endParaRPr lang="en-US" sz="1000" dirty="0"/>
          </a:p>
          <a:p>
            <a:pPr marL="0" indent="0">
              <a:spcAft>
                <a:spcPts val="400"/>
              </a:spcAft>
              <a:buNone/>
            </a:pPr>
            <a:r>
              <a:rPr lang="en-US" sz="1000" dirty="0">
                <a:solidFill>
                  <a:srgbClr val="1F2937"/>
                </a:solidFill>
                <a:latin typeface="Calibri" pitchFamily="34" charset="0"/>
                <a:ea typeface="Calibri" pitchFamily="34" charset="-122"/>
                <a:cs typeface="Calibri" pitchFamily="34" charset="-120"/>
              </a:rPr>
              <a:t>Pré-livraison, visite de courtoisie, livret d'accueil de la résidence</a:t>
            </a:r>
            <a:endParaRPr lang="en-US" sz="1000" dirty="0"/>
          </a:p>
          <a:p>
            <a:pPr marL="0" indent="0">
              <a:spcAft>
                <a:spcPts val="400"/>
              </a:spcAft>
              <a:buNone/>
            </a:pPr>
            <a:r>
              <a:rPr lang="en-US" sz="1000" b="1" dirty="0">
                <a:solidFill>
                  <a:srgbClr val="1E2761"/>
                </a:solidFill>
                <a:latin typeface="Calibri" pitchFamily="34" charset="0"/>
                <a:ea typeface="Calibri" pitchFamily="34" charset="-122"/>
                <a:cs typeface="Calibri" pitchFamily="34" charset="-120"/>
              </a:rPr>
              <a:t>Garanties légales</a:t>
            </a:r>
            <a:endParaRPr lang="en-US" sz="1000" dirty="0"/>
          </a:p>
          <a:p>
            <a:pPr marL="0" indent="0">
              <a:spcAft>
                <a:spcPts val="400"/>
              </a:spcAft>
              <a:buNone/>
            </a:pPr>
            <a:r>
              <a:rPr lang="en-US" sz="1000" dirty="0">
                <a:solidFill>
                  <a:srgbClr val="1F2937"/>
                </a:solidFill>
                <a:latin typeface="Calibri" pitchFamily="34" charset="0"/>
                <a:ea typeface="Calibri" pitchFamily="34" charset="-122"/>
                <a:cs typeface="Calibri" pitchFamily="34" charset="-120"/>
              </a:rPr>
              <a:t>Parfait achèvement (1 an), biennale (2 ans), décennale (10 </a:t>
            </a:r>
            <a:r>
              <a:rPr lang="en-US" sz="1000" dirty="0" err="1">
                <a:solidFill>
                  <a:srgbClr val="1F2937"/>
                </a:solidFill>
                <a:latin typeface="Calibri" pitchFamily="34" charset="0"/>
                <a:ea typeface="Calibri" pitchFamily="34" charset="-122"/>
                <a:cs typeface="Calibri" pitchFamily="34" charset="-120"/>
              </a:rPr>
              <a:t>ans</a:t>
            </a:r>
            <a:r>
              <a:rPr lang="en-US" sz="1000" dirty="0">
                <a:solidFill>
                  <a:srgbClr val="1F2937"/>
                </a:solidFill>
                <a:latin typeface="Calibri" pitchFamily="34" charset="0"/>
                <a:ea typeface="Calibri" pitchFamily="34" charset="-122"/>
                <a:cs typeface="Calibri" pitchFamily="34" charset="-120"/>
              </a:rPr>
              <a:t>), </a:t>
            </a:r>
            <a:r>
              <a:rPr lang="en-US" sz="1000" dirty="0" err="1">
                <a:solidFill>
                  <a:srgbClr val="1F2937"/>
                </a:solidFill>
                <a:latin typeface="Calibri" pitchFamily="34" charset="0"/>
                <a:ea typeface="Calibri" pitchFamily="34" charset="-122"/>
                <a:cs typeface="Calibri" pitchFamily="34" charset="-120"/>
              </a:rPr>
              <a:t>suivi</a:t>
            </a:r>
            <a:r>
              <a:rPr lang="en-US" sz="1000" dirty="0">
                <a:solidFill>
                  <a:srgbClr val="1F2937"/>
                </a:solidFill>
                <a:latin typeface="Calibri" pitchFamily="34" charset="0"/>
                <a:ea typeface="Calibri" pitchFamily="34" charset="-122"/>
                <a:cs typeface="Calibri" pitchFamily="34" charset="-120"/>
              </a:rPr>
              <a:t> structuré</a:t>
            </a:r>
            <a:endParaRPr lang="en-US" sz="1000" dirty="0"/>
          </a:p>
          <a:p>
            <a:pPr marL="0" indent="0">
              <a:spcAft>
                <a:spcPts val="400"/>
              </a:spcAft>
              <a:buNone/>
            </a:pPr>
            <a:r>
              <a:rPr lang="en-US" sz="1000" b="1" dirty="0">
                <a:solidFill>
                  <a:srgbClr val="1E2761"/>
                </a:solidFill>
                <a:latin typeface="Calibri" pitchFamily="34" charset="0"/>
                <a:ea typeface="Calibri" pitchFamily="34" charset="-122"/>
                <a:cs typeface="Calibri" pitchFamily="34" charset="-120"/>
              </a:rPr>
              <a:t>Service Après-Vente dédié</a:t>
            </a:r>
            <a:endParaRPr lang="en-US" sz="1000" dirty="0"/>
          </a:p>
          <a:p>
            <a:pPr marL="0" indent="0">
              <a:spcAft>
                <a:spcPts val="400"/>
              </a:spcAft>
              <a:buNone/>
            </a:pPr>
            <a:r>
              <a:rPr lang="en-US" sz="1000" dirty="0">
                <a:solidFill>
                  <a:srgbClr val="1F2937"/>
                </a:solidFill>
                <a:latin typeface="Calibri" pitchFamily="34" charset="0"/>
                <a:ea typeface="Calibri" pitchFamily="34" charset="-122"/>
                <a:cs typeface="Calibri" pitchFamily="34" charset="-120"/>
              </a:rPr>
              <a:t>Plateforme client en ligne, application mobile pour signaler les réserves</a:t>
            </a:r>
            <a:endParaRPr lang="en-US" sz="1000" dirty="0"/>
          </a:p>
          <a:p>
            <a:pPr marL="0" indent="0">
              <a:spcAft>
                <a:spcPts val="400"/>
              </a:spcAft>
              <a:buNone/>
            </a:pPr>
            <a:r>
              <a:rPr lang="en-US" sz="1000" b="1" dirty="0">
                <a:solidFill>
                  <a:srgbClr val="1E2761"/>
                </a:solidFill>
                <a:latin typeface="Calibri" pitchFamily="34" charset="0"/>
                <a:ea typeface="Calibri" pitchFamily="34" charset="-122"/>
                <a:cs typeface="Calibri" pitchFamily="34" charset="-120"/>
              </a:rPr>
              <a:t>Programme de fidélisation</a:t>
            </a:r>
            <a:endParaRPr lang="en-US" sz="1000" dirty="0"/>
          </a:p>
          <a:p>
            <a:pPr marL="0" indent="0">
              <a:spcAft>
                <a:spcPts val="400"/>
              </a:spcAft>
              <a:buNone/>
            </a:pPr>
            <a:r>
              <a:rPr lang="en-US" sz="1000" dirty="0">
                <a:solidFill>
                  <a:srgbClr val="1F2937"/>
                </a:solidFill>
                <a:latin typeface="Calibri" pitchFamily="34" charset="0"/>
                <a:ea typeface="Calibri" pitchFamily="34" charset="-122"/>
                <a:cs typeface="Calibri" pitchFamily="34" charset="-120"/>
              </a:rPr>
              <a:t>Parrainage, offres préférentielles, invitations à des </a:t>
            </a:r>
            <a:r>
              <a:rPr lang="en-US" sz="1000" dirty="0" err="1">
                <a:solidFill>
                  <a:srgbClr val="1F2937"/>
                </a:solidFill>
                <a:latin typeface="Calibri" pitchFamily="34" charset="0"/>
                <a:ea typeface="Calibri" pitchFamily="34" charset="-122"/>
                <a:cs typeface="Calibri" pitchFamily="34" charset="-120"/>
              </a:rPr>
              <a:t>événements</a:t>
            </a:r>
            <a:endParaRPr lang="en-US" sz="1000" dirty="0"/>
          </a:p>
        </p:txBody>
      </p:sp>
      <p:sp>
        <p:nvSpPr>
          <p:cNvPr id="13" name="Shape 11"/>
          <p:cNvSpPr/>
          <p:nvPr/>
        </p:nvSpPr>
        <p:spPr>
          <a:xfrm>
            <a:off x="5486400" y="1783080"/>
            <a:ext cx="3383280" cy="2834640"/>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5623560" y="1874520"/>
            <a:ext cx="3108960" cy="292608"/>
          </a:xfrm>
          <a:prstGeom prst="rect">
            <a:avLst/>
          </a:prstGeom>
          <a:noFill/>
          <a:ln/>
        </p:spPr>
        <p:txBody>
          <a:bodyPr wrap="square" lIns="0" tIns="0" rIns="0" bIns="0" rtlCol="0" anchor="ctr"/>
          <a:lstStyle/>
          <a:p>
            <a:pPr marL="0" indent="0">
              <a:buNone/>
            </a:pPr>
            <a:r>
              <a:rPr lang="en-US" sz="1300" b="1" dirty="0">
                <a:solidFill>
                  <a:srgbClr val="C9A227"/>
                </a:solidFill>
                <a:latin typeface="Calibri" pitchFamily="34" charset="0"/>
                <a:ea typeface="Calibri" pitchFamily="34" charset="-122"/>
                <a:cs typeface="Calibri" pitchFamily="34" charset="-120"/>
              </a:rPr>
              <a:t>Indicateurs de la relation</a:t>
            </a:r>
            <a:endParaRPr lang="en-US" sz="1300" dirty="0"/>
          </a:p>
        </p:txBody>
      </p:sp>
      <p:sp>
        <p:nvSpPr>
          <p:cNvPr id="15" name="Shape 13"/>
          <p:cNvSpPr/>
          <p:nvPr/>
        </p:nvSpPr>
        <p:spPr>
          <a:xfrm>
            <a:off x="5623560" y="2194560"/>
            <a:ext cx="365760" cy="27432"/>
          </a:xfrm>
          <a:prstGeom prst="rect">
            <a:avLst/>
          </a:prstGeom>
          <a:solidFill>
            <a:srgbClr val="C9A227"/>
          </a:solidFill>
          <a:ln/>
        </p:spPr>
        <p:txBody>
          <a:bodyPr/>
          <a:lstStyle/>
          <a:p>
            <a:endParaRPr lang="fr-FR"/>
          </a:p>
        </p:txBody>
      </p:sp>
      <p:sp>
        <p:nvSpPr>
          <p:cNvPr id="16" name="Text 14"/>
          <p:cNvSpPr/>
          <p:nvPr/>
        </p:nvSpPr>
        <p:spPr>
          <a:xfrm>
            <a:off x="5623560" y="2331720"/>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NPS</a:t>
            </a:r>
            <a:endParaRPr lang="en-US" sz="1100" dirty="0"/>
          </a:p>
        </p:txBody>
      </p:sp>
      <p:sp>
        <p:nvSpPr>
          <p:cNvPr id="17" name="Text 15"/>
          <p:cNvSpPr/>
          <p:nvPr/>
        </p:nvSpPr>
        <p:spPr>
          <a:xfrm>
            <a:off x="7086600" y="2331720"/>
            <a:ext cx="1828800" cy="27432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mesure de la recommandation</a:t>
            </a:r>
            <a:endParaRPr lang="en-US" sz="900" dirty="0"/>
          </a:p>
        </p:txBody>
      </p:sp>
      <p:sp>
        <p:nvSpPr>
          <p:cNvPr id="18" name="Text 16"/>
          <p:cNvSpPr/>
          <p:nvPr/>
        </p:nvSpPr>
        <p:spPr>
          <a:xfrm>
            <a:off x="5623560" y="2770632"/>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Taux de réitération</a:t>
            </a:r>
            <a:endParaRPr lang="en-US" sz="1100" dirty="0"/>
          </a:p>
        </p:txBody>
      </p:sp>
      <p:sp>
        <p:nvSpPr>
          <p:cNvPr id="19" name="Text 17"/>
          <p:cNvSpPr/>
          <p:nvPr/>
        </p:nvSpPr>
        <p:spPr>
          <a:xfrm>
            <a:off x="7086600" y="2770632"/>
            <a:ext cx="1828800" cy="27432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clients revenant pour un 2ᵉ projet</a:t>
            </a:r>
            <a:endParaRPr lang="en-US" sz="900" dirty="0"/>
          </a:p>
        </p:txBody>
      </p:sp>
      <p:sp>
        <p:nvSpPr>
          <p:cNvPr id="20" name="Text 18"/>
          <p:cNvSpPr/>
          <p:nvPr/>
        </p:nvSpPr>
        <p:spPr>
          <a:xfrm>
            <a:off x="5623560" y="3209544"/>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Taux de réserves</a:t>
            </a:r>
            <a:endParaRPr lang="en-US" sz="1100" dirty="0"/>
          </a:p>
        </p:txBody>
      </p:sp>
      <p:sp>
        <p:nvSpPr>
          <p:cNvPr id="21" name="Text 19"/>
          <p:cNvSpPr/>
          <p:nvPr/>
        </p:nvSpPr>
        <p:spPr>
          <a:xfrm>
            <a:off x="7086600" y="3209544"/>
            <a:ext cx="1828800" cy="27432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qualité perçue à la livraison</a:t>
            </a:r>
            <a:endParaRPr lang="en-US" sz="900" dirty="0"/>
          </a:p>
        </p:txBody>
      </p:sp>
      <p:sp>
        <p:nvSpPr>
          <p:cNvPr id="22" name="Text 20"/>
          <p:cNvSpPr/>
          <p:nvPr/>
        </p:nvSpPr>
        <p:spPr>
          <a:xfrm>
            <a:off x="5623560" y="3648456"/>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LTV</a:t>
            </a:r>
            <a:endParaRPr lang="en-US" sz="1100" dirty="0"/>
          </a:p>
        </p:txBody>
      </p:sp>
      <p:sp>
        <p:nvSpPr>
          <p:cNvPr id="23" name="Text 21"/>
          <p:cNvSpPr/>
          <p:nvPr/>
        </p:nvSpPr>
        <p:spPr>
          <a:xfrm>
            <a:off x="7086600" y="3648456"/>
            <a:ext cx="1828800" cy="27432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valeur actualisée du client</a:t>
            </a:r>
            <a:endParaRPr lang="en-US" sz="900" dirty="0"/>
          </a:p>
        </p:txBody>
      </p:sp>
      <p:sp>
        <p:nvSpPr>
          <p:cNvPr id="24" name="Text 22"/>
          <p:cNvSpPr/>
          <p:nvPr/>
        </p:nvSpPr>
        <p:spPr>
          <a:xfrm>
            <a:off x="5623560" y="4087368"/>
            <a:ext cx="14630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Avis et e-réputation</a:t>
            </a:r>
            <a:endParaRPr lang="en-US" sz="1100" dirty="0"/>
          </a:p>
        </p:txBody>
      </p:sp>
      <p:sp>
        <p:nvSpPr>
          <p:cNvPr id="25" name="Text 23"/>
          <p:cNvSpPr/>
          <p:nvPr/>
        </p:nvSpPr>
        <p:spPr>
          <a:xfrm>
            <a:off x="7086600" y="4087368"/>
            <a:ext cx="1828800" cy="274320"/>
          </a:xfrm>
          <a:prstGeom prst="rect">
            <a:avLst/>
          </a:prstGeom>
          <a:noFill/>
          <a:ln/>
        </p:spPr>
        <p:txBody>
          <a:bodyPr wrap="square" lIns="0" tIns="0" rIns="0" bIns="0" rtlCol="0" anchor="ctr"/>
          <a:lstStyle/>
          <a:p>
            <a:pPr marL="0" indent="0">
              <a:buNone/>
            </a:pPr>
            <a:r>
              <a:rPr lang="en-US" sz="900" i="1" dirty="0">
                <a:solidFill>
                  <a:srgbClr val="CADCFC"/>
                </a:solidFill>
                <a:latin typeface="Calibri" pitchFamily="34" charset="0"/>
                <a:ea typeface="Calibri" pitchFamily="34" charset="-122"/>
                <a:cs typeface="Calibri" pitchFamily="34" charset="-120"/>
              </a:rPr>
              <a:t>Google, Trustpilot, forums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313294" y="658368"/>
            <a:ext cx="9452796" cy="640080"/>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Vers une expérience client immobilière augmentée</a:t>
            </a:r>
            <a:endParaRPr lang="en-US" sz="26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15 / 15</a:t>
            </a:r>
            <a:endParaRPr lang="en-US" sz="900" dirty="0"/>
          </a:p>
        </p:txBody>
      </p:sp>
      <p:sp>
        <p:nvSpPr>
          <p:cNvPr id="9" name="Text 7"/>
          <p:cNvSpPr/>
          <p:nvPr/>
        </p:nvSpPr>
        <p:spPr>
          <a:xfrm>
            <a:off x="365760" y="1508760"/>
            <a:ext cx="8595360" cy="82296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Le marketing immobilier </a:t>
            </a:r>
            <a:r>
              <a:rPr lang="en-US" sz="1200" dirty="0">
                <a:solidFill>
                  <a:srgbClr val="1F2937"/>
                </a:solidFill>
                <a:latin typeface="Calibri" pitchFamily="34" charset="0"/>
                <a:ea typeface="Calibri" pitchFamily="34" charset="-122"/>
                <a:cs typeface="Calibri" pitchFamily="34" charset="-120"/>
              </a:rPr>
              <a:t>ne se résume plus à la commercialisation d'un bien : il orchestre un </a:t>
            </a:r>
            <a:r>
              <a:rPr lang="en-US" sz="1200" b="1" dirty="0">
                <a:solidFill>
                  <a:srgbClr val="1E2761"/>
                </a:solidFill>
                <a:latin typeface="Calibri" pitchFamily="34" charset="0"/>
                <a:ea typeface="Calibri" pitchFamily="34" charset="-122"/>
                <a:cs typeface="Calibri" pitchFamily="34" charset="-120"/>
              </a:rPr>
              <a:t>écosystème de services</a:t>
            </a:r>
            <a:r>
              <a:rPr lang="en-US" sz="1200" dirty="0">
                <a:solidFill>
                  <a:srgbClr val="1F2937"/>
                </a:solidFill>
                <a:latin typeface="Calibri" pitchFamily="34" charset="0"/>
                <a:ea typeface="Calibri" pitchFamily="34" charset="-122"/>
                <a:cs typeface="Calibri" pitchFamily="34" charset="-120"/>
              </a:rPr>
              <a:t> (les 7P) au sein d'un </a:t>
            </a:r>
            <a:r>
              <a:rPr lang="en-US" sz="1200" dirty="0" err="1">
                <a:solidFill>
                  <a:srgbClr val="1F2937"/>
                </a:solidFill>
                <a:latin typeface="Calibri" pitchFamily="34" charset="0"/>
                <a:ea typeface="Calibri" pitchFamily="34" charset="-122"/>
                <a:cs typeface="Calibri" pitchFamily="34" charset="-120"/>
              </a:rPr>
              <a:t>parcours</a:t>
            </a:r>
            <a:r>
              <a:rPr lang="en-US" sz="1200" dirty="0">
                <a:solidFill>
                  <a:srgbClr val="1F2937"/>
                </a:solidFill>
                <a:latin typeface="Calibri" pitchFamily="34" charset="0"/>
                <a:ea typeface="Calibri" pitchFamily="34" charset="-122"/>
                <a:cs typeface="Calibri" pitchFamily="34" charset="-120"/>
              </a:rPr>
              <a:t> long </a:t>
            </a:r>
            <a:r>
              <a:rPr lang="en-US" sz="1200" dirty="0" err="1">
                <a:solidFill>
                  <a:srgbClr val="1F2937"/>
                </a:solidFill>
                <a:latin typeface="Calibri" pitchFamily="34" charset="0"/>
                <a:ea typeface="Calibri" pitchFamily="34" charset="-122"/>
                <a:cs typeface="Calibri" pitchFamily="34" charset="-120"/>
              </a:rPr>
              <a:t>où</a:t>
            </a:r>
            <a:r>
              <a:rPr lang="en-US" sz="1200" dirty="0">
                <a:solidFill>
                  <a:srgbClr val="1F2937"/>
                </a:solidFill>
                <a:latin typeface="Calibri" pitchFamily="34" charset="0"/>
                <a:ea typeface="Calibri" pitchFamily="34" charset="-122"/>
                <a:cs typeface="Calibri" pitchFamily="34" charset="-120"/>
              </a:rPr>
              <a:t> la GRC devient l'arme stratégique pour transformer une transaction en relation de confiance.</a:t>
            </a:r>
            <a:endParaRPr lang="en-US" sz="1200" dirty="0"/>
          </a:p>
        </p:txBody>
      </p:sp>
      <p:sp>
        <p:nvSpPr>
          <p:cNvPr id="10" name="Shape 8"/>
          <p:cNvSpPr/>
          <p:nvPr/>
        </p:nvSpPr>
        <p:spPr>
          <a:xfrm>
            <a:off x="36576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146304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12" name="Text 10"/>
          <p:cNvSpPr/>
          <p:nvPr/>
        </p:nvSpPr>
        <p:spPr>
          <a:xfrm>
            <a:off x="1463040" y="2697480"/>
            <a:ext cx="548640" cy="54864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1</a:t>
            </a:r>
            <a:endParaRPr lang="en-US" sz="1600" dirty="0"/>
          </a:p>
        </p:txBody>
      </p:sp>
      <p:sp>
        <p:nvSpPr>
          <p:cNvPr id="13" name="Text 11"/>
          <p:cNvSpPr/>
          <p:nvPr/>
        </p:nvSpPr>
        <p:spPr>
          <a:xfrm>
            <a:off x="502920" y="3291840"/>
            <a:ext cx="2468880" cy="29260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Cohérence</a:t>
            </a:r>
            <a:endParaRPr lang="en-US" sz="1300" dirty="0"/>
          </a:p>
        </p:txBody>
      </p:sp>
      <p:sp>
        <p:nvSpPr>
          <p:cNvPr id="14" name="Text 12"/>
          <p:cNvSpPr/>
          <p:nvPr/>
        </p:nvSpPr>
        <p:spPr>
          <a:xfrm>
            <a:off x="548640" y="3584448"/>
            <a:ext cx="2377440" cy="502920"/>
          </a:xfrm>
          <a:prstGeom prst="rect">
            <a:avLst/>
          </a:prstGeom>
          <a:noFill/>
          <a:ln/>
        </p:spPr>
        <p:txBody>
          <a:bodyPr wrap="square" lIns="0" tIns="0" rIns="0" bIns="0" rtlCol="0" anchor="ctr"/>
          <a:lstStyle/>
          <a:p>
            <a:pPr marL="0" indent="0" algn="ctr">
              <a:buNone/>
            </a:pPr>
            <a:r>
              <a:rPr lang="en-US" sz="1000" dirty="0">
                <a:solidFill>
                  <a:srgbClr val="1F2937"/>
                </a:solidFill>
                <a:latin typeface="Calibri" pitchFamily="34" charset="0"/>
                <a:ea typeface="Calibri" pitchFamily="34" charset="-122"/>
                <a:cs typeface="Calibri" pitchFamily="34" charset="-120"/>
              </a:rPr>
              <a:t>Aligner les 7P sur la promesse de marque et la cible</a:t>
            </a:r>
            <a:endParaRPr lang="en-US" sz="1000" dirty="0"/>
          </a:p>
        </p:txBody>
      </p:sp>
      <p:sp>
        <p:nvSpPr>
          <p:cNvPr id="15" name="Shape 13"/>
          <p:cNvSpPr/>
          <p:nvPr/>
        </p:nvSpPr>
        <p:spPr>
          <a:xfrm>
            <a:off x="329184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38912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17" name="Text 15"/>
          <p:cNvSpPr/>
          <p:nvPr/>
        </p:nvSpPr>
        <p:spPr>
          <a:xfrm>
            <a:off x="4389120" y="2697480"/>
            <a:ext cx="548640" cy="54864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2</a:t>
            </a:r>
            <a:endParaRPr lang="en-US" sz="1600" dirty="0"/>
          </a:p>
        </p:txBody>
      </p:sp>
      <p:sp>
        <p:nvSpPr>
          <p:cNvPr id="18" name="Text 16"/>
          <p:cNvSpPr/>
          <p:nvPr/>
        </p:nvSpPr>
        <p:spPr>
          <a:xfrm>
            <a:off x="3429000" y="3291840"/>
            <a:ext cx="2468880" cy="29260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Personnalisation</a:t>
            </a:r>
            <a:endParaRPr lang="en-US" sz="1300" dirty="0"/>
          </a:p>
        </p:txBody>
      </p:sp>
      <p:sp>
        <p:nvSpPr>
          <p:cNvPr id="19" name="Text 17"/>
          <p:cNvSpPr/>
          <p:nvPr/>
        </p:nvSpPr>
        <p:spPr>
          <a:xfrm>
            <a:off x="3474720" y="3584448"/>
            <a:ext cx="2377440" cy="502920"/>
          </a:xfrm>
          <a:prstGeom prst="rect">
            <a:avLst/>
          </a:prstGeom>
          <a:noFill/>
          <a:ln/>
        </p:spPr>
        <p:txBody>
          <a:bodyPr wrap="square" lIns="0" tIns="0" rIns="0" bIns="0" rtlCol="0" anchor="ctr"/>
          <a:lstStyle/>
          <a:p>
            <a:pPr marL="0" indent="0" algn="ctr">
              <a:buNone/>
            </a:pPr>
            <a:r>
              <a:rPr lang="en-US" sz="1000" dirty="0">
                <a:solidFill>
                  <a:srgbClr val="1F2937"/>
                </a:solidFill>
                <a:latin typeface="Calibri" pitchFamily="34" charset="0"/>
                <a:ea typeface="Calibri" pitchFamily="34" charset="-122"/>
                <a:cs typeface="Calibri" pitchFamily="34" charset="-120"/>
              </a:rPr>
              <a:t>Exploiter la donnée pour un parcours client </a:t>
            </a:r>
            <a:r>
              <a:rPr lang="en-US" sz="1000" dirty="0" err="1">
                <a:solidFill>
                  <a:srgbClr val="1F2937"/>
                </a:solidFill>
                <a:latin typeface="Calibri" pitchFamily="34" charset="0"/>
                <a:ea typeface="Calibri" pitchFamily="34" charset="-122"/>
                <a:cs typeface="Calibri" pitchFamily="34" charset="-120"/>
              </a:rPr>
              <a:t>personnalisé</a:t>
            </a:r>
            <a:endParaRPr lang="en-US" sz="1000" dirty="0"/>
          </a:p>
        </p:txBody>
      </p:sp>
      <p:sp>
        <p:nvSpPr>
          <p:cNvPr id="20" name="Shape 18"/>
          <p:cNvSpPr/>
          <p:nvPr/>
        </p:nvSpPr>
        <p:spPr>
          <a:xfrm>
            <a:off x="621792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21" name="Shape 19"/>
          <p:cNvSpPr/>
          <p:nvPr/>
        </p:nvSpPr>
        <p:spPr>
          <a:xfrm>
            <a:off x="731520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22" name="Text 20"/>
          <p:cNvSpPr/>
          <p:nvPr/>
        </p:nvSpPr>
        <p:spPr>
          <a:xfrm>
            <a:off x="7315200" y="2697480"/>
            <a:ext cx="548640" cy="548640"/>
          </a:xfrm>
          <a:prstGeom prst="rect">
            <a:avLst/>
          </a:prstGeom>
          <a:noFill/>
          <a:ln/>
        </p:spPr>
        <p:txBody>
          <a:bodyPr wrap="square" lIns="0" tIns="0" rIns="0" bIns="0" rtlCol="0" anchor="ctr"/>
          <a:lstStyle/>
          <a:p>
            <a:pPr marL="0" indent="0" algn="ctr">
              <a:buNone/>
            </a:pPr>
            <a:r>
              <a:rPr lang="en-US" sz="1600" b="1" dirty="0">
                <a:solidFill>
                  <a:srgbClr val="C9A227"/>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6355080" y="3291840"/>
            <a:ext cx="2468880" cy="29260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Fidélisation</a:t>
            </a:r>
            <a:endParaRPr lang="en-US" sz="1300" dirty="0"/>
          </a:p>
        </p:txBody>
      </p:sp>
      <p:sp>
        <p:nvSpPr>
          <p:cNvPr id="24" name="Text 22"/>
          <p:cNvSpPr/>
          <p:nvPr/>
        </p:nvSpPr>
        <p:spPr>
          <a:xfrm>
            <a:off x="6400800" y="3584448"/>
            <a:ext cx="2377440" cy="502920"/>
          </a:xfrm>
          <a:prstGeom prst="rect">
            <a:avLst/>
          </a:prstGeom>
          <a:noFill/>
          <a:ln/>
        </p:spPr>
        <p:txBody>
          <a:bodyPr wrap="square" lIns="0" tIns="0" rIns="0" bIns="0" rtlCol="0" anchor="ctr"/>
          <a:lstStyle/>
          <a:p>
            <a:pPr marL="0" indent="0" algn="ctr">
              <a:buNone/>
            </a:pPr>
            <a:r>
              <a:rPr lang="en-US" sz="1000" dirty="0" err="1">
                <a:solidFill>
                  <a:srgbClr val="1F2937"/>
                </a:solidFill>
                <a:latin typeface="Calibri" pitchFamily="34" charset="0"/>
                <a:ea typeface="Calibri" pitchFamily="34" charset="-122"/>
                <a:cs typeface="Calibri" pitchFamily="34" charset="-120"/>
              </a:rPr>
              <a:t>Investir</a:t>
            </a:r>
            <a:r>
              <a:rPr lang="en-US" sz="1000" dirty="0">
                <a:solidFill>
                  <a:srgbClr val="1F2937"/>
                </a:solidFill>
                <a:latin typeface="Calibri" pitchFamily="34" charset="0"/>
                <a:ea typeface="Calibri" pitchFamily="34" charset="-122"/>
                <a:cs typeface="Calibri" pitchFamily="34" charset="-120"/>
              </a:rPr>
              <a:t> </a:t>
            </a:r>
            <a:r>
              <a:rPr lang="en-US" sz="1000" dirty="0" err="1">
                <a:solidFill>
                  <a:srgbClr val="1F2937"/>
                </a:solidFill>
                <a:latin typeface="Calibri" pitchFamily="34" charset="0"/>
                <a:ea typeface="Calibri" pitchFamily="34" charset="-122"/>
                <a:cs typeface="Calibri" pitchFamily="34" charset="-120"/>
              </a:rPr>
              <a:t>l'après</a:t>
            </a:r>
            <a:r>
              <a:rPr lang="en-US" sz="1000" dirty="0">
                <a:solidFill>
                  <a:srgbClr val="1F2937"/>
                </a:solidFill>
                <a:latin typeface="Calibri" pitchFamily="34" charset="0"/>
                <a:ea typeface="Calibri" pitchFamily="34" charset="-122"/>
                <a:cs typeface="Calibri" pitchFamily="34" charset="-120"/>
              </a:rPr>
              <a:t>-vente, le client d'aujourd'hui est le prescripteur de demain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1498</Words>
  <Application>Microsoft Office PowerPoint</Application>
  <PresentationFormat>Affichage à l'écran (16:9)</PresentationFormat>
  <Paragraphs>223</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de l'Immobilier - Team Work D2</dc:title>
  <dc:subject>PptxGenJS Presentation</dc:subject>
  <dc:creator>Groupe DSI 1 - ESPI</dc:creator>
  <cp:lastModifiedBy>Matisse LEBRETON</cp:lastModifiedBy>
  <cp:revision>7</cp:revision>
  <dcterms:created xsi:type="dcterms:W3CDTF">2026-04-08T08:24:09Z</dcterms:created>
  <dcterms:modified xsi:type="dcterms:W3CDTF">2026-04-08T09:32:57Z</dcterms:modified>
</cp:coreProperties>
</file>