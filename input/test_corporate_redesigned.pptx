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0"/>
            <a:ext cx="6858000" cy="0"/>
          </a:xfrm>
        </p:spPr>
        <p:txBody>
          <a:bodyPr wrap="square"/>
          <a:lstStyle/>
          <a:p>
            <a:pPr algn="l"/>
            <a:r>
              <a:rPr sz="4400" b="1" u="none">
                <a:solidFill>
                  <a:srgbClr val="1C2B3A"/>
                </a:solidFill>
                <a:latin typeface="Georgia"/>
              </a:rPr>
              <a:t>Stratégie Q3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/>
          </a:p>
        </p:txBody>
      </p:sp>
    </p:spTree>
  </p:cSld>
  <p:clrMapOvr>
    <a:masterClrMapping/>
  </p:clrMapOvr>
  <p:transition spd="med" dur="406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200" b="1" u="none">
                <a:solidFill>
                  <a:srgbClr val="1C2B3A"/>
                </a:solidFill>
                <a:latin typeface="Georgia"/>
              </a:rPr>
              <a:t>KPI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sz="2000" b="0" u="none">
                <a:solidFill>
                  <a:srgbClr val="1C2B3A"/>
                </a:solidFill>
                <a:latin typeface="Trebuchet MS"/>
              </a:rPr>
              <a:t>— Chiffre d'affaires +15%</a:t>
            </a:r>
          </a:p>
          <a:p>
            <a:pPr algn="ctr"/>
            <a:r>
              <a:rPr sz="2000" b="0" u="none">
                <a:solidFill>
                  <a:srgbClr val="1C2B3A"/>
                </a:solidFill>
                <a:latin typeface="Trebuchet MS"/>
              </a:rPr>
              <a:t>— ROI amélioré</a:t>
            </a:r>
          </a:p>
          <a:p>
            <a:pPr algn="ctr"/>
            <a:r>
              <a:rPr sz="2000" b="0" u="none">
                <a:solidFill>
                  <a:srgbClr val="1C2B3A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9822" y="107221"/>
            <a:ext cx="1620029" cy="36576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u="none">
                <a:solidFill>
                  <a:srgbClr val="1C2B3A"/>
                </a:solidFill>
                <a:latin typeface="Georgia"/>
              </a:rP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476" y="89961"/>
            <a:ext cx="2742428" cy="36576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 u="none">
                <a:solidFill>
                  <a:srgbClr val="1C2B3A"/>
                </a:solidFill>
                <a:latin typeface="Georgia"/>
              </a:rP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— Phase 1 : Q1</a:t>
            </a:r>
          </a:p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— Phase 2 : Q2</a:t>
            </a:r>
          </a:p>
          <a:p>
            <a:pPr algn="l"/>
            <a:r>
              <a:rPr sz="2000" b="0" u="none">
                <a:solidFill>
                  <a:srgbClr val="1C2B3A"/>
                </a:solidFill>
                <a:latin typeface="Trebuchet MS"/>
              </a:rPr>
              <a:t>— Phase 3 : Q3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293" y="135960"/>
            <a:ext cx="2145983" cy="36576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465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3600" b="1" u="none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</a:p>
        </p:txBody>
      </p:sp>
    </p:spTree>
  </p:cSld>
  <p:clrMapOvr>
    <a:masterClrMapping/>
  </p:clrMapOvr>
  <p:transition spd="med" dur="629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