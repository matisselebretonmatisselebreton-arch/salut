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92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4" name="Oval 3"/>
          <p:cNvSpPr/>
          <p:nvPr/>
        </p:nvSpPr>
        <p:spPr>
          <a:xfrm>
            <a:off x="-548640" y="4937760"/>
            <a:ext cx="2194560" cy="2194560"/>
          </a:xfrm>
          <a:prstGeom prst="ellipse">
            <a:avLst/>
          </a:prstGeom>
          <a:solidFill>
            <a:srgbClr val="D4893A">
              <a:alpha val="3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6583680" y="3086100"/>
            <a:ext cx="4457700" cy="4457700"/>
          </a:xfrm>
          <a:prstGeom prst="ellipse">
            <a:avLst/>
          </a:prstGeom>
          <a:solidFill>
            <a:srgbClr val="8AABB5">
              <a:alpha val="2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Oval 1"/>
          <p:cNvSpPr/>
          <p:nvPr/>
        </p:nvSpPr>
        <p:spPr>
          <a:xfrm>
            <a:off x="5669280" y="-1028700"/>
            <a:ext cx="6515100" cy="6515100"/>
          </a:xfrm>
          <a:prstGeom prst="ellipse">
            <a:avLst/>
          </a:prstGeom>
          <a:solidFill>
            <a:srgbClr val="D4893A">
              <a:alpha val="1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85800" y="3154680"/>
            <a:ext cx="5029200" cy="55000"/>
          </a:xfrm>
          <a:prstGeom prst="rect">
            <a:avLst/>
          </a:prstGeom>
          <a:solidFill>
            <a:srgbClr val="D489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3234680"/>
            <a:ext cx="594360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5200" b="1" i="0">
                <a:solidFill>
                  <a:srgbClr val="D4893A"/>
                </a:solidFill>
                <a:latin typeface="Georgia"/>
              </a:rPr>
              <a:t>Stratégie Q3 2025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693408"/>
            <a:ext cx="9144000" cy="164592"/>
          </a:xfrm>
          <a:prstGeom prst="rect">
            <a:avLst/>
          </a:prstGeom>
          <a:solidFill>
            <a:srgbClr val="8AABB5">
              <a:alpha val="7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spd="med" dur="457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DEAE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0" y="548640"/>
            <a:ext cx="219456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500" b="1" i="0">
                <a:solidFill>
                  <a:srgbClr val="E2E3E4"/>
                </a:solidFill>
                <a:latin typeface="Georgia"/>
              </a:rPr>
              <a:t>01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82296" cy="6858000"/>
          </a:xfrm>
          <a:prstGeom prst="rect">
            <a:avLst/>
          </a:prstGeom>
          <a:solidFill>
            <a:srgbClr val="D489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502920"/>
            <a:ext cx="62179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0F1923"/>
                </a:solidFill>
                <a:latin typeface="Georgia"/>
              </a:rPr>
              <a:t>KPI Revenue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554480"/>
            <a:ext cx="1645920" cy="50000"/>
          </a:xfrm>
          <a:prstGeom prst="rect">
            <a:avLst/>
          </a:prstGeom>
          <a:solidFill>
            <a:srgbClr val="D489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377440" y="1554480"/>
            <a:ext cx="6080760" cy="50000"/>
          </a:xfrm>
          <a:prstGeom prst="rect">
            <a:avLst/>
          </a:prstGeom>
          <a:solidFill>
            <a:srgbClr val="D3D5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920240"/>
            <a:ext cx="7589520" cy="4434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</a:pPr>
            <a:r>
              <a:rPr sz="1800" b="0">
                <a:solidFill>
                  <a:srgbClr val="0F1923"/>
                </a:solidFill>
                <a:latin typeface="Trebuchet MS"/>
              </a:rPr>
              <a:t>— Chiffre d'affaires +15%</a:t>
            </a:r>
          </a:p>
          <a:p>
            <a:pPr algn="l">
              <a:spcBef>
                <a:spcPts val="900"/>
              </a:spcBef>
            </a:pPr>
            <a:r>
              <a:rPr sz="1800" b="0">
                <a:solidFill>
                  <a:srgbClr val="0F1923"/>
                </a:solidFill>
                <a:latin typeface="Trebuchet MS"/>
              </a:rPr>
              <a:t>— ROI amélioré</a:t>
            </a:r>
          </a:p>
          <a:p>
            <a:pPr algn="l">
              <a:spcBef>
                <a:spcPts val="900"/>
              </a:spcBef>
            </a:pPr>
            <a:r>
              <a:rPr sz="1800" b="0">
                <a:solidFill>
                  <a:srgbClr val="0F1923"/>
                </a:solidFill>
                <a:latin typeface="Trebuchet MS"/>
              </a:rPr>
              <a:t>— Budget optimisé</a:t>
            </a:r>
          </a:p>
        </p:txBody>
      </p:sp>
      <p:sp>
        <p:nvSpPr>
          <p:cNvPr id="8" name="Oval 7"/>
          <p:cNvSpPr/>
          <p:nvPr/>
        </p:nvSpPr>
        <p:spPr>
          <a:xfrm>
            <a:off x="8293608" y="6190488"/>
            <a:ext cx="164592" cy="164592"/>
          </a:xfrm>
          <a:prstGeom prst="ellipse">
            <a:avLst/>
          </a:prstGeom>
          <a:solidFill>
            <a:srgbClr val="D489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spd="med" dur="547">
    <p:fade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6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0" y="548640"/>
            <a:ext cx="219456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500" b="1" i="0">
                <a:solidFill>
                  <a:srgbClr val="E2E3E4"/>
                </a:solidFill>
                <a:latin typeface="Georgia"/>
              </a:rPr>
              <a:t>02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82296" cy="6858000"/>
          </a:xfrm>
          <a:prstGeom prst="rect">
            <a:avLst/>
          </a:prstGeom>
          <a:solidFill>
            <a:srgbClr val="D489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502920"/>
            <a:ext cx="62179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0F1923"/>
                </a:solidFill>
                <a:latin typeface="Georgia"/>
              </a:rPr>
              <a:t>Market Analysis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554480"/>
            <a:ext cx="1645920" cy="50000"/>
          </a:xfrm>
          <a:prstGeom prst="rect">
            <a:avLst/>
          </a:prstGeom>
          <a:solidFill>
            <a:srgbClr val="D489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377440" y="1554480"/>
            <a:ext cx="6080760" cy="50000"/>
          </a:xfrm>
          <a:prstGeom prst="rect">
            <a:avLst/>
          </a:prstGeom>
          <a:solidFill>
            <a:srgbClr val="D3D5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920240"/>
            <a:ext cx="7589520" cy="4434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</a:pPr>
            <a:r>
              <a:rPr sz="1800" b="0">
                <a:solidFill>
                  <a:srgbClr val="0F1923"/>
                </a:solidFill>
                <a:latin typeface="Trebuchet MS"/>
              </a:rPr>
              <a:t>Croissance du marché observée sur les 3 derniers trimestres.</a:t>
            </a:r>
          </a:p>
        </p:txBody>
      </p:sp>
      <p:sp>
        <p:nvSpPr>
          <p:cNvPr id="8" name="Oval 7"/>
          <p:cNvSpPr/>
          <p:nvPr/>
        </p:nvSpPr>
        <p:spPr>
          <a:xfrm>
            <a:off x="8293608" y="6190488"/>
            <a:ext cx="164592" cy="164592"/>
          </a:xfrm>
          <a:prstGeom prst="ellipse">
            <a:avLst/>
          </a:prstGeom>
          <a:solidFill>
            <a:srgbClr val="D489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spd="med" dur="428">
    <p:fade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92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4" name="Oval 3"/>
          <p:cNvSpPr/>
          <p:nvPr/>
        </p:nvSpPr>
        <p:spPr>
          <a:xfrm>
            <a:off x="365760" y="4251960"/>
            <a:ext cx="2560320" cy="2560320"/>
          </a:xfrm>
          <a:prstGeom prst="ellipse">
            <a:avLst/>
          </a:prstGeom>
          <a:solidFill>
            <a:srgbClr val="FFFFFF">
              <a:alpha val="1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914400" y="-914400"/>
            <a:ext cx="4114800" cy="4114800"/>
          </a:xfrm>
          <a:prstGeom prst="ellipse">
            <a:avLst/>
          </a:prstGeom>
          <a:solidFill>
            <a:srgbClr val="FFFFFF">
              <a:alpha val="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Rectangle 1"/>
          <p:cNvSpPr/>
          <p:nvPr/>
        </p:nvSpPr>
        <p:spPr>
          <a:xfrm>
            <a:off x="0" y="0"/>
            <a:ext cx="3840480" cy="6858000"/>
          </a:xfrm>
          <a:prstGeom prst="rect">
            <a:avLst/>
          </a:prstGeom>
          <a:solidFill>
            <a:srgbClr val="D489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1234440"/>
            <a:ext cx="347472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0" b="1" i="0">
                <a:solidFill>
                  <a:srgbClr val="FFFFFF"/>
                </a:solidFill>
                <a:latin typeface="Georgia"/>
              </a:rPr>
              <a:t>01</a:t>
            </a:r>
          </a:p>
        </p:txBody>
      </p:sp>
      <p:sp>
        <p:nvSpPr>
          <p:cNvPr id="6" name="Rectangle 5"/>
          <p:cNvSpPr/>
          <p:nvPr/>
        </p:nvSpPr>
        <p:spPr>
          <a:xfrm>
            <a:off x="3840480" y="1028700"/>
            <a:ext cx="55000" cy="4800600"/>
          </a:xfrm>
          <a:prstGeom prst="rect">
            <a:avLst/>
          </a:prstGeom>
          <a:solidFill>
            <a:srgbClr val="FFFFFF">
              <a:alpha val="2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023360" y="2057400"/>
            <a:ext cx="45720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800" b="1" i="0">
                <a:solidFill>
                  <a:srgbClr val="D4893A"/>
                </a:solidFill>
                <a:latin typeface="Georgia"/>
              </a:rPr>
              <a:t>Roadmap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023360" y="4663440"/>
            <a:ext cx="4572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1">
                <a:solidFill>
                  <a:srgbClr val="93979C"/>
                </a:solidFill>
                <a:latin typeface="Trebuchet MS"/>
              </a:rPr>
              <a:t>• Phase 1 : Q1</a:t>
            </a:r>
          </a:p>
        </p:txBody>
      </p:sp>
    </p:spTree>
  </p:cSld>
  <p:clrMapOvr>
    <a:masterClrMapping/>
  </p:clrMapOvr>
  <p:transition spd="med" dur="487">
    <p:fade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92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Oval 2"/>
          <p:cNvSpPr/>
          <p:nvPr/>
        </p:nvSpPr>
        <p:spPr>
          <a:xfrm>
            <a:off x="2743200" y="1371600"/>
            <a:ext cx="4800600" cy="4800600"/>
          </a:xfrm>
          <a:prstGeom prst="ellipse">
            <a:avLst/>
          </a:prstGeom>
          <a:solidFill>
            <a:srgbClr val="8AABB5">
              <a:alpha val="14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Oval 1"/>
          <p:cNvSpPr/>
          <p:nvPr/>
        </p:nvSpPr>
        <p:spPr>
          <a:xfrm>
            <a:off x="457200" y="-685800"/>
            <a:ext cx="8229600" cy="8229600"/>
          </a:xfrm>
          <a:prstGeom prst="ellipse">
            <a:avLst/>
          </a:prstGeom>
          <a:solidFill>
            <a:srgbClr val="D4893A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371600" y="3017520"/>
            <a:ext cx="6400800" cy="60000"/>
          </a:xfrm>
          <a:prstGeom prst="rect">
            <a:avLst/>
          </a:prstGeom>
          <a:solidFill>
            <a:srgbClr val="D489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3107520"/>
            <a:ext cx="694944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5400" b="1" i="0">
                <a:solidFill>
                  <a:srgbClr val="D4893A"/>
                </a:solidFill>
                <a:latin typeface="Georgia"/>
              </a:rPr>
              <a:t>Merci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748272"/>
            <a:ext cx="9144000" cy="109728"/>
          </a:xfrm>
          <a:prstGeom prst="rect">
            <a:avLst/>
          </a:prstGeom>
          <a:solidFill>
            <a:srgbClr val="8AABB5">
              <a:alpha val="8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spd="med" dur="498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