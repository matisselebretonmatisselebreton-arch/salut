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0"/>
            <a:ext cx="6858000" cy="0"/>
          </a:xfrm>
        </p:spPr>
        <p:txBody>
          <a:bodyPr wrap="square"/>
          <a:lstStyle/>
          <a:p>
            <a:pPr algn="l"/>
            <a:r>
              <a:rPr sz="4400" b="1" u="none">
                <a:solidFill>
                  <a:srgbClr val="1C2B3A"/>
                </a:solidFill>
                <a:latin typeface="Georgia"/>
              </a:rPr>
              <a:t>Stratégie Q3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10" fill="hold" presetID="10" presetClass="entr" presetSubtype="0" dur="700" nodeType="clickEffect">
                <p:stCondLst>
                  <p:cond evt="onClick" delay="0"/>
                </p:stCondLst>
                <p:childTnLst/>
              </p:cTn>
            </p:par>
            <p:par>
              <p:cTn id="11" fill="hold" presetID="10" presetClass="entr" presetSubtype="0" dur="600" nodeType="clickEffect">
                <p:stCondLst>
                  <p:cond delay="200"/>
                </p:stCondLst>
                <p:childTnLst/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 u="none">
                <a:solidFill>
                  <a:srgbClr val="1C2B3A"/>
                </a:solidFill>
                <a:latin typeface="Georgia"/>
              </a:rPr>
              <a:t>KPI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Chiffre d'affaires +15%</a:t>
            </a:r>
          </a:p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ROI amélioré</a:t>
            </a:r>
          </a:p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Budget optimisé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399" y="111625"/>
            <a:ext cx="3023321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10" fill="hold" presetID="10" presetClass="entr" presetSubtype="0" dur="600" nodeType="clickEffect">
                <p:stCondLst>
                  <p:cond evt="onClick" delay="0"/>
                </p:stCondLst>
                <p:childTnLst/>
              </p:cTn>
            </p:par>
            <p:par>
              <p:cTn id="11" fill="hold" presetID="10" presetClass="entr" presetSubtype="0" dur="600" nodeType="clickEffect">
                <p:stCondLst>
                  <p:cond delay="200"/>
                </p:stCondLst>
                <p:childTnLst/>
              </p:cTn>
            </p:par>
            <p:par>
              <p:cTn id="12" fill="hold" presetID="10" presetClass="entr" presetSubtype="0" dur="600" nodeType="clickEffect">
                <p:stCondLst>
                  <p:cond delay="400"/>
                </p:stCondLst>
                <p:childTnLst/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u="none">
                <a:solidFill>
                  <a:srgbClr val="1C2B3A"/>
                </a:solidFill>
                <a:latin typeface="Georgia"/>
              </a:rP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Croissance du marché observée sur les 3 derniers trimestres.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9258" y="105705"/>
            <a:ext cx="1522261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200" b="1" u="none">
                <a:solidFill>
                  <a:srgbClr val="1C2B3A"/>
                </a:solidFill>
                <a:latin typeface="Georgia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1 : Q1</a:t>
            </a:r>
          </a:p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2 : Q2</a:t>
            </a:r>
          </a:p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3 : Q3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991" y="102495"/>
            <a:ext cx="1523299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 u="none">
                <a:solidFill>
                  <a:srgbClr val="C8A84B"/>
                </a:solidFill>
                <a:latin typeface="Georgia"/>
              </a:rPr>
              <a:t>Merci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10" fill="hold" presetID="10" presetClass="entr" presetSubtype="0" dur="600" nodeType="clickEffect">
                <p:stCondLst>
                  <p:cond evt="onClick" delay="0"/>
                </p:stCondLst>
                <p:childTnLst/>
              </p:cTn>
            </p:par>
            <p:par>
              <p:cTn id="11" fill="hold" presetID="10" presetClass="entr" presetSubtype="0" dur="600" nodeType="clickEffect">
                <p:stCondLst>
                  <p:cond delay="200"/>
                </p:stCondLst>
                <p:childTnLst/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