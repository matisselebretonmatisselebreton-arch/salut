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05600"/>
            <a:ext cx="9144000" cy="1524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2880360"/>
            <a:ext cx="4114800" cy="1524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3169920"/>
            <a:ext cx="7571232" cy="20116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800" b="1" i="0">
                <a:solidFill>
                  <a:srgbClr val="C8A84B"/>
                </a:solidFill>
                <a:latin typeface="Georgia"/>
              </a:rPr>
              <a:t>Stratégie Q3 2025</a:t>
            </a:r>
          </a:p>
        </p:txBody>
      </p:sp>
    </p:spTree>
  </p:cSld>
  <p:clrMapOvr>
    <a:masterClrMapping/>
  </p:clrMapOvr>
  <p:transition spd="med" dur="633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623560"/>
            <a:ext cx="9144000" cy="123444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1714500"/>
            <a:ext cx="502920" cy="50292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71450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600" b="1" i="0">
                <a:solidFill>
                  <a:srgbClr val="1C2B3A"/>
                </a:solidFill>
                <a:latin typeface="Georg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508760"/>
            <a:ext cx="717804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400" b="1" i="0">
                <a:solidFill>
                  <a:srgbClr val="C8A84B"/>
                </a:solidFill>
                <a:latin typeface="Georgia"/>
              </a:rPr>
              <a:t>KPI Revenue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795528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0" i="1">
                <a:solidFill>
                  <a:srgbClr val="FFFFFF"/>
                </a:solidFill>
                <a:latin typeface="Trebuchet MS"/>
              </a:rPr>
              <a:t>• Chiffre d'affaires +15%</a:t>
            </a:r>
          </a:p>
        </p:txBody>
      </p:sp>
    </p:spTree>
  </p:cSld>
  <p:clrMapOvr>
    <a:masterClrMapping/>
  </p:clrMapOvr>
  <p:transition spd="med" dur="552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623560"/>
            <a:ext cx="9144000" cy="123444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1714500"/>
            <a:ext cx="502920" cy="50292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71450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600" b="1" i="0">
                <a:solidFill>
                  <a:srgbClr val="1C2B3A"/>
                </a:solidFill>
                <a:latin typeface="Georgi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508760"/>
            <a:ext cx="717804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400" b="1" i="0">
                <a:solidFill>
                  <a:srgbClr val="C8A84B"/>
                </a:solidFill>
                <a:latin typeface="Georgia"/>
              </a:rPr>
              <a:t>Market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795528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0" i="1">
                <a:solidFill>
                  <a:srgbClr val="FFFFFF"/>
                </a:solidFill>
                <a:latin typeface="Trebuchet MS"/>
              </a:rPr>
              <a:t>Croissance du marché observée sur les 3 derniers trimestres.</a:t>
            </a:r>
          </a:p>
        </p:txBody>
      </p:sp>
    </p:spTree>
  </p:cSld>
  <p:clrMapOvr>
    <a:masterClrMapping/>
  </p:clrMapOvr>
  <p:transition spd="med" dur="648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623560"/>
            <a:ext cx="9144000" cy="123444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1714500"/>
            <a:ext cx="502920" cy="50292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71450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600" b="1" i="0">
                <a:solidFill>
                  <a:srgbClr val="1C2B3A"/>
                </a:solidFill>
                <a:latin typeface="Georgi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508760"/>
            <a:ext cx="717804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400" b="1" i="0">
                <a:solidFill>
                  <a:srgbClr val="C8A84B"/>
                </a:solidFill>
                <a:latin typeface="Georgia"/>
              </a:rPr>
              <a:t>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795528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0" i="1">
                <a:solidFill>
                  <a:srgbClr val="FFFFFF"/>
                </a:solidFill>
                <a:latin typeface="Trebuchet MS"/>
              </a:rPr>
              <a:t>• Phase 1 : Q1</a:t>
            </a:r>
          </a:p>
        </p:txBody>
      </p:sp>
    </p:spTree>
  </p:cSld>
  <p:clrMapOvr>
    <a:masterClrMapping/>
  </p:clrMapOvr>
  <p:transition spd="med" dur="413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0" y="2880360"/>
            <a:ext cx="4572000" cy="2286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3337560"/>
            <a:ext cx="7525512" cy="16459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800" b="1" i="0">
                <a:solidFill>
                  <a:srgbClr val="C8A84B"/>
                </a:solidFill>
                <a:latin typeface="Georgia"/>
              </a:rPr>
              <a:t>Merci</a:t>
            </a:r>
          </a:p>
        </p:txBody>
      </p:sp>
    </p:spTree>
  </p:cSld>
  <p:clrMapOvr>
    <a:masterClrMapping/>
  </p:clrMapOvr>
  <p:transition spd="med" dur="678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