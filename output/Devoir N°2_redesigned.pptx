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Rectangle 1"/>
          <p:cNvSpPr/>
          <p:nvPr/>
        </p:nvSpPr>
        <p:spPr>
          <a:xfrm>
            <a:off x="0" y="0"/>
            <a:ext cx="64008" cy="68580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5600"/>
            <a:ext cx="9144000" cy="1524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41248" y="2880360"/>
            <a:ext cx="4114800" cy="1524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3169920"/>
            <a:ext cx="7571232" cy="2011680"/>
          </a:xfrm>
          <a:prstGeom prst="rect">
            <a:avLst/>
          </a:prstGeom>
          <a:noFill/>
        </p:spPr>
        <p:txBody>
          <a:bodyPr wrap="square"/>
          <a:lstStyle/>
          <a:p>
            <a:pPr algn="l"/>
            <a:r>
              <a:rPr sz="4800" b="1" i="0">
                <a:solidFill>
                  <a:srgbClr val="C8A84B"/>
                </a:solidFill>
                <a:latin typeface="Georgia"/>
              </a:rPr>
              <a:t>ESPI  •  ALT3  •  TEAM WORK D2</a:t>
            </a:r>
          </a:p>
        </p:txBody>
      </p:sp>
      <p:sp>
        <p:nvSpPr>
          <p:cNvPr id="6" name="TextBox 5"/>
          <p:cNvSpPr txBox="1"/>
          <p:nvPr/>
        </p:nvSpPr>
        <p:spPr>
          <a:xfrm>
            <a:off x="978408" y="5318760"/>
            <a:ext cx="7571232" cy="731520"/>
          </a:xfrm>
          <a:prstGeom prst="rect">
            <a:avLst/>
          </a:prstGeom>
          <a:noFill/>
        </p:spPr>
        <p:txBody>
          <a:bodyPr wrap="square"/>
          <a:lstStyle/>
          <a:p>
            <a:pPr algn="l"/>
            <a:r>
              <a:rPr sz="2000" b="0" i="0">
                <a:solidFill>
                  <a:srgbClr val="CCCCCC"/>
                </a:solidFill>
                <a:latin typeface="Trebuchet MS"/>
              </a:rPr>
              <a:t>Marketing de l'Immobilier · Du Marketing Mix à la Relation Client · Groupe : Aloys Gervois  •  Matisse Lebreton  •  Matheis Lopes  •  Edouard Saury  •  Corentin Lardeux</a:t>
            </a:r>
          </a:p>
        </p:txBody>
      </p:sp>
    </p:spTree>
  </p:cSld>
  <p:clrMapOvr>
    <a:masterClrMapping/>
  </p:clrMapOvr>
  <p:transition spd="med" dur="499">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CEAE0"/>
        </a:solidFill>
        <a:effectLst/>
      </p:bgPr>
    </p:bg>
    <p:spTree>
      <p:nvGrpSpPr>
        <p:cNvPr id="1" name=""/>
        <p:cNvGrpSpPr/>
        <p:nvPr/>
      </p:nvGrpSpPr>
      <p:grpSpPr/>
      <p:sp>
        <p:nvSpPr>
          <p:cNvPr id="2" name="Rectangle 1"/>
          <p:cNvSpPr/>
          <p:nvPr/>
        </p:nvSpPr>
        <p:spPr>
          <a:xfrm>
            <a:off x="0" y="0"/>
            <a:ext cx="9144000" cy="1417320"/>
          </a:xfrm>
          <a:prstGeom prst="rect">
            <a:avLst/>
          </a:prstGeom>
          <a:solidFill>
            <a:srgbClr val="1C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4173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05600"/>
            <a:ext cx="9144000" cy="1524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1168"/>
            <a:ext cx="8028432" cy="1005840"/>
          </a:xfrm>
          <a:prstGeom prst="rect">
            <a:avLst/>
          </a:prstGeom>
          <a:noFill/>
        </p:spPr>
        <p:txBody>
          <a:bodyPr wrap="square"/>
          <a:lstStyle/>
          <a:p>
            <a:pPr algn="l"/>
            <a:r>
              <a:rPr sz="3200" b="1" i="0">
                <a:solidFill>
                  <a:srgbClr val="FFFFFF"/>
                </a:solidFill>
                <a:latin typeface="Georgia"/>
              </a:rPr>
              <a:t>PLAN</a:t>
            </a:r>
          </a:p>
        </p:txBody>
      </p:sp>
      <p:sp>
        <p:nvSpPr>
          <p:cNvPr id="6" name="TextBox 5"/>
          <p:cNvSpPr txBox="1"/>
          <p:nvPr/>
        </p:nvSpPr>
        <p:spPr>
          <a:xfrm>
            <a:off x="594360" y="1691640"/>
            <a:ext cx="3794760" cy="4709160"/>
          </a:xfrm>
          <a:prstGeom prst="rect">
            <a:avLst/>
          </a:prstGeom>
          <a:noFill/>
        </p:spPr>
        <p:txBody>
          <a:bodyPr wrap="square"/>
          <a:lstStyle/>
          <a:p>
            <a:pPr algn="l">
              <a:spcBef>
                <a:spcPts val="0"/>
              </a:spcBef>
            </a:pPr>
            <a:r>
              <a:rPr sz="1700" b="0">
                <a:solidFill>
                  <a:srgbClr val="1C2B3A"/>
                </a:solidFill>
                <a:latin typeface="Trebuchet MS"/>
              </a:rPr>
              <a:t>Sommaire</a:t>
            </a:r>
          </a:p>
          <a:p>
            <a:pPr algn="l">
              <a:spcBef>
                <a:spcPts val="600"/>
              </a:spcBef>
            </a:pPr>
            <a:r>
              <a:rPr sz="1700" b="0">
                <a:solidFill>
                  <a:srgbClr val="1C2B3A"/>
                </a:solidFill>
                <a:latin typeface="Trebuchet MS"/>
              </a:rPr>
              <a:t>2 / 15</a:t>
            </a:r>
          </a:p>
          <a:p>
            <a:pPr algn="l">
              <a:spcBef>
                <a:spcPts val="600"/>
              </a:spcBef>
            </a:pPr>
            <a:r>
              <a:rPr sz="1700" b="0">
                <a:solidFill>
                  <a:srgbClr val="1C2B3A"/>
                </a:solidFill>
                <a:latin typeface="Trebuchet MS"/>
              </a:rPr>
              <a:t>01</a:t>
            </a:r>
          </a:p>
          <a:p>
            <a:pPr algn="l">
              <a:spcBef>
                <a:spcPts val="600"/>
              </a:spcBef>
            </a:pPr>
            <a:r>
              <a:rPr sz="1700" b="0">
                <a:solidFill>
                  <a:srgbClr val="1C2B3A"/>
                </a:solidFill>
                <a:latin typeface="Trebuchet MS"/>
              </a:rPr>
              <a:t>Introduction</a:t>
            </a:r>
          </a:p>
          <a:p>
            <a:pPr algn="l">
              <a:spcBef>
                <a:spcPts val="600"/>
              </a:spcBef>
            </a:pPr>
            <a:r>
              <a:rPr sz="1700" b="0">
                <a:solidFill>
                  <a:srgbClr val="1C2B3A"/>
                </a:solidFill>
                <a:latin typeface="Trebuchet MS"/>
              </a:rPr>
              <a:t>Le marketing au cœur de l'immobilier</a:t>
            </a:r>
          </a:p>
          <a:p>
            <a:pPr algn="l">
              <a:spcBef>
                <a:spcPts val="600"/>
              </a:spcBef>
            </a:pPr>
            <a:r>
              <a:rPr sz="1700" b="0">
                <a:solidFill>
                  <a:srgbClr val="1C2B3A"/>
                </a:solidFill>
                <a:latin typeface="Trebuchet MS"/>
              </a:rPr>
              <a:t>02</a:t>
            </a:r>
          </a:p>
          <a:p>
            <a:pPr algn="l">
              <a:spcBef>
                <a:spcPts val="600"/>
              </a:spcBef>
            </a:pPr>
            <a:r>
              <a:rPr sz="1700" b="0">
                <a:solidFill>
                  <a:srgbClr val="1C2B3A"/>
                </a:solidFill>
                <a:latin typeface="Trebuchet MS"/>
              </a:rPr>
              <a:t>Thème 1 — Le Marketing Mix</a:t>
            </a:r>
          </a:p>
          <a:p>
            <a:pPr algn="l">
              <a:spcBef>
                <a:spcPts val="600"/>
              </a:spcBef>
            </a:pPr>
            <a:r>
              <a:rPr sz="1700" b="0">
                <a:solidFill>
                  <a:srgbClr val="1C2B3A"/>
                </a:solidFill>
                <a:latin typeface="Trebuchet MS"/>
              </a:rPr>
              <a:t>Définition, 4P et extension au 7P</a:t>
            </a:r>
          </a:p>
          <a:p>
            <a:pPr algn="l">
              <a:spcBef>
                <a:spcPts val="600"/>
              </a:spcBef>
            </a:pPr>
            <a:r>
              <a:rPr sz="1700" b="0">
                <a:solidFill>
                  <a:srgbClr val="1C2B3A"/>
                </a:solidFill>
                <a:latin typeface="Trebuchet MS"/>
              </a:rPr>
              <a:t>03</a:t>
            </a:r>
          </a:p>
          <a:p>
            <a:pPr algn="l">
              <a:spcBef>
                <a:spcPts val="600"/>
              </a:spcBef>
            </a:pPr>
            <a:r>
              <a:rPr sz="1700" b="0">
                <a:solidFill>
                  <a:srgbClr val="1C2B3A"/>
                </a:solidFill>
                <a:latin typeface="Trebuchet MS"/>
              </a:rPr>
              <a:t>Application au secteur immobilier</a:t>
            </a:r>
          </a:p>
          <a:p>
            <a:pPr algn="l">
              <a:spcBef>
                <a:spcPts val="600"/>
              </a:spcBef>
            </a:pPr>
            <a:r>
              <a:rPr sz="1700" b="0">
                <a:solidFill>
                  <a:srgbClr val="1C2B3A"/>
                </a:solidFill>
                <a:latin typeface="Trebuchet MS"/>
              </a:rPr>
              <a:t>Lecture sectorielle des 7P</a:t>
            </a:r>
          </a:p>
        </p:txBody>
      </p:sp>
      <p:sp>
        <p:nvSpPr>
          <p:cNvPr id="7" name="Rectangle 6"/>
          <p:cNvSpPr/>
          <p:nvPr/>
        </p:nvSpPr>
        <p:spPr>
          <a:xfrm>
            <a:off x="4553712" y="1783080"/>
            <a:ext cx="76200" cy="452628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691640"/>
            <a:ext cx="3794760" cy="4709160"/>
          </a:xfrm>
          <a:prstGeom prst="rect">
            <a:avLst/>
          </a:prstGeom>
          <a:noFill/>
        </p:spPr>
        <p:txBody>
          <a:bodyPr wrap="square"/>
          <a:lstStyle/>
          <a:p>
            <a:pPr algn="l">
              <a:spcBef>
                <a:spcPts val="0"/>
              </a:spcBef>
            </a:pPr>
            <a:r>
              <a:rPr sz="1700" b="0">
                <a:solidFill>
                  <a:srgbClr val="1C2B3A"/>
                </a:solidFill>
                <a:latin typeface="Trebuchet MS"/>
              </a:rPr>
              <a:t>04</a:t>
            </a:r>
          </a:p>
          <a:p>
            <a:pPr algn="l">
              <a:spcBef>
                <a:spcPts val="600"/>
              </a:spcBef>
            </a:pPr>
            <a:r>
              <a:rPr sz="1700" b="0">
                <a:solidFill>
                  <a:srgbClr val="1C2B3A"/>
                </a:solidFill>
                <a:latin typeface="Trebuchet MS"/>
              </a:rPr>
              <a:t>Thème 2 — La GRC &amp; le marketing relationnel</a:t>
            </a:r>
          </a:p>
          <a:p>
            <a:pPr algn="l">
              <a:spcBef>
                <a:spcPts val="600"/>
              </a:spcBef>
            </a:pPr>
            <a:r>
              <a:rPr sz="1700" b="0">
                <a:solidFill>
                  <a:srgbClr val="1C2B3A"/>
                </a:solidFill>
                <a:latin typeface="Trebuchet MS"/>
              </a:rPr>
              <a:t>De la transaction à la relation</a:t>
            </a:r>
          </a:p>
          <a:p>
            <a:pPr algn="l">
              <a:spcBef>
                <a:spcPts val="600"/>
              </a:spcBef>
            </a:pPr>
            <a:r>
              <a:rPr sz="1700" b="0">
                <a:solidFill>
                  <a:srgbClr val="1C2B3A"/>
                </a:solidFill>
                <a:latin typeface="Trebuchet MS"/>
              </a:rPr>
              <a:t>05</a:t>
            </a:r>
          </a:p>
          <a:p>
            <a:pPr algn="l">
              <a:spcBef>
                <a:spcPts val="600"/>
              </a:spcBef>
            </a:pPr>
            <a:r>
              <a:rPr sz="1700" b="0">
                <a:solidFill>
                  <a:srgbClr val="1C2B3A"/>
                </a:solidFill>
                <a:latin typeface="Trebuchet MS"/>
              </a:rPr>
              <a:t>Le parcours client</a:t>
            </a:r>
          </a:p>
          <a:p>
            <a:pPr algn="l">
              <a:spcBef>
                <a:spcPts val="600"/>
              </a:spcBef>
            </a:pPr>
            <a:r>
              <a:rPr sz="1700" b="0">
                <a:solidFill>
                  <a:srgbClr val="1C2B3A"/>
                </a:solidFill>
                <a:latin typeface="Trebuchet MS"/>
              </a:rPr>
              <a:t>Avant, pendant, après l'achat</a:t>
            </a:r>
          </a:p>
          <a:p>
            <a:pPr algn="l">
              <a:spcBef>
                <a:spcPts val="600"/>
              </a:spcBef>
            </a:pPr>
            <a:r>
              <a:rPr sz="1700" b="0">
                <a:solidFill>
                  <a:srgbClr val="1C2B3A"/>
                </a:solidFill>
                <a:latin typeface="Trebuchet MS"/>
              </a:rPr>
              <a:t>06</a:t>
            </a:r>
          </a:p>
          <a:p>
            <a:pPr algn="l">
              <a:spcBef>
                <a:spcPts val="600"/>
              </a:spcBef>
            </a:pPr>
            <a:r>
              <a:rPr sz="1700" b="0">
                <a:solidFill>
                  <a:srgbClr val="1C2B3A"/>
                </a:solidFill>
                <a:latin typeface="Trebuchet MS"/>
              </a:rPr>
              <a:t>Étude de cas : Bouygues Immobilier</a:t>
            </a:r>
          </a:p>
          <a:p>
            <a:pPr algn="l">
              <a:spcBef>
                <a:spcPts val="600"/>
              </a:spcBef>
            </a:pPr>
            <a:r>
              <a:rPr sz="1700" b="0">
                <a:solidFill>
                  <a:srgbClr val="1C2B3A"/>
                </a:solidFill>
                <a:latin typeface="Trebuchet MS"/>
              </a:rPr>
              <a:t>Un parcours client orchestré</a:t>
            </a:r>
          </a:p>
          <a:p>
            <a:pPr algn="l">
              <a:spcBef>
                <a:spcPts val="600"/>
              </a:spcBef>
            </a:pPr>
            <a:r>
              <a:rPr sz="1700" b="0">
                <a:solidFill>
                  <a:srgbClr val="1C2B3A"/>
                </a:solidFill>
                <a:latin typeface="Trebuchet MS"/>
              </a:rPr>
              <a:t>07</a:t>
            </a:r>
          </a:p>
          <a:p>
            <a:pPr algn="l">
              <a:spcBef>
                <a:spcPts val="600"/>
              </a:spcBef>
            </a:pPr>
            <a:r>
              <a:rPr sz="1700" b="0">
                <a:solidFill>
                  <a:srgbClr val="1C2B3A"/>
                </a:solidFill>
                <a:latin typeface="Trebuchet MS"/>
              </a:rPr>
              <a:t>Conclusion &amp; enjeux</a:t>
            </a:r>
          </a:p>
          <a:p>
            <a:pPr algn="l">
              <a:spcBef>
                <a:spcPts val="600"/>
              </a:spcBef>
            </a:pPr>
            <a:r>
              <a:rPr sz="1700" b="0">
                <a:solidFill>
                  <a:srgbClr val="1C2B3A"/>
                </a:solidFill>
                <a:latin typeface="Trebuchet MS"/>
              </a:rPr>
              <a:t>Vers une expérience client augmentée</a:t>
            </a:r>
          </a:p>
        </p:txBody>
      </p:sp>
    </p:spTree>
  </p:cSld>
  <p:clrMapOvr>
    <a:masterClrMapping/>
  </p:clrMapOvr>
  <p:transition spd="med" dur="599">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4EF"/>
        </a:solidFill>
        <a:effectLst/>
      </p:bgPr>
    </p:bg>
    <p:spTree>
      <p:nvGrpSpPr>
        <p:cNvPr id="1" name=""/>
        <p:cNvGrpSpPr/>
        <p:nvPr/>
      </p:nvGrpSpPr>
      <p:grpSpPr/>
      <p:sp>
        <p:nvSpPr>
          <p:cNvPr id="2" name="Rectangle 1"/>
          <p:cNvSpPr/>
          <p:nvPr/>
        </p:nvSpPr>
        <p:spPr>
          <a:xfrm>
            <a:off x="0" y="0"/>
            <a:ext cx="9144000" cy="1417320"/>
          </a:xfrm>
          <a:prstGeom prst="rect">
            <a:avLst/>
          </a:prstGeom>
          <a:solidFill>
            <a:srgbClr val="1C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4173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05600"/>
            <a:ext cx="9144000" cy="1524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1168"/>
            <a:ext cx="8028432" cy="1005840"/>
          </a:xfrm>
          <a:prstGeom prst="rect">
            <a:avLst/>
          </a:prstGeom>
          <a:noFill/>
        </p:spPr>
        <p:txBody>
          <a:bodyPr wrap="square"/>
          <a:lstStyle/>
          <a:p>
            <a:pPr algn="l"/>
            <a:r>
              <a:rPr sz="3200" b="1" i="0">
                <a:solidFill>
                  <a:srgbClr val="FFFFFF"/>
                </a:solidFill>
                <a:latin typeface="Georgia"/>
              </a:rPr>
              <a:t>INTRODUCTION</a:t>
            </a:r>
          </a:p>
        </p:txBody>
      </p:sp>
      <p:sp>
        <p:nvSpPr>
          <p:cNvPr id="6" name="TextBox 5"/>
          <p:cNvSpPr txBox="1"/>
          <p:nvPr/>
        </p:nvSpPr>
        <p:spPr>
          <a:xfrm>
            <a:off x="594360" y="1691640"/>
            <a:ext cx="3794760" cy="4709160"/>
          </a:xfrm>
          <a:prstGeom prst="rect">
            <a:avLst/>
          </a:prstGeom>
          <a:noFill/>
        </p:spPr>
        <p:txBody>
          <a:bodyPr wrap="square"/>
          <a:lstStyle/>
          <a:p>
            <a:pPr algn="l">
              <a:spcBef>
                <a:spcPts val="0"/>
              </a:spcBef>
            </a:pPr>
            <a:r>
              <a:rPr sz="1700" b="0">
                <a:solidFill>
                  <a:srgbClr val="1C2B3A"/>
                </a:solidFill>
                <a:latin typeface="Trebuchet MS"/>
              </a:rPr>
              <a:t>Pourquoi le marketing en immobilier ?</a:t>
            </a:r>
          </a:p>
          <a:p>
            <a:pPr algn="l">
              <a:spcBef>
                <a:spcPts val="600"/>
              </a:spcBef>
            </a:pPr>
            <a:r>
              <a:rPr sz="1700" b="0">
                <a:solidFill>
                  <a:srgbClr val="1C2B3A"/>
                </a:solidFill>
                <a:latin typeface="Trebuchet MS"/>
              </a:rPr>
              <a:t>3 / 15</a:t>
            </a:r>
          </a:p>
          <a:p>
            <a:pPr algn="l">
              <a:spcBef>
                <a:spcPts val="600"/>
              </a:spcBef>
            </a:pPr>
            <a:r>
              <a:rPr sz="1700" b="0">
                <a:solidFill>
                  <a:srgbClr val="1C2B3A"/>
                </a:solidFill>
                <a:latin typeface="Trebuchet MS"/>
              </a:rPr>
              <a:t>Un marché en mutation profonde.</a:t>
            </a:r>
          </a:p>
          <a:p>
            <a:pPr algn="l">
              <a:spcBef>
                <a:spcPts val="600"/>
              </a:spcBef>
            </a:pPr>
            <a:r>
              <a:rPr sz="1700" b="0">
                <a:solidFill>
                  <a:srgbClr val="1C2B3A"/>
                </a:solidFill>
                <a:latin typeface="Trebuchet MS"/>
              </a:rPr>
              <a:t>Hausse des taux, raréfaction du foncier, exigences ESG, nouveaux usages post-Covid : le secteur immobilier, résidentiel comme tertiaire n'échappe plus à la logique de différenciation marketing.</a:t>
            </a:r>
          </a:p>
          <a:p>
            <a:pPr algn="l">
              <a:spcBef>
                <a:spcPts val="600"/>
              </a:spcBef>
            </a:pPr>
            <a:r>
              <a:rPr sz="1700" b="0">
                <a:solidFill>
                  <a:srgbClr val="1C2B3A"/>
                </a:solidFill>
                <a:latin typeface="Trebuchet MS"/>
              </a:rPr>
              <a:t>D'un produit à une expérience.</a:t>
            </a:r>
          </a:p>
          <a:p>
            <a:pPr algn="l">
              <a:spcBef>
                <a:spcPts val="600"/>
              </a:spcBef>
            </a:pPr>
            <a:r>
              <a:rPr sz="1700" b="0">
                <a:solidFill>
                  <a:srgbClr val="1C2B3A"/>
                </a:solidFill>
                <a:latin typeface="Trebuchet MS"/>
              </a:rPr>
              <a:t>Le bien immobilier ne se vend plus seul : il s'inscrit dans une promesse de marque, un parcours d'achat long et émotionnel ainsi qu’une relation client qui se prolonge bien après la signature.</a:t>
            </a:r>
          </a:p>
        </p:txBody>
      </p:sp>
      <p:sp>
        <p:nvSpPr>
          <p:cNvPr id="7" name="Rectangle 6"/>
          <p:cNvSpPr/>
          <p:nvPr/>
        </p:nvSpPr>
        <p:spPr>
          <a:xfrm>
            <a:off x="4553712" y="1783080"/>
            <a:ext cx="76200" cy="452628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691640"/>
            <a:ext cx="3794760" cy="4709160"/>
          </a:xfrm>
          <a:prstGeom prst="rect">
            <a:avLst/>
          </a:prstGeom>
          <a:noFill/>
        </p:spPr>
        <p:txBody>
          <a:bodyPr wrap="square"/>
          <a:lstStyle/>
          <a:p>
            <a:pPr algn="l">
              <a:spcBef>
                <a:spcPts val="0"/>
              </a:spcBef>
            </a:pPr>
            <a:r>
              <a:rPr sz="1700" b="0">
                <a:solidFill>
                  <a:srgbClr val="1C2B3A"/>
                </a:solidFill>
                <a:latin typeface="Trebuchet MS"/>
              </a:rPr>
              <a:t>≈ 18 mois</a:t>
            </a:r>
          </a:p>
          <a:p>
            <a:pPr algn="l">
              <a:spcBef>
                <a:spcPts val="600"/>
              </a:spcBef>
            </a:pPr>
            <a:r>
              <a:rPr sz="1700" b="0">
                <a:solidFill>
                  <a:srgbClr val="1C2B3A"/>
                </a:solidFill>
                <a:latin typeface="Trebuchet MS"/>
              </a:rPr>
              <a:t>durée moyenne d'un parcours d'achat immobilier neuf</a:t>
            </a:r>
          </a:p>
          <a:p>
            <a:pPr algn="l">
              <a:spcBef>
                <a:spcPts val="600"/>
              </a:spcBef>
            </a:pPr>
            <a:r>
              <a:rPr sz="1700" b="0">
                <a:solidFill>
                  <a:srgbClr val="1C2B3A"/>
                </a:solidFill>
                <a:latin typeface="Trebuchet MS"/>
              </a:rPr>
              <a:t>7 P</a:t>
            </a:r>
          </a:p>
          <a:p>
            <a:pPr algn="l">
              <a:spcBef>
                <a:spcPts val="600"/>
              </a:spcBef>
            </a:pPr>
            <a:r>
              <a:rPr sz="1700" b="0">
                <a:solidFill>
                  <a:srgbClr val="1C2B3A"/>
                </a:solidFill>
                <a:latin typeface="Trebuchet MS"/>
              </a:rPr>
              <a:t>du marketing des services appliqués à l'immobilier</a:t>
            </a:r>
          </a:p>
          <a:p>
            <a:pPr algn="l">
              <a:spcBef>
                <a:spcPts val="600"/>
              </a:spcBef>
            </a:pPr>
            <a:r>
              <a:rPr sz="1700" b="0">
                <a:solidFill>
                  <a:srgbClr val="1C2B3A"/>
                </a:solidFill>
                <a:latin typeface="Trebuchet MS"/>
              </a:rPr>
              <a:t>3 phases</a:t>
            </a:r>
          </a:p>
          <a:p>
            <a:pPr algn="l">
              <a:spcBef>
                <a:spcPts val="600"/>
              </a:spcBef>
            </a:pPr>
            <a:r>
              <a:rPr sz="1700" b="0">
                <a:solidFill>
                  <a:srgbClr val="1C2B3A"/>
                </a:solidFill>
                <a:latin typeface="Trebuchet MS"/>
              </a:rPr>
              <a:t>avant , pendant et après l'achat à orchestrer</a:t>
            </a:r>
          </a:p>
        </p:txBody>
      </p:sp>
    </p:spTree>
  </p:cSld>
  <p:clrMapOvr>
    <a:masterClrMapping/>
  </p:clrMapOvr>
  <p:transition spd="med" dur="666">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Rectangle 1"/>
          <p:cNvSpPr/>
          <p:nvPr/>
        </p:nvSpPr>
        <p:spPr>
          <a:xfrm>
            <a:off x="0" y="5623560"/>
            <a:ext cx="9144000" cy="123444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94360" y="1714500"/>
            <a:ext cx="502920" cy="5029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14500"/>
            <a:ext cx="502920" cy="502920"/>
          </a:xfrm>
          <a:prstGeom prst="rect">
            <a:avLst/>
          </a:prstGeom>
          <a:noFill/>
        </p:spPr>
        <p:txBody>
          <a:bodyPr wrap="square"/>
          <a:lstStyle/>
          <a:p>
            <a:pPr algn="ctr"/>
            <a:r>
              <a:rPr sz="2600" b="1" i="0">
                <a:solidFill>
                  <a:srgbClr val="1C2B3A"/>
                </a:solidFill>
                <a:latin typeface="Georgia"/>
              </a:rPr>
              <a:t>1</a:t>
            </a:r>
          </a:p>
        </p:txBody>
      </p:sp>
      <p:sp>
        <p:nvSpPr>
          <p:cNvPr id="5" name="TextBox 4"/>
          <p:cNvSpPr txBox="1"/>
          <p:nvPr/>
        </p:nvSpPr>
        <p:spPr>
          <a:xfrm>
            <a:off x="1371600" y="1508760"/>
            <a:ext cx="7178040" cy="1463040"/>
          </a:xfrm>
          <a:prstGeom prst="rect">
            <a:avLst/>
          </a:prstGeom>
          <a:noFill/>
        </p:spPr>
        <p:txBody>
          <a:bodyPr wrap="square"/>
          <a:lstStyle/>
          <a:p>
            <a:pPr algn="l"/>
            <a:r>
              <a:rPr sz="4400" b="1" i="0">
                <a:solidFill>
                  <a:srgbClr val="C8A84B"/>
                </a:solidFill>
                <a:latin typeface="Georgia"/>
              </a:rPr>
              <a:t>THÈME 1</a:t>
            </a:r>
          </a:p>
        </p:txBody>
      </p:sp>
      <p:sp>
        <p:nvSpPr>
          <p:cNvPr id="6" name="TextBox 5"/>
          <p:cNvSpPr txBox="1"/>
          <p:nvPr/>
        </p:nvSpPr>
        <p:spPr>
          <a:xfrm>
            <a:off x="594360" y="4251960"/>
            <a:ext cx="7955280" cy="822960"/>
          </a:xfrm>
          <a:prstGeom prst="rect">
            <a:avLst/>
          </a:prstGeom>
          <a:noFill/>
        </p:spPr>
        <p:txBody>
          <a:bodyPr wrap="square"/>
          <a:lstStyle/>
          <a:p>
            <a:pPr algn="l"/>
            <a:r>
              <a:rPr sz="2000" b="0" i="1">
                <a:solidFill>
                  <a:srgbClr val="FFFFFF"/>
                </a:solidFill>
                <a:latin typeface="Trebuchet MS"/>
              </a:rPr>
              <a:t>Le Marketing Mix</a:t>
            </a:r>
          </a:p>
        </p:txBody>
      </p:sp>
    </p:spTree>
  </p:cSld>
  <p:clrMapOvr>
    <a:masterClrMapping/>
  </p:clrMapOvr>
  <p:transition spd="med" dur="698">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4EF"/>
        </a:solidFill>
        <a:effectLst/>
      </p:bgPr>
    </p:bg>
    <p:spTree>
      <p:nvGrpSpPr>
        <p:cNvPr id="1" name=""/>
        <p:cNvGrpSpPr/>
        <p:nvPr/>
      </p:nvGrpSpPr>
      <p:grpSpPr/>
      <p:sp>
        <p:nvSpPr>
          <p:cNvPr id="2" name="Rectangle 1"/>
          <p:cNvSpPr/>
          <p:nvPr/>
        </p:nvSpPr>
        <p:spPr>
          <a:xfrm>
            <a:off x="0" y="0"/>
            <a:ext cx="9144000" cy="1417320"/>
          </a:xfrm>
          <a:prstGeom prst="rect">
            <a:avLst/>
          </a:prstGeom>
          <a:solidFill>
            <a:srgbClr val="1C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4173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05600"/>
            <a:ext cx="9144000" cy="1524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1168"/>
            <a:ext cx="8028432" cy="1005840"/>
          </a:xfrm>
          <a:prstGeom prst="rect">
            <a:avLst/>
          </a:prstGeom>
          <a:noFill/>
        </p:spPr>
        <p:txBody>
          <a:bodyPr wrap="square"/>
          <a:lstStyle/>
          <a:p>
            <a:pPr algn="l"/>
            <a:r>
              <a:rPr sz="3200" b="1" i="0">
                <a:solidFill>
                  <a:srgbClr val="FFFFFF"/>
                </a:solidFill>
                <a:latin typeface="Georgia"/>
              </a:rPr>
              <a:t>THÈME 1</a:t>
            </a:r>
          </a:p>
        </p:txBody>
      </p:sp>
      <p:sp>
        <p:nvSpPr>
          <p:cNvPr id="6" name="TextBox 5"/>
          <p:cNvSpPr txBox="1"/>
          <p:nvPr/>
        </p:nvSpPr>
        <p:spPr>
          <a:xfrm>
            <a:off x="594360" y="1691640"/>
            <a:ext cx="3794760" cy="4709160"/>
          </a:xfrm>
          <a:prstGeom prst="rect">
            <a:avLst/>
          </a:prstGeom>
          <a:noFill/>
        </p:spPr>
        <p:txBody>
          <a:bodyPr wrap="square"/>
          <a:lstStyle/>
          <a:p>
            <a:pPr algn="l">
              <a:spcBef>
                <a:spcPts val="0"/>
              </a:spcBef>
            </a:pPr>
            <a:r>
              <a:rPr sz="1700" b="0">
                <a:solidFill>
                  <a:srgbClr val="1C2B3A"/>
                </a:solidFill>
                <a:latin typeface="Trebuchet MS"/>
              </a:rPr>
              <a:t>Qu'est-ce que le marketing mix ?</a:t>
            </a:r>
          </a:p>
          <a:p>
            <a:pPr algn="l">
              <a:spcBef>
                <a:spcPts val="600"/>
              </a:spcBef>
            </a:pPr>
            <a:r>
              <a:rPr sz="1700" b="0">
                <a:solidFill>
                  <a:srgbClr val="1C2B3A"/>
                </a:solidFill>
                <a:latin typeface="Trebuchet MS"/>
              </a:rPr>
              <a:t>5 / 15</a:t>
            </a:r>
          </a:p>
          <a:p>
            <a:pPr algn="l">
              <a:spcBef>
                <a:spcPts val="600"/>
              </a:spcBef>
            </a:pPr>
            <a:r>
              <a:rPr sz="1700" b="0">
                <a:solidFill>
                  <a:srgbClr val="1C2B3A"/>
                </a:solidFill>
                <a:latin typeface="Trebuchet MS"/>
              </a:rPr>
              <a:t>Définition.  Le marketing mix désigne l'ensemble cohérent des décisions et actions marketing qu'une entreprise met en œuvre pour atteindre ses objectifs commerciaux sur un marché cible. Il traduit la stratégie marketing en leviers opérationnels articulés autour de variables interdépendantes. Historiquement les 4P formalisés par E. Jerome McCarthy en 1960 ont été étendus aux 7P par Booms &amp; Bitner (1981) pour les activités de service.</a:t>
            </a:r>
          </a:p>
          <a:p>
            <a:pPr algn="l">
              <a:spcBef>
                <a:spcPts val="600"/>
              </a:spcBef>
            </a:pPr>
            <a:r>
              <a:rPr sz="1700" b="0">
                <a:solidFill>
                  <a:srgbClr val="1C2B3A"/>
                </a:solidFill>
                <a:latin typeface="Trebuchet MS"/>
              </a:rPr>
              <a:t>Cohérence</a:t>
            </a:r>
          </a:p>
        </p:txBody>
      </p:sp>
      <p:sp>
        <p:nvSpPr>
          <p:cNvPr id="7" name="Rectangle 6"/>
          <p:cNvSpPr/>
          <p:nvPr/>
        </p:nvSpPr>
        <p:spPr>
          <a:xfrm>
            <a:off x="4553712" y="1783080"/>
            <a:ext cx="76200" cy="452628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691640"/>
            <a:ext cx="3794760" cy="4709160"/>
          </a:xfrm>
          <a:prstGeom prst="rect">
            <a:avLst/>
          </a:prstGeom>
          <a:noFill/>
        </p:spPr>
        <p:txBody>
          <a:bodyPr wrap="square"/>
          <a:lstStyle/>
          <a:p>
            <a:pPr algn="l">
              <a:spcBef>
                <a:spcPts val="0"/>
              </a:spcBef>
            </a:pPr>
            <a:r>
              <a:rPr sz="1700" b="0">
                <a:solidFill>
                  <a:srgbClr val="1C2B3A"/>
                </a:solidFill>
                <a:latin typeface="Trebuchet MS"/>
              </a:rPr>
              <a:t>Les variables doivent former un système harmonisé sans contradiction interne.</a:t>
            </a:r>
          </a:p>
          <a:p>
            <a:pPr algn="l">
              <a:spcBef>
                <a:spcPts val="600"/>
              </a:spcBef>
            </a:pPr>
            <a:r>
              <a:rPr sz="1700" b="0">
                <a:solidFill>
                  <a:srgbClr val="1C2B3A"/>
                </a:solidFill>
                <a:latin typeface="Trebuchet MS"/>
              </a:rPr>
              <a:t>Cible</a:t>
            </a:r>
          </a:p>
          <a:p>
            <a:pPr algn="l">
              <a:spcBef>
                <a:spcPts val="600"/>
              </a:spcBef>
            </a:pPr>
            <a:r>
              <a:rPr sz="1700" b="0">
                <a:solidFill>
                  <a:srgbClr val="1C2B3A"/>
                </a:solidFill>
                <a:latin typeface="Trebuchet MS"/>
              </a:rPr>
              <a:t>Le mix se construit en fonction d'un segment précis et de son insight.</a:t>
            </a:r>
          </a:p>
          <a:p>
            <a:pPr algn="l">
              <a:spcBef>
                <a:spcPts val="600"/>
              </a:spcBef>
            </a:pPr>
            <a:r>
              <a:rPr sz="1700" b="0">
                <a:solidFill>
                  <a:srgbClr val="1C2B3A"/>
                </a:solidFill>
                <a:latin typeface="Trebuchet MS"/>
              </a:rPr>
              <a:t>Différenciation</a:t>
            </a:r>
          </a:p>
          <a:p>
            <a:pPr algn="l">
              <a:spcBef>
                <a:spcPts val="600"/>
              </a:spcBef>
            </a:pPr>
            <a:r>
              <a:rPr sz="1700" b="0">
                <a:solidFill>
                  <a:srgbClr val="1C2B3A"/>
                </a:solidFill>
                <a:latin typeface="Trebuchet MS"/>
              </a:rPr>
              <a:t>Il doit créer un avantage concurrentiel perçu et défendable.</a:t>
            </a:r>
          </a:p>
        </p:txBody>
      </p:sp>
    </p:spTree>
  </p:cSld>
  <p:clrMapOvr>
    <a:masterClrMapping/>
  </p:clrMapOvr>
  <p:transition spd="med" dur="461">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CEAE0"/>
        </a:solidFill>
        <a:effectLst/>
      </p:bgPr>
    </p:bg>
    <p:spTree>
      <p:nvGrpSpPr>
        <p:cNvPr id="1" name=""/>
        <p:cNvGrpSpPr/>
        <p:nvPr/>
      </p:nvGrpSpPr>
      <p:grpSpPr/>
      <p:sp>
        <p:nvSpPr>
          <p:cNvPr id="2" name="Rectangle 1"/>
          <p:cNvSpPr/>
          <p:nvPr/>
        </p:nvSpPr>
        <p:spPr>
          <a:xfrm>
            <a:off x="0" y="0"/>
            <a:ext cx="9144000" cy="1417320"/>
          </a:xfrm>
          <a:prstGeom prst="rect">
            <a:avLst/>
          </a:prstGeom>
          <a:solidFill>
            <a:srgbClr val="1C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4173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05600"/>
            <a:ext cx="9144000" cy="1524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1168"/>
            <a:ext cx="8028432" cy="1005840"/>
          </a:xfrm>
          <a:prstGeom prst="rect">
            <a:avLst/>
          </a:prstGeom>
          <a:noFill/>
        </p:spPr>
        <p:txBody>
          <a:bodyPr wrap="square"/>
          <a:lstStyle/>
          <a:p>
            <a:pPr algn="l"/>
            <a:r>
              <a:rPr sz="3200" b="1" i="0">
                <a:solidFill>
                  <a:srgbClr val="FFFFFF"/>
                </a:solidFill>
                <a:latin typeface="Georgia"/>
              </a:rPr>
              <a:t>THÈME 1</a:t>
            </a:r>
          </a:p>
        </p:txBody>
      </p:sp>
      <p:sp>
        <p:nvSpPr>
          <p:cNvPr id="6" name="TextBox 5"/>
          <p:cNvSpPr txBox="1"/>
          <p:nvPr/>
        </p:nvSpPr>
        <p:spPr>
          <a:xfrm>
            <a:off x="594360" y="1691640"/>
            <a:ext cx="3794760" cy="4709160"/>
          </a:xfrm>
          <a:prstGeom prst="rect">
            <a:avLst/>
          </a:prstGeom>
          <a:noFill/>
        </p:spPr>
        <p:txBody>
          <a:bodyPr wrap="square"/>
          <a:lstStyle/>
          <a:p>
            <a:pPr algn="l">
              <a:spcBef>
                <a:spcPts val="0"/>
              </a:spcBef>
            </a:pPr>
            <a:r>
              <a:rPr sz="1700" b="0">
                <a:solidFill>
                  <a:srgbClr val="1C2B3A"/>
                </a:solidFill>
                <a:latin typeface="Trebuchet MS"/>
              </a:rPr>
              <a:t>Les 4P : le cœur du marketing mix</a:t>
            </a:r>
          </a:p>
          <a:p>
            <a:pPr algn="l">
              <a:spcBef>
                <a:spcPts val="600"/>
              </a:spcBef>
            </a:pPr>
            <a:r>
              <a:rPr sz="1700" b="0">
                <a:solidFill>
                  <a:srgbClr val="1C2B3A"/>
                </a:solidFill>
                <a:latin typeface="Trebuchet MS"/>
              </a:rPr>
              <a:t>6 / 15</a:t>
            </a:r>
          </a:p>
          <a:p>
            <a:pPr algn="l">
              <a:spcBef>
                <a:spcPts val="600"/>
              </a:spcBef>
            </a:pPr>
            <a:r>
              <a:rPr sz="1700" b="0">
                <a:solidFill>
                  <a:srgbClr val="1C2B3A"/>
                </a:solidFill>
                <a:latin typeface="Trebuchet MS"/>
              </a:rPr>
              <a:t>Modèle fondateur de E. J. McCarthy (1960) les quatre leviers d'action complémentaires.</a:t>
            </a:r>
          </a:p>
          <a:p>
            <a:pPr algn="l">
              <a:spcBef>
                <a:spcPts val="600"/>
              </a:spcBef>
            </a:pPr>
            <a:r>
              <a:rPr sz="1700" b="0">
                <a:solidFill>
                  <a:srgbClr val="1C2B3A"/>
                </a:solidFill>
                <a:latin typeface="Trebuchet MS"/>
              </a:rPr>
              <a:t>P</a:t>
            </a:r>
          </a:p>
          <a:p>
            <a:pPr algn="l">
              <a:spcBef>
                <a:spcPts val="600"/>
              </a:spcBef>
            </a:pPr>
            <a:r>
              <a:rPr sz="1700" b="0">
                <a:solidFill>
                  <a:srgbClr val="1C2B3A"/>
                </a:solidFill>
                <a:latin typeface="Trebuchet MS"/>
              </a:rPr>
              <a:t>Product — Produit</a:t>
            </a:r>
          </a:p>
          <a:p>
            <a:pPr algn="l">
              <a:spcBef>
                <a:spcPts val="600"/>
              </a:spcBef>
            </a:pPr>
            <a:r>
              <a:rPr sz="1700" b="0">
                <a:solidFill>
                  <a:srgbClr val="1C2B3A"/>
                </a:solidFill>
                <a:latin typeface="Trebuchet MS"/>
              </a:rPr>
              <a:t>Caractéristiques, qualité, gamme, design, marque, services associés, garanties. Ce que l'entreprise offre pour répondre à un besoin.</a:t>
            </a:r>
          </a:p>
          <a:p>
            <a:pPr algn="l">
              <a:spcBef>
                <a:spcPts val="600"/>
              </a:spcBef>
            </a:pPr>
            <a:r>
              <a:rPr sz="1700" b="0">
                <a:solidFill>
                  <a:srgbClr val="1C2B3A"/>
                </a:solidFill>
                <a:latin typeface="Trebuchet MS"/>
              </a:rPr>
              <a:t>P</a:t>
            </a:r>
          </a:p>
        </p:txBody>
      </p:sp>
      <p:sp>
        <p:nvSpPr>
          <p:cNvPr id="7" name="Rectangle 6"/>
          <p:cNvSpPr/>
          <p:nvPr/>
        </p:nvSpPr>
        <p:spPr>
          <a:xfrm>
            <a:off x="4553712" y="1783080"/>
            <a:ext cx="76200" cy="452628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691640"/>
            <a:ext cx="3794760" cy="4709160"/>
          </a:xfrm>
          <a:prstGeom prst="rect">
            <a:avLst/>
          </a:prstGeom>
          <a:noFill/>
        </p:spPr>
        <p:txBody>
          <a:bodyPr wrap="square"/>
          <a:lstStyle/>
          <a:p>
            <a:pPr algn="l">
              <a:spcBef>
                <a:spcPts val="0"/>
              </a:spcBef>
            </a:pPr>
            <a:r>
              <a:rPr sz="1700" b="0">
                <a:solidFill>
                  <a:srgbClr val="1C2B3A"/>
                </a:solidFill>
                <a:latin typeface="Trebuchet MS"/>
              </a:rPr>
              <a:t>Price — Prix</a:t>
            </a:r>
          </a:p>
          <a:p>
            <a:pPr algn="l">
              <a:spcBef>
                <a:spcPts val="600"/>
              </a:spcBef>
            </a:pPr>
            <a:r>
              <a:rPr sz="1700" b="0">
                <a:solidFill>
                  <a:srgbClr val="1C2B3A"/>
                </a:solidFill>
                <a:latin typeface="Trebuchet MS"/>
              </a:rPr>
              <a:t>Prix de vente, conditions de paiement, remises, politique tarifaire. Premier signal de positionnement et levier direct de marge.</a:t>
            </a:r>
          </a:p>
          <a:p>
            <a:pPr algn="l">
              <a:spcBef>
                <a:spcPts val="600"/>
              </a:spcBef>
            </a:pPr>
            <a:r>
              <a:rPr sz="1700" b="0">
                <a:solidFill>
                  <a:srgbClr val="1C2B3A"/>
                </a:solidFill>
                <a:latin typeface="Trebuchet MS"/>
              </a:rPr>
              <a:t>P</a:t>
            </a:r>
          </a:p>
          <a:p>
            <a:pPr algn="l">
              <a:spcBef>
                <a:spcPts val="600"/>
              </a:spcBef>
            </a:pPr>
            <a:r>
              <a:rPr sz="1700" b="0">
                <a:solidFill>
                  <a:srgbClr val="1C2B3A"/>
                </a:solidFill>
                <a:latin typeface="Trebuchet MS"/>
              </a:rPr>
              <a:t>Place — Distribution</a:t>
            </a:r>
          </a:p>
          <a:p>
            <a:pPr algn="l">
              <a:spcBef>
                <a:spcPts val="600"/>
              </a:spcBef>
            </a:pPr>
            <a:r>
              <a:rPr sz="1700" b="0">
                <a:solidFill>
                  <a:srgbClr val="1C2B3A"/>
                </a:solidFill>
                <a:latin typeface="Trebuchet MS"/>
              </a:rPr>
              <a:t>Canaux, points de vente, logistique, couverture géographique. Comment et où le client accède au produit.</a:t>
            </a:r>
          </a:p>
          <a:p>
            <a:pPr algn="l">
              <a:spcBef>
                <a:spcPts val="600"/>
              </a:spcBef>
            </a:pPr>
            <a:r>
              <a:rPr sz="1700" b="0">
                <a:solidFill>
                  <a:srgbClr val="1C2B3A"/>
                </a:solidFill>
                <a:latin typeface="Trebuchet MS"/>
              </a:rPr>
              <a:t>P</a:t>
            </a:r>
          </a:p>
          <a:p>
            <a:pPr algn="l">
              <a:spcBef>
                <a:spcPts val="600"/>
              </a:spcBef>
            </a:pPr>
            <a:r>
              <a:rPr sz="1700" b="0">
                <a:solidFill>
                  <a:srgbClr val="1C2B3A"/>
                </a:solidFill>
                <a:latin typeface="Trebuchet MS"/>
              </a:rPr>
              <a:t>Promotion — Communication</a:t>
            </a:r>
          </a:p>
          <a:p>
            <a:pPr algn="l">
              <a:spcBef>
                <a:spcPts val="600"/>
              </a:spcBef>
            </a:pPr>
            <a:r>
              <a:rPr sz="1700" b="0">
                <a:solidFill>
                  <a:srgbClr val="1C2B3A"/>
                </a:solidFill>
                <a:latin typeface="Trebuchet MS"/>
              </a:rPr>
              <a:t>Publicité, promotion des ventes, RP, marketing digital, force de vente. Comment l'entreprise fait connaître et désirer son offre.</a:t>
            </a:r>
          </a:p>
        </p:txBody>
      </p:sp>
    </p:spTree>
  </p:cSld>
  <p:clrMapOvr>
    <a:masterClrMapping/>
  </p:clrMapOvr>
  <p:transition spd="med" dur="630">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4EF"/>
        </a:solidFill>
        <a:effectLst/>
      </p:bgPr>
    </p:bg>
    <p:spTree>
      <p:nvGrpSpPr>
        <p:cNvPr id="1" name=""/>
        <p:cNvGrpSpPr/>
        <p:nvPr/>
      </p:nvGrpSpPr>
      <p:grpSpPr/>
      <p:sp>
        <p:nvSpPr>
          <p:cNvPr id="2" name="Rectangle 1"/>
          <p:cNvSpPr/>
          <p:nvPr/>
        </p:nvSpPr>
        <p:spPr>
          <a:xfrm>
            <a:off x="0" y="0"/>
            <a:ext cx="9144000" cy="1417320"/>
          </a:xfrm>
          <a:prstGeom prst="rect">
            <a:avLst/>
          </a:prstGeom>
          <a:solidFill>
            <a:srgbClr val="1C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4173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05600"/>
            <a:ext cx="9144000" cy="1524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1168"/>
            <a:ext cx="8028432" cy="1005840"/>
          </a:xfrm>
          <a:prstGeom prst="rect">
            <a:avLst/>
          </a:prstGeom>
          <a:noFill/>
        </p:spPr>
        <p:txBody>
          <a:bodyPr wrap="square"/>
          <a:lstStyle/>
          <a:p>
            <a:pPr algn="l"/>
            <a:r>
              <a:rPr sz="3200" b="1" i="0">
                <a:solidFill>
                  <a:srgbClr val="FFFFFF"/>
                </a:solidFill>
                <a:latin typeface="Georgia"/>
              </a:rPr>
              <a:t>THÈME 1</a:t>
            </a:r>
          </a:p>
        </p:txBody>
      </p:sp>
      <p:sp>
        <p:nvSpPr>
          <p:cNvPr id="6" name="TextBox 5"/>
          <p:cNvSpPr txBox="1"/>
          <p:nvPr/>
        </p:nvSpPr>
        <p:spPr>
          <a:xfrm>
            <a:off x="594360" y="1691640"/>
            <a:ext cx="3794760" cy="4709160"/>
          </a:xfrm>
          <a:prstGeom prst="rect">
            <a:avLst/>
          </a:prstGeom>
          <a:noFill/>
        </p:spPr>
        <p:txBody>
          <a:bodyPr wrap="square"/>
          <a:lstStyle/>
          <a:p>
            <a:pPr algn="l">
              <a:spcBef>
                <a:spcPts val="0"/>
              </a:spcBef>
            </a:pPr>
            <a:r>
              <a:rPr sz="1700" b="0">
                <a:solidFill>
                  <a:srgbClr val="1C2B3A"/>
                </a:solidFill>
                <a:latin typeface="Trebuchet MS"/>
              </a:rPr>
              <a:t>Du 4P au 7P : le marketing des services</a:t>
            </a:r>
          </a:p>
          <a:p>
            <a:pPr algn="l">
              <a:spcBef>
                <a:spcPts val="600"/>
              </a:spcBef>
            </a:pPr>
            <a:r>
              <a:rPr sz="1700" b="0">
                <a:solidFill>
                  <a:srgbClr val="1C2B3A"/>
                </a:solidFill>
                <a:latin typeface="Trebuchet MS"/>
              </a:rPr>
              <a:t>7 / 15</a:t>
            </a:r>
          </a:p>
          <a:p>
            <a:pPr algn="l">
              <a:spcBef>
                <a:spcPts val="600"/>
              </a:spcBef>
            </a:pPr>
            <a:r>
              <a:rPr sz="1700" b="0">
                <a:solidFill>
                  <a:srgbClr val="1C2B3A"/>
                </a:solidFill>
                <a:latin typeface="Trebuchet MS"/>
              </a:rPr>
              <a:t>Booms &amp; Bitner (1981) ajoutent trois P pour les activités de service ce qui est particulièrement pertinent en immobilier.</a:t>
            </a:r>
          </a:p>
          <a:p>
            <a:pPr algn="l">
              <a:spcBef>
                <a:spcPts val="600"/>
              </a:spcBef>
            </a:pPr>
            <a:r>
              <a:rPr sz="1700" b="0">
                <a:solidFill>
                  <a:srgbClr val="1C2B3A"/>
                </a:solidFill>
                <a:latin typeface="Trebuchet MS"/>
              </a:rPr>
              <a:t>Les 4P historiques</a:t>
            </a:r>
          </a:p>
          <a:p>
            <a:pPr algn="l">
              <a:spcBef>
                <a:spcPts val="600"/>
              </a:spcBef>
            </a:pPr>
            <a:r>
              <a:rPr sz="1700" b="0">
                <a:solidFill>
                  <a:srgbClr val="1C2B3A"/>
                </a:solidFill>
                <a:latin typeface="Trebuchet MS"/>
              </a:rPr>
              <a:t>Product</a:t>
            </a:r>
          </a:p>
          <a:p>
            <a:pPr algn="l">
              <a:spcBef>
                <a:spcPts val="600"/>
              </a:spcBef>
            </a:pPr>
            <a:r>
              <a:rPr sz="1700" b="0">
                <a:solidFill>
                  <a:srgbClr val="1C2B3A"/>
                </a:solidFill>
                <a:latin typeface="Trebuchet MS"/>
              </a:rPr>
              <a:t>Le bien — neuf, ancien, locatif, tertiaire</a:t>
            </a:r>
          </a:p>
          <a:p>
            <a:pPr algn="l">
              <a:spcBef>
                <a:spcPts val="600"/>
              </a:spcBef>
            </a:pPr>
            <a:r>
              <a:rPr sz="1700" b="0">
                <a:solidFill>
                  <a:srgbClr val="1C2B3A"/>
                </a:solidFill>
                <a:latin typeface="Trebuchet MS"/>
              </a:rPr>
              <a:t>Price</a:t>
            </a:r>
          </a:p>
          <a:p>
            <a:pPr algn="l">
              <a:spcBef>
                <a:spcPts val="600"/>
              </a:spcBef>
            </a:pPr>
            <a:r>
              <a:rPr sz="1700" b="0">
                <a:solidFill>
                  <a:srgbClr val="1C2B3A"/>
                </a:solidFill>
                <a:latin typeface="Trebuchet MS"/>
              </a:rPr>
              <a:t>Prix au m², plan de financement, frais</a:t>
            </a:r>
          </a:p>
          <a:p>
            <a:pPr algn="l">
              <a:spcBef>
                <a:spcPts val="600"/>
              </a:spcBef>
            </a:pPr>
            <a:r>
              <a:rPr sz="1700" b="0">
                <a:solidFill>
                  <a:srgbClr val="1C2B3A"/>
                </a:solidFill>
                <a:latin typeface="Trebuchet MS"/>
              </a:rPr>
              <a:t>Place</a:t>
            </a:r>
          </a:p>
        </p:txBody>
      </p:sp>
      <p:sp>
        <p:nvSpPr>
          <p:cNvPr id="7" name="Rectangle 6"/>
          <p:cNvSpPr/>
          <p:nvPr/>
        </p:nvSpPr>
        <p:spPr>
          <a:xfrm>
            <a:off x="4553712" y="1783080"/>
            <a:ext cx="76200" cy="452628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691640"/>
            <a:ext cx="3794760" cy="4709160"/>
          </a:xfrm>
          <a:prstGeom prst="rect">
            <a:avLst/>
          </a:prstGeom>
          <a:noFill/>
        </p:spPr>
        <p:txBody>
          <a:bodyPr wrap="square"/>
          <a:lstStyle/>
          <a:p>
            <a:pPr algn="l">
              <a:spcBef>
                <a:spcPts val="0"/>
              </a:spcBef>
            </a:pPr>
            <a:r>
              <a:rPr sz="1700" b="0">
                <a:solidFill>
                  <a:srgbClr val="1C2B3A"/>
                </a:solidFill>
                <a:latin typeface="Trebuchet MS"/>
              </a:rPr>
              <a:t>Agences, plateformes, commercialisation directe</a:t>
            </a:r>
          </a:p>
          <a:p>
            <a:pPr algn="l">
              <a:spcBef>
                <a:spcPts val="600"/>
              </a:spcBef>
            </a:pPr>
            <a:r>
              <a:rPr sz="1700" b="0">
                <a:solidFill>
                  <a:srgbClr val="1C2B3A"/>
                </a:solidFill>
                <a:latin typeface="Trebuchet MS"/>
              </a:rPr>
              <a:t>Promotion</a:t>
            </a:r>
          </a:p>
          <a:p>
            <a:pPr algn="l">
              <a:spcBef>
                <a:spcPts val="600"/>
              </a:spcBef>
            </a:pPr>
            <a:r>
              <a:rPr sz="1700" b="0">
                <a:solidFill>
                  <a:srgbClr val="1C2B3A"/>
                </a:solidFill>
                <a:latin typeface="Trebuchet MS"/>
              </a:rPr>
              <a:t>Site web, salons, brochures, SEO/SEA, RP</a:t>
            </a:r>
          </a:p>
          <a:p>
            <a:pPr algn="l">
              <a:spcBef>
                <a:spcPts val="600"/>
              </a:spcBef>
            </a:pPr>
            <a:r>
              <a:rPr sz="1700" b="0">
                <a:solidFill>
                  <a:srgbClr val="1C2B3A"/>
                </a:solidFill>
                <a:latin typeface="Trebuchet MS"/>
              </a:rPr>
              <a:t>Les 3P ajoutés (services)</a:t>
            </a:r>
          </a:p>
          <a:p>
            <a:pPr algn="l">
              <a:spcBef>
                <a:spcPts val="600"/>
              </a:spcBef>
            </a:pPr>
            <a:r>
              <a:rPr sz="1700" b="0">
                <a:solidFill>
                  <a:srgbClr val="1C2B3A"/>
                </a:solidFill>
                <a:latin typeface="Trebuchet MS"/>
              </a:rPr>
              <a:t>People — Personnes</a:t>
            </a:r>
          </a:p>
          <a:p>
            <a:pPr algn="l">
              <a:spcBef>
                <a:spcPts val="600"/>
              </a:spcBef>
            </a:pPr>
            <a:r>
              <a:rPr sz="1700" b="0">
                <a:solidFill>
                  <a:srgbClr val="1C2B3A"/>
                </a:solidFill>
                <a:latin typeface="Trebuchet MS"/>
              </a:rPr>
              <a:t>Conseillers, équipes commerciales, SAV : la qualité de la relation humaine est un produit en soi</a:t>
            </a:r>
          </a:p>
          <a:p>
            <a:pPr algn="l">
              <a:spcBef>
                <a:spcPts val="600"/>
              </a:spcBef>
            </a:pPr>
            <a:r>
              <a:rPr sz="1700" b="0">
                <a:solidFill>
                  <a:srgbClr val="1C2B3A"/>
                </a:solidFill>
                <a:latin typeface="Trebuchet MS"/>
              </a:rPr>
              <a:t>Process — Processus</a:t>
            </a:r>
          </a:p>
          <a:p>
            <a:pPr algn="l">
              <a:spcBef>
                <a:spcPts val="600"/>
              </a:spcBef>
            </a:pPr>
            <a:r>
              <a:rPr sz="1700" b="0">
                <a:solidFill>
                  <a:srgbClr val="1C2B3A"/>
                </a:solidFill>
                <a:latin typeface="Trebuchet MS"/>
              </a:rPr>
              <a:t>Procédures de vente, gestion des dossiers, suivi de chantier, livraison</a:t>
            </a:r>
          </a:p>
          <a:p>
            <a:pPr algn="l">
              <a:spcBef>
                <a:spcPts val="600"/>
              </a:spcBef>
            </a:pPr>
            <a:r>
              <a:rPr sz="1700" b="0">
                <a:solidFill>
                  <a:srgbClr val="1C2B3A"/>
                </a:solidFill>
                <a:latin typeface="Trebuchet MS"/>
              </a:rPr>
              <a:t>Physical evidence — Preuve physique</a:t>
            </a:r>
          </a:p>
          <a:p>
            <a:pPr algn="l">
              <a:spcBef>
                <a:spcPts val="600"/>
              </a:spcBef>
            </a:pPr>
            <a:r>
              <a:rPr sz="1700" b="0">
                <a:solidFill>
                  <a:srgbClr val="1C2B3A"/>
                </a:solidFill>
                <a:latin typeface="Trebuchet MS"/>
              </a:rPr>
              <a:t>Bulles de vente, appartements témoins, supports, charte visuelle, livret de livraison</a:t>
            </a:r>
          </a:p>
        </p:txBody>
      </p:sp>
    </p:spTree>
  </p:cSld>
  <p:clrMapOvr>
    <a:masterClrMapping/>
  </p:clrMapOvr>
  <p:transition spd="med" dur="484">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Rectangle 1"/>
          <p:cNvSpPr/>
          <p:nvPr/>
        </p:nvSpPr>
        <p:spPr>
          <a:xfrm>
            <a:off x="0" y="5623560"/>
            <a:ext cx="9144000" cy="123444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94360" y="1714500"/>
            <a:ext cx="502920" cy="5029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14500"/>
            <a:ext cx="502920" cy="502920"/>
          </a:xfrm>
          <a:prstGeom prst="rect">
            <a:avLst/>
          </a:prstGeom>
          <a:noFill/>
        </p:spPr>
        <p:txBody>
          <a:bodyPr wrap="square"/>
          <a:lstStyle/>
          <a:p>
            <a:pPr algn="ctr"/>
            <a:r>
              <a:rPr sz="2600" b="1" i="0">
                <a:solidFill>
                  <a:srgbClr val="1C2B3A"/>
                </a:solidFill>
                <a:latin typeface="Georgia"/>
              </a:rPr>
              <a:t>2</a:t>
            </a:r>
          </a:p>
        </p:txBody>
      </p:sp>
      <p:sp>
        <p:nvSpPr>
          <p:cNvPr id="5" name="TextBox 4"/>
          <p:cNvSpPr txBox="1"/>
          <p:nvPr/>
        </p:nvSpPr>
        <p:spPr>
          <a:xfrm>
            <a:off x="1371600" y="1508760"/>
            <a:ext cx="7178040" cy="1463040"/>
          </a:xfrm>
          <a:prstGeom prst="rect">
            <a:avLst/>
          </a:prstGeom>
          <a:noFill/>
        </p:spPr>
        <p:txBody>
          <a:bodyPr wrap="square"/>
          <a:lstStyle/>
          <a:p>
            <a:pPr algn="l"/>
            <a:r>
              <a:rPr sz="4400" b="1" i="0">
                <a:solidFill>
                  <a:srgbClr val="C8A84B"/>
                </a:solidFill>
                <a:latin typeface="Georgia"/>
              </a:rPr>
              <a:t>THÈME 1</a:t>
            </a:r>
          </a:p>
        </p:txBody>
      </p:sp>
      <p:sp>
        <p:nvSpPr>
          <p:cNvPr id="6" name="TextBox 5"/>
          <p:cNvSpPr txBox="1"/>
          <p:nvPr/>
        </p:nvSpPr>
        <p:spPr>
          <a:xfrm>
            <a:off x="594360" y="4251960"/>
            <a:ext cx="7955280" cy="822960"/>
          </a:xfrm>
          <a:prstGeom prst="rect">
            <a:avLst/>
          </a:prstGeom>
          <a:noFill/>
        </p:spPr>
        <p:txBody>
          <a:bodyPr wrap="square"/>
          <a:lstStyle/>
          <a:p>
            <a:pPr algn="l"/>
            <a:r>
              <a:rPr sz="2000" b="0" i="1">
                <a:solidFill>
                  <a:srgbClr val="FFFFFF"/>
                </a:solidFill>
                <a:latin typeface="Trebuchet MS"/>
              </a:rPr>
              <a:t>Lecture des 7P appliquée à l'immobilier</a:t>
            </a:r>
          </a:p>
        </p:txBody>
      </p:sp>
    </p:spTree>
  </p:cSld>
  <p:clrMapOvr>
    <a:masterClrMapping/>
  </p:clrMapOvr>
  <p:transition spd="med" dur="405">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Rectangle 1"/>
          <p:cNvSpPr/>
          <p:nvPr/>
        </p:nvSpPr>
        <p:spPr>
          <a:xfrm>
            <a:off x="0" y="5623560"/>
            <a:ext cx="9144000" cy="123444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94360" y="1714500"/>
            <a:ext cx="502920" cy="5029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14500"/>
            <a:ext cx="502920" cy="502920"/>
          </a:xfrm>
          <a:prstGeom prst="rect">
            <a:avLst/>
          </a:prstGeom>
          <a:noFill/>
        </p:spPr>
        <p:txBody>
          <a:bodyPr wrap="square"/>
          <a:lstStyle/>
          <a:p>
            <a:pPr algn="ctr"/>
            <a:r>
              <a:rPr sz="2600" b="1" i="0">
                <a:solidFill>
                  <a:srgbClr val="1C2B3A"/>
                </a:solidFill>
                <a:latin typeface="Georgia"/>
              </a:rPr>
              <a:t>3</a:t>
            </a:r>
          </a:p>
        </p:txBody>
      </p:sp>
      <p:sp>
        <p:nvSpPr>
          <p:cNvPr id="5" name="TextBox 4"/>
          <p:cNvSpPr txBox="1"/>
          <p:nvPr/>
        </p:nvSpPr>
        <p:spPr>
          <a:xfrm>
            <a:off x="1371600" y="1508760"/>
            <a:ext cx="7178040" cy="1463040"/>
          </a:xfrm>
          <a:prstGeom prst="rect">
            <a:avLst/>
          </a:prstGeom>
          <a:noFill/>
        </p:spPr>
        <p:txBody>
          <a:bodyPr wrap="square"/>
          <a:lstStyle/>
          <a:p>
            <a:pPr algn="l"/>
            <a:r>
              <a:rPr sz="4400" b="1" i="0">
                <a:solidFill>
                  <a:srgbClr val="C8A84B"/>
                </a:solidFill>
                <a:latin typeface="Georgia"/>
              </a:rPr>
              <a:t>THÈME 2</a:t>
            </a:r>
          </a:p>
        </p:txBody>
      </p:sp>
      <p:sp>
        <p:nvSpPr>
          <p:cNvPr id="6" name="TextBox 5"/>
          <p:cNvSpPr txBox="1"/>
          <p:nvPr/>
        </p:nvSpPr>
        <p:spPr>
          <a:xfrm>
            <a:off x="594360" y="4251960"/>
            <a:ext cx="7955280" cy="822960"/>
          </a:xfrm>
          <a:prstGeom prst="rect">
            <a:avLst/>
          </a:prstGeom>
          <a:noFill/>
        </p:spPr>
        <p:txBody>
          <a:bodyPr wrap="square"/>
          <a:lstStyle/>
          <a:p>
            <a:pPr algn="l"/>
            <a:r>
              <a:rPr sz="2000" b="0" i="1">
                <a:solidFill>
                  <a:srgbClr val="FFFFFF"/>
                </a:solidFill>
                <a:latin typeface="Trebuchet MS"/>
              </a:rPr>
              <a:t>La GRC &amp; le marketing relationnel</a:t>
            </a:r>
          </a:p>
        </p:txBody>
      </p:sp>
    </p:spTree>
  </p:cSld>
  <p:clrMapOvr>
    <a:masterClrMapping/>
  </p:clrMapOvr>
  <p:transition spd="med" dur="558">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CEAE0"/>
        </a:solidFill>
        <a:effectLst/>
      </p:bgPr>
    </p:bg>
    <p:spTree>
      <p:nvGrpSpPr>
        <p:cNvPr id="1" name=""/>
        <p:cNvGrpSpPr/>
        <p:nvPr/>
      </p:nvGrpSpPr>
      <p:grpSpPr/>
      <p:sp>
        <p:nvSpPr>
          <p:cNvPr id="2" name="Rectangle 1"/>
          <p:cNvSpPr/>
          <p:nvPr/>
        </p:nvSpPr>
        <p:spPr>
          <a:xfrm>
            <a:off x="0" y="0"/>
            <a:ext cx="9144000" cy="1417320"/>
          </a:xfrm>
          <a:prstGeom prst="rect">
            <a:avLst/>
          </a:prstGeom>
          <a:solidFill>
            <a:srgbClr val="1C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4173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05600"/>
            <a:ext cx="9144000" cy="1524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1168"/>
            <a:ext cx="8028432" cy="1005840"/>
          </a:xfrm>
          <a:prstGeom prst="rect">
            <a:avLst/>
          </a:prstGeom>
          <a:noFill/>
        </p:spPr>
        <p:txBody>
          <a:bodyPr wrap="square"/>
          <a:lstStyle/>
          <a:p>
            <a:pPr algn="l"/>
            <a:r>
              <a:rPr sz="3200" b="1" i="0">
                <a:solidFill>
                  <a:srgbClr val="FFFFFF"/>
                </a:solidFill>
                <a:latin typeface="Georgia"/>
              </a:rPr>
              <a:t>THÈME 2</a:t>
            </a:r>
          </a:p>
        </p:txBody>
      </p:sp>
      <p:sp>
        <p:nvSpPr>
          <p:cNvPr id="6" name="TextBox 5"/>
          <p:cNvSpPr txBox="1"/>
          <p:nvPr/>
        </p:nvSpPr>
        <p:spPr>
          <a:xfrm>
            <a:off x="594360" y="1691640"/>
            <a:ext cx="3794760" cy="4709160"/>
          </a:xfrm>
          <a:prstGeom prst="rect">
            <a:avLst/>
          </a:prstGeom>
          <a:noFill/>
        </p:spPr>
        <p:txBody>
          <a:bodyPr wrap="square"/>
          <a:lstStyle/>
          <a:p>
            <a:pPr algn="l">
              <a:spcBef>
                <a:spcPts val="0"/>
              </a:spcBef>
            </a:pPr>
            <a:r>
              <a:rPr sz="1700" b="0">
                <a:solidFill>
                  <a:srgbClr val="1C2B3A"/>
                </a:solidFill>
                <a:latin typeface="Trebuchet MS"/>
              </a:rPr>
              <a:t>GRC &amp; marketing relationnel</a:t>
            </a:r>
          </a:p>
          <a:p>
            <a:pPr algn="l">
              <a:spcBef>
                <a:spcPts val="600"/>
              </a:spcBef>
            </a:pPr>
            <a:r>
              <a:rPr sz="1700" b="0">
                <a:solidFill>
                  <a:srgbClr val="1C2B3A"/>
                </a:solidFill>
                <a:latin typeface="Trebuchet MS"/>
              </a:rPr>
              <a:t>10 / 15</a:t>
            </a:r>
          </a:p>
        </p:txBody>
      </p:sp>
      <p:sp>
        <p:nvSpPr>
          <p:cNvPr id="7" name="Rectangle 6"/>
          <p:cNvSpPr/>
          <p:nvPr/>
        </p:nvSpPr>
        <p:spPr>
          <a:xfrm>
            <a:off x="4553712" y="1783080"/>
            <a:ext cx="76200" cy="452628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691640"/>
            <a:ext cx="3794760" cy="4709160"/>
          </a:xfrm>
          <a:prstGeom prst="rect">
            <a:avLst/>
          </a:prstGeom>
          <a:noFill/>
        </p:spPr>
        <p:txBody>
          <a:bodyPr wrap="square"/>
          <a:lstStyle/>
          <a:p>
            <a:pPr algn="l">
              <a:spcBef>
                <a:spcPts val="0"/>
              </a:spcBef>
            </a:pPr>
            <a:r>
              <a:rPr sz="1700" b="0">
                <a:solidFill>
                  <a:srgbClr val="1C2B3A"/>
                </a:solidFill>
                <a:latin typeface="Trebuchet MS"/>
              </a:rPr>
              <a:t>Définition.  La Gestion de la Relation Client (GRC ou CRM) regroupe l'ensemble des stratégies, processus et outils visant à identifier, attirer, fidéliser et développer une relation durable et personnalisée avec chaque client. Le marketing relationnel s'oppose au marketing transactionnel : il privilégie la valeur créée sur la durée du cycle de vie client (Lifetime value - LTV) à la maximisation d'une vente isolée.</a:t>
            </a:r>
          </a:p>
          <a:p>
            <a:pPr algn="l">
              <a:spcBef>
                <a:spcPts val="600"/>
              </a:spcBef>
            </a:pPr>
            <a:r>
              <a:rPr sz="1700" b="0">
                <a:solidFill>
                  <a:srgbClr val="1C2B3A"/>
                </a:solidFill>
                <a:latin typeface="Trebuchet MS"/>
              </a:rPr>
              <a:t>Marketing transactionnel vs marketing relationnel</a:t>
            </a:r>
          </a:p>
        </p:txBody>
      </p:sp>
    </p:spTree>
  </p:cSld>
  <p:clrMapOvr>
    <a:masterClrMapping/>
  </p:clrMapOvr>
  <p:transition spd="med" dur="654">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4EF"/>
        </a:solidFill>
        <a:effectLst/>
      </p:bgPr>
    </p:bg>
    <p:spTree>
      <p:nvGrpSpPr>
        <p:cNvPr id="1" name=""/>
        <p:cNvGrpSpPr/>
        <p:nvPr/>
      </p:nvGrpSpPr>
      <p:grpSpPr/>
      <p:sp>
        <p:nvSpPr>
          <p:cNvPr id="2" name="Rectangle 1"/>
          <p:cNvSpPr/>
          <p:nvPr/>
        </p:nvSpPr>
        <p:spPr>
          <a:xfrm>
            <a:off x="0" y="0"/>
            <a:ext cx="9144000" cy="1417320"/>
          </a:xfrm>
          <a:prstGeom prst="rect">
            <a:avLst/>
          </a:prstGeom>
          <a:solidFill>
            <a:srgbClr val="1C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4173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05600"/>
            <a:ext cx="9144000" cy="1524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1168"/>
            <a:ext cx="8028432" cy="1005840"/>
          </a:xfrm>
          <a:prstGeom prst="rect">
            <a:avLst/>
          </a:prstGeom>
          <a:noFill/>
        </p:spPr>
        <p:txBody>
          <a:bodyPr wrap="square"/>
          <a:lstStyle/>
          <a:p>
            <a:pPr algn="l"/>
            <a:r>
              <a:rPr sz="3200" b="1" i="0">
                <a:solidFill>
                  <a:srgbClr val="FFFFFF"/>
                </a:solidFill>
                <a:latin typeface="Georgia"/>
              </a:rPr>
              <a:t>THÈME 2</a:t>
            </a:r>
          </a:p>
        </p:txBody>
      </p:sp>
      <p:sp>
        <p:nvSpPr>
          <p:cNvPr id="6" name="TextBox 5"/>
          <p:cNvSpPr txBox="1"/>
          <p:nvPr/>
        </p:nvSpPr>
        <p:spPr>
          <a:xfrm>
            <a:off x="594360" y="1691640"/>
            <a:ext cx="3794760" cy="4709160"/>
          </a:xfrm>
          <a:prstGeom prst="rect">
            <a:avLst/>
          </a:prstGeom>
          <a:noFill/>
        </p:spPr>
        <p:txBody>
          <a:bodyPr wrap="square"/>
          <a:lstStyle/>
          <a:p>
            <a:pPr algn="l">
              <a:spcBef>
                <a:spcPts val="0"/>
              </a:spcBef>
            </a:pPr>
            <a:r>
              <a:rPr sz="1700" b="0">
                <a:solidFill>
                  <a:srgbClr val="1C2B3A"/>
                </a:solidFill>
                <a:latin typeface="Trebuchet MS"/>
              </a:rPr>
              <a:t>Le parcours client : définition &amp; enjeux</a:t>
            </a:r>
          </a:p>
          <a:p>
            <a:pPr algn="l">
              <a:spcBef>
                <a:spcPts val="600"/>
              </a:spcBef>
            </a:pPr>
            <a:r>
              <a:rPr sz="1700" b="0">
                <a:solidFill>
                  <a:srgbClr val="1C2B3A"/>
                </a:solidFill>
                <a:latin typeface="Trebuchet MS"/>
              </a:rPr>
              <a:t>11 / 15</a:t>
            </a:r>
          </a:p>
          <a:p>
            <a:pPr algn="l">
              <a:spcBef>
                <a:spcPts val="600"/>
              </a:spcBef>
            </a:pPr>
            <a:r>
              <a:rPr sz="1700" b="0">
                <a:solidFill>
                  <a:srgbClr val="1C2B3A"/>
                </a:solidFill>
                <a:latin typeface="Trebuchet MS"/>
              </a:rPr>
              <a:t>Définition.  Le parcours client (customer journey) désigne l'ensemble des étapes physiques et digitales qu'un client traverse dans sa relation avec une marque depuis l'apparition du besoin jusqu'à l'usage et la recommandation.</a:t>
            </a:r>
          </a:p>
          <a:p>
            <a:pPr algn="l">
              <a:spcBef>
                <a:spcPts val="600"/>
              </a:spcBef>
            </a:pPr>
            <a:r>
              <a:rPr sz="1700" b="0">
                <a:solidFill>
                  <a:srgbClr val="1C2B3A"/>
                </a:solidFill>
                <a:latin typeface="Trebuchet MS"/>
              </a:rPr>
              <a:t>AVANT</a:t>
            </a:r>
          </a:p>
          <a:p>
            <a:pPr algn="l">
              <a:spcBef>
                <a:spcPts val="600"/>
              </a:spcBef>
            </a:pPr>
            <a:r>
              <a:rPr sz="1700" b="0">
                <a:solidFill>
                  <a:srgbClr val="1C2B3A"/>
                </a:solidFill>
                <a:latin typeface="Trebuchet MS"/>
              </a:rPr>
              <a:t>Prise de conscience</a:t>
            </a:r>
          </a:p>
          <a:p>
            <a:pPr algn="l">
              <a:spcBef>
                <a:spcPts val="600"/>
              </a:spcBef>
            </a:pPr>
            <a:r>
              <a:rPr sz="1700" b="0">
                <a:solidFill>
                  <a:srgbClr val="1C2B3A"/>
                </a:solidFill>
                <a:latin typeface="Trebuchet MS"/>
              </a:rPr>
              <a:t>Recherche d'information, comparaison, premières visites, le client construit sa décision</a:t>
            </a:r>
          </a:p>
        </p:txBody>
      </p:sp>
      <p:sp>
        <p:nvSpPr>
          <p:cNvPr id="7" name="Rectangle 6"/>
          <p:cNvSpPr/>
          <p:nvPr/>
        </p:nvSpPr>
        <p:spPr>
          <a:xfrm>
            <a:off x="4553712" y="1783080"/>
            <a:ext cx="76200" cy="452628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691640"/>
            <a:ext cx="3794760" cy="4709160"/>
          </a:xfrm>
          <a:prstGeom prst="rect">
            <a:avLst/>
          </a:prstGeom>
          <a:noFill/>
        </p:spPr>
        <p:txBody>
          <a:bodyPr wrap="square"/>
          <a:lstStyle/>
          <a:p>
            <a:pPr algn="l">
              <a:spcBef>
                <a:spcPts val="0"/>
              </a:spcBef>
            </a:pPr>
            <a:r>
              <a:rPr sz="1700" b="0">
                <a:solidFill>
                  <a:srgbClr val="1C2B3A"/>
                </a:solidFill>
                <a:latin typeface="Trebuchet MS"/>
              </a:rPr>
              <a:t>PENDANT</a:t>
            </a:r>
          </a:p>
          <a:p>
            <a:pPr algn="l">
              <a:spcBef>
                <a:spcPts val="600"/>
              </a:spcBef>
            </a:pPr>
            <a:r>
              <a:rPr sz="1700" b="0">
                <a:solidFill>
                  <a:srgbClr val="1C2B3A"/>
                </a:solidFill>
                <a:latin typeface="Trebuchet MS"/>
              </a:rPr>
              <a:t>Acte d'achat</a:t>
            </a:r>
          </a:p>
          <a:p>
            <a:pPr algn="l">
              <a:spcBef>
                <a:spcPts val="600"/>
              </a:spcBef>
            </a:pPr>
            <a:r>
              <a:rPr sz="1700" b="0">
                <a:solidFill>
                  <a:srgbClr val="1C2B3A"/>
                </a:solidFill>
                <a:latin typeface="Trebuchet MS"/>
              </a:rPr>
              <a:t>Réservation, négociation, signature, financement</a:t>
            </a:r>
          </a:p>
          <a:p>
            <a:pPr algn="l">
              <a:spcBef>
                <a:spcPts val="600"/>
              </a:spcBef>
            </a:pPr>
            <a:r>
              <a:rPr sz="1700" b="0">
                <a:solidFill>
                  <a:srgbClr val="1C2B3A"/>
                </a:solidFill>
                <a:latin typeface="Trebuchet MS"/>
              </a:rPr>
              <a:t>APRÈS</a:t>
            </a:r>
          </a:p>
          <a:p>
            <a:pPr algn="l">
              <a:spcBef>
                <a:spcPts val="600"/>
              </a:spcBef>
            </a:pPr>
            <a:r>
              <a:rPr sz="1700" b="0">
                <a:solidFill>
                  <a:srgbClr val="1C2B3A"/>
                </a:solidFill>
                <a:latin typeface="Trebuchet MS"/>
              </a:rPr>
              <a:t>Usage &amp; fidélisation</a:t>
            </a:r>
          </a:p>
          <a:p>
            <a:pPr algn="l">
              <a:spcBef>
                <a:spcPts val="600"/>
              </a:spcBef>
            </a:pPr>
            <a:r>
              <a:rPr sz="1700" b="0">
                <a:solidFill>
                  <a:srgbClr val="1C2B3A"/>
                </a:solidFill>
                <a:latin typeface="Trebuchet MS"/>
              </a:rPr>
              <a:t>Livraison, SAV, garantie, recommendation, capital de confiance pour de futurs projets</a:t>
            </a:r>
          </a:p>
        </p:txBody>
      </p:sp>
    </p:spTree>
  </p:cSld>
  <p:clrMapOvr>
    <a:masterClrMapping/>
  </p:clrMapOvr>
  <p:transition spd="med" dur="637">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CEAE0"/>
        </a:solidFill>
        <a:effectLst/>
      </p:bgPr>
    </p:bg>
    <p:spTree>
      <p:nvGrpSpPr>
        <p:cNvPr id="1" name=""/>
        <p:cNvGrpSpPr/>
        <p:nvPr/>
      </p:nvGrpSpPr>
      <p:grpSpPr/>
      <p:sp>
        <p:nvSpPr>
          <p:cNvPr id="2" name="Rectangle 1"/>
          <p:cNvSpPr/>
          <p:nvPr/>
        </p:nvSpPr>
        <p:spPr>
          <a:xfrm>
            <a:off x="0" y="0"/>
            <a:ext cx="9144000" cy="1417320"/>
          </a:xfrm>
          <a:prstGeom prst="rect">
            <a:avLst/>
          </a:prstGeom>
          <a:solidFill>
            <a:srgbClr val="1C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4173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05600"/>
            <a:ext cx="9144000" cy="1524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1168"/>
            <a:ext cx="8028432" cy="1005840"/>
          </a:xfrm>
          <a:prstGeom prst="rect">
            <a:avLst/>
          </a:prstGeom>
          <a:noFill/>
        </p:spPr>
        <p:txBody>
          <a:bodyPr wrap="square"/>
          <a:lstStyle/>
          <a:p>
            <a:pPr algn="l"/>
            <a:r>
              <a:rPr sz="3200" b="1" i="0">
                <a:solidFill>
                  <a:srgbClr val="FFFFFF"/>
                </a:solidFill>
                <a:latin typeface="Georgia"/>
              </a:rPr>
              <a:t>ÉTUDE DE CAS — BOUYGUES IMMOBILIER</a:t>
            </a:r>
          </a:p>
        </p:txBody>
      </p:sp>
      <p:sp>
        <p:nvSpPr>
          <p:cNvPr id="6" name="TextBox 5"/>
          <p:cNvSpPr txBox="1"/>
          <p:nvPr/>
        </p:nvSpPr>
        <p:spPr>
          <a:xfrm>
            <a:off x="594360" y="1691640"/>
            <a:ext cx="3794760" cy="4709160"/>
          </a:xfrm>
          <a:prstGeom prst="rect">
            <a:avLst/>
          </a:prstGeom>
          <a:noFill/>
        </p:spPr>
        <p:txBody>
          <a:bodyPr wrap="square"/>
          <a:lstStyle/>
          <a:p>
            <a:pPr algn="l">
              <a:spcBef>
                <a:spcPts val="0"/>
              </a:spcBef>
            </a:pPr>
            <a:r>
              <a:rPr sz="1700" b="0">
                <a:solidFill>
                  <a:srgbClr val="1C2B3A"/>
                </a:solidFill>
                <a:latin typeface="Trebuchet MS"/>
              </a:rPr>
              <a:t>Phase 1 — Avant l'achat</a:t>
            </a:r>
          </a:p>
          <a:p>
            <a:pPr algn="l">
              <a:spcBef>
                <a:spcPts val="600"/>
              </a:spcBef>
            </a:pPr>
            <a:r>
              <a:rPr sz="1700" b="0">
                <a:solidFill>
                  <a:srgbClr val="1C2B3A"/>
                </a:solidFill>
                <a:latin typeface="Trebuchet MS"/>
              </a:rPr>
              <a:t>12 / 15</a:t>
            </a:r>
          </a:p>
          <a:p>
            <a:pPr algn="l">
              <a:spcBef>
                <a:spcPts val="600"/>
              </a:spcBef>
            </a:pPr>
            <a:r>
              <a:rPr sz="1700" b="0">
                <a:solidFill>
                  <a:srgbClr val="1C2B3A"/>
                </a:solidFill>
                <a:latin typeface="Trebuchet MS"/>
              </a:rPr>
              <a:t>Bouygues Immobilier : promoteur français majeur (logement neuf, immobilier d'entreprise, aménagement urbain). Ancrage de marque autour de l'innovation, du quartier durable (UrbanEra) et de la performance énergétique.</a:t>
            </a:r>
          </a:p>
          <a:p>
            <a:pPr algn="l">
              <a:spcBef>
                <a:spcPts val="600"/>
              </a:spcBef>
            </a:pPr>
            <a:r>
              <a:rPr sz="1700" b="0">
                <a:solidFill>
                  <a:srgbClr val="1C2B3A"/>
                </a:solidFill>
                <a:latin typeface="Trebuchet MS"/>
              </a:rPr>
              <a:t>Objectif marketing : transformer un visiteur anonyme en prospect qualifié</a:t>
            </a:r>
          </a:p>
          <a:p>
            <a:pPr algn="l">
              <a:spcBef>
                <a:spcPts val="600"/>
              </a:spcBef>
            </a:pPr>
            <a:r>
              <a:rPr sz="1700" b="0">
                <a:solidFill>
                  <a:srgbClr val="1C2B3A"/>
                </a:solidFill>
                <a:latin typeface="Trebuchet MS"/>
              </a:rPr>
              <a:t>Notoriété</a:t>
            </a:r>
          </a:p>
          <a:p>
            <a:pPr algn="l">
              <a:spcBef>
                <a:spcPts val="600"/>
              </a:spcBef>
            </a:pPr>
            <a:r>
              <a:rPr sz="1700" b="0">
                <a:solidFill>
                  <a:srgbClr val="1C2B3A"/>
                </a:solidFill>
                <a:latin typeface="Trebuchet MS"/>
              </a:rPr>
              <a:t>Campagnes TV &amp; digitales, sponsoring, marque employeur, partenariats institutionnels (Grand Paris, label E+C-)</a:t>
            </a:r>
          </a:p>
        </p:txBody>
      </p:sp>
      <p:sp>
        <p:nvSpPr>
          <p:cNvPr id="7" name="Rectangle 6"/>
          <p:cNvSpPr/>
          <p:nvPr/>
        </p:nvSpPr>
        <p:spPr>
          <a:xfrm>
            <a:off x="4553712" y="1783080"/>
            <a:ext cx="76200" cy="452628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691640"/>
            <a:ext cx="3794760" cy="4709160"/>
          </a:xfrm>
          <a:prstGeom prst="rect">
            <a:avLst/>
          </a:prstGeom>
          <a:noFill/>
        </p:spPr>
        <p:txBody>
          <a:bodyPr wrap="square"/>
          <a:lstStyle/>
          <a:p>
            <a:pPr algn="l">
              <a:spcBef>
                <a:spcPts val="0"/>
              </a:spcBef>
            </a:pPr>
            <a:r>
              <a:rPr sz="1700" b="0">
                <a:solidFill>
                  <a:srgbClr val="1C2B3A"/>
                </a:solidFill>
                <a:latin typeface="Trebuchet MS"/>
              </a:rPr>
              <a:t>Acquisition digitale</a:t>
            </a:r>
          </a:p>
          <a:p>
            <a:pPr algn="l">
              <a:spcBef>
                <a:spcPts val="600"/>
              </a:spcBef>
            </a:pPr>
            <a:r>
              <a:rPr sz="1700" b="0">
                <a:solidFill>
                  <a:srgbClr val="1C2B3A"/>
                </a:solidFill>
                <a:latin typeface="Trebuchet MS"/>
              </a:rPr>
              <a:t>Site bouygues-immobilier.com, présence sur SeLoger &amp; Bien'ici, retargeting, configurateurs en ligne</a:t>
            </a:r>
          </a:p>
          <a:p>
            <a:pPr algn="l">
              <a:spcBef>
                <a:spcPts val="600"/>
              </a:spcBef>
            </a:pPr>
            <a:r>
              <a:rPr sz="1700" b="0">
                <a:solidFill>
                  <a:srgbClr val="1C2B3A"/>
                </a:solidFill>
                <a:latin typeface="Trebuchet MS"/>
              </a:rPr>
              <a:t>Lead generation</a:t>
            </a:r>
          </a:p>
          <a:p>
            <a:pPr algn="l">
              <a:spcBef>
                <a:spcPts val="600"/>
              </a:spcBef>
            </a:pPr>
            <a:r>
              <a:rPr sz="1700" b="0">
                <a:solidFill>
                  <a:srgbClr val="1C2B3A"/>
                </a:solidFill>
                <a:latin typeface="Trebuchet MS"/>
              </a:rPr>
              <a:t>Formulaires de contact, demandes de documentation, simulateurs de financement, inscriptions newsletter</a:t>
            </a:r>
          </a:p>
          <a:p>
            <a:pPr algn="l">
              <a:spcBef>
                <a:spcPts val="600"/>
              </a:spcBef>
            </a:pPr>
            <a:r>
              <a:rPr sz="1700" b="0">
                <a:solidFill>
                  <a:srgbClr val="1C2B3A"/>
                </a:solidFill>
                <a:latin typeface="Trebuchet MS"/>
              </a:rPr>
              <a:t>Recommendation</a:t>
            </a:r>
          </a:p>
          <a:p>
            <a:pPr algn="l">
              <a:spcBef>
                <a:spcPts val="600"/>
              </a:spcBef>
            </a:pPr>
            <a:r>
              <a:rPr sz="1700" b="0">
                <a:solidFill>
                  <a:srgbClr val="1C2B3A"/>
                </a:solidFill>
                <a:latin typeface="Trebuchet MS"/>
              </a:rPr>
              <a:t>Visites virtuelles 3D, vidéos de chantier, témoignages clients, certifications NF Habitat HQE</a:t>
            </a:r>
          </a:p>
        </p:txBody>
      </p:sp>
    </p:spTree>
  </p:cSld>
  <p:clrMapOvr>
    <a:masterClrMapping/>
  </p:clrMapOvr>
  <p:transition spd="med" dur="532">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4EF"/>
        </a:solidFill>
        <a:effectLst/>
      </p:bgPr>
    </p:bg>
    <p:spTree>
      <p:nvGrpSpPr>
        <p:cNvPr id="1" name=""/>
        <p:cNvGrpSpPr/>
        <p:nvPr/>
      </p:nvGrpSpPr>
      <p:grpSpPr/>
      <p:sp>
        <p:nvSpPr>
          <p:cNvPr id="2" name="Rectangle 1"/>
          <p:cNvSpPr/>
          <p:nvPr/>
        </p:nvSpPr>
        <p:spPr>
          <a:xfrm>
            <a:off x="0" y="0"/>
            <a:ext cx="9144000" cy="1417320"/>
          </a:xfrm>
          <a:prstGeom prst="rect">
            <a:avLst/>
          </a:prstGeom>
          <a:solidFill>
            <a:srgbClr val="1C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4173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05600"/>
            <a:ext cx="9144000" cy="1524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1168"/>
            <a:ext cx="8028432" cy="1005840"/>
          </a:xfrm>
          <a:prstGeom prst="rect">
            <a:avLst/>
          </a:prstGeom>
          <a:noFill/>
        </p:spPr>
        <p:txBody>
          <a:bodyPr wrap="square"/>
          <a:lstStyle/>
          <a:p>
            <a:pPr algn="l"/>
            <a:r>
              <a:rPr sz="3200" b="1" i="0">
                <a:solidFill>
                  <a:srgbClr val="FFFFFF"/>
                </a:solidFill>
                <a:latin typeface="Georgia"/>
              </a:rPr>
              <a:t>ÉTUDE DE CAS — BOUYGUES IMMOBILIER</a:t>
            </a:r>
          </a:p>
        </p:txBody>
      </p:sp>
      <p:sp>
        <p:nvSpPr>
          <p:cNvPr id="6" name="TextBox 5"/>
          <p:cNvSpPr txBox="1"/>
          <p:nvPr/>
        </p:nvSpPr>
        <p:spPr>
          <a:xfrm>
            <a:off x="594360" y="1691640"/>
            <a:ext cx="3794760" cy="4709160"/>
          </a:xfrm>
          <a:prstGeom prst="rect">
            <a:avLst/>
          </a:prstGeom>
          <a:noFill/>
        </p:spPr>
        <p:txBody>
          <a:bodyPr wrap="square"/>
          <a:lstStyle/>
          <a:p>
            <a:pPr algn="l">
              <a:spcBef>
                <a:spcPts val="0"/>
              </a:spcBef>
            </a:pPr>
            <a:r>
              <a:rPr sz="1700" b="0">
                <a:solidFill>
                  <a:srgbClr val="1C2B3A"/>
                </a:solidFill>
                <a:latin typeface="Trebuchet MS"/>
              </a:rPr>
              <a:t>Phase 2 — Pendant l'achat</a:t>
            </a:r>
          </a:p>
          <a:p>
            <a:pPr algn="l">
              <a:spcBef>
                <a:spcPts val="600"/>
              </a:spcBef>
            </a:pPr>
            <a:r>
              <a:rPr sz="1700" b="0">
                <a:solidFill>
                  <a:srgbClr val="1C2B3A"/>
                </a:solidFill>
                <a:latin typeface="Trebuchet MS"/>
              </a:rPr>
              <a:t>13 / 15</a:t>
            </a:r>
          </a:p>
          <a:p>
            <a:pPr algn="l">
              <a:spcBef>
                <a:spcPts val="600"/>
              </a:spcBef>
            </a:pPr>
            <a:r>
              <a:rPr sz="1700" b="0">
                <a:solidFill>
                  <a:srgbClr val="1C2B3A"/>
                </a:solidFill>
                <a:latin typeface="Trebuchet MS"/>
              </a:rPr>
              <a:t>Objectif : accompagner et rassurer durant un processus long, complexe et émotionnellement engageant</a:t>
            </a:r>
          </a:p>
          <a:p>
            <a:pPr algn="l">
              <a:spcBef>
                <a:spcPts val="600"/>
              </a:spcBef>
            </a:pPr>
            <a:r>
              <a:rPr sz="1700" b="0">
                <a:solidFill>
                  <a:srgbClr val="1C2B3A"/>
                </a:solidFill>
                <a:latin typeface="Trebuchet MS"/>
              </a:rPr>
              <a:t>1</a:t>
            </a:r>
          </a:p>
          <a:p>
            <a:pPr algn="l">
              <a:spcBef>
                <a:spcPts val="600"/>
              </a:spcBef>
            </a:pPr>
            <a:r>
              <a:rPr sz="1700" b="0">
                <a:solidFill>
                  <a:srgbClr val="1C2B3A"/>
                </a:solidFill>
                <a:latin typeface="Trebuchet MS"/>
              </a:rPr>
              <a:t>Bulle de vente</a:t>
            </a:r>
          </a:p>
          <a:p>
            <a:pPr algn="l">
              <a:spcBef>
                <a:spcPts val="600"/>
              </a:spcBef>
            </a:pPr>
            <a:r>
              <a:rPr sz="1700" b="0">
                <a:solidFill>
                  <a:srgbClr val="1C2B3A"/>
                </a:solidFill>
                <a:latin typeface="Trebuchet MS"/>
              </a:rPr>
              <a:t>Espace de vente sur site avec maquette, plans, échantillons matériaux : la preuve physique au cœur de la décision</a:t>
            </a:r>
          </a:p>
          <a:p>
            <a:pPr algn="l">
              <a:spcBef>
                <a:spcPts val="600"/>
              </a:spcBef>
            </a:pPr>
            <a:r>
              <a:rPr sz="1700" b="0">
                <a:solidFill>
                  <a:srgbClr val="1C2B3A"/>
                </a:solidFill>
                <a:latin typeface="Trebuchet MS"/>
              </a:rPr>
              <a:t>2</a:t>
            </a:r>
          </a:p>
          <a:p>
            <a:pPr algn="l">
              <a:spcBef>
                <a:spcPts val="600"/>
              </a:spcBef>
            </a:pPr>
            <a:r>
              <a:rPr sz="1700" b="0">
                <a:solidFill>
                  <a:srgbClr val="1C2B3A"/>
                </a:solidFill>
                <a:latin typeface="Trebuchet MS"/>
              </a:rPr>
              <a:t>Conseiller dédié</a:t>
            </a:r>
          </a:p>
          <a:p>
            <a:pPr algn="l">
              <a:spcBef>
                <a:spcPts val="600"/>
              </a:spcBef>
            </a:pPr>
            <a:r>
              <a:rPr sz="1700" b="0">
                <a:solidFill>
                  <a:srgbClr val="1C2B3A"/>
                </a:solidFill>
                <a:latin typeface="Trebuchet MS"/>
              </a:rPr>
              <a:t>Un interlocuteur unique qui suit le client de la première visite à la signature, incarnation du "People"</a:t>
            </a:r>
          </a:p>
        </p:txBody>
      </p:sp>
      <p:sp>
        <p:nvSpPr>
          <p:cNvPr id="7" name="Rectangle 6"/>
          <p:cNvSpPr/>
          <p:nvPr/>
        </p:nvSpPr>
        <p:spPr>
          <a:xfrm>
            <a:off x="4553712" y="1783080"/>
            <a:ext cx="76200" cy="452628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691640"/>
            <a:ext cx="3794760" cy="4709160"/>
          </a:xfrm>
          <a:prstGeom prst="rect">
            <a:avLst/>
          </a:prstGeom>
          <a:noFill/>
        </p:spPr>
        <p:txBody>
          <a:bodyPr wrap="square"/>
          <a:lstStyle/>
          <a:p>
            <a:pPr algn="l">
              <a:spcBef>
                <a:spcPts val="0"/>
              </a:spcBef>
            </a:pPr>
            <a:r>
              <a:rPr sz="1700" b="0">
                <a:solidFill>
                  <a:srgbClr val="1C2B3A"/>
                </a:solidFill>
                <a:latin typeface="Trebuchet MS"/>
              </a:rPr>
              <a:t>3</a:t>
            </a:r>
          </a:p>
          <a:p>
            <a:pPr algn="l">
              <a:spcBef>
                <a:spcPts val="600"/>
              </a:spcBef>
            </a:pPr>
            <a:r>
              <a:rPr sz="1700" b="0">
                <a:solidFill>
                  <a:srgbClr val="1C2B3A"/>
                </a:solidFill>
                <a:latin typeface="Trebuchet MS"/>
              </a:rPr>
              <a:t>Réservation &amp; contrat</a:t>
            </a:r>
          </a:p>
          <a:p>
            <a:pPr algn="l">
              <a:spcBef>
                <a:spcPts val="600"/>
              </a:spcBef>
            </a:pPr>
            <a:r>
              <a:rPr sz="1700" b="0">
                <a:solidFill>
                  <a:srgbClr val="1C2B3A"/>
                </a:solidFill>
                <a:latin typeface="Trebuchet MS"/>
              </a:rPr>
              <a:t>Contrat préliminaire, dépôt de garantie, délai de rétractation SRU 10 jours</a:t>
            </a:r>
          </a:p>
          <a:p>
            <a:pPr algn="l">
              <a:spcBef>
                <a:spcPts val="600"/>
              </a:spcBef>
            </a:pPr>
            <a:r>
              <a:rPr sz="1700" b="0">
                <a:solidFill>
                  <a:srgbClr val="1C2B3A"/>
                </a:solidFill>
                <a:latin typeface="Trebuchet MS"/>
              </a:rPr>
              <a:t>4</a:t>
            </a:r>
          </a:p>
          <a:p>
            <a:pPr algn="l">
              <a:spcBef>
                <a:spcPts val="600"/>
              </a:spcBef>
            </a:pPr>
            <a:r>
              <a:rPr sz="1700" b="0">
                <a:solidFill>
                  <a:srgbClr val="1C2B3A"/>
                </a:solidFill>
                <a:latin typeface="Trebuchet MS"/>
              </a:rPr>
              <a:t>Financement</a:t>
            </a:r>
          </a:p>
          <a:p>
            <a:pPr algn="l">
              <a:spcBef>
                <a:spcPts val="600"/>
              </a:spcBef>
            </a:pPr>
            <a:r>
              <a:rPr sz="1700" b="0">
                <a:solidFill>
                  <a:srgbClr val="1C2B3A"/>
                </a:solidFill>
                <a:latin typeface="Trebuchet MS"/>
              </a:rPr>
              <a:t>Mise en relation avec courtiers partenaires, simulateurs, accompagnement au montage du dossier bancaire</a:t>
            </a:r>
          </a:p>
          <a:p>
            <a:pPr algn="l">
              <a:spcBef>
                <a:spcPts val="600"/>
              </a:spcBef>
            </a:pPr>
            <a:r>
              <a:rPr sz="1700" b="0">
                <a:solidFill>
                  <a:srgbClr val="1C2B3A"/>
                </a:solidFill>
                <a:latin typeface="Trebuchet MS"/>
              </a:rPr>
              <a:t>5</a:t>
            </a:r>
          </a:p>
          <a:p>
            <a:pPr algn="l">
              <a:spcBef>
                <a:spcPts val="600"/>
              </a:spcBef>
            </a:pPr>
            <a:r>
              <a:rPr sz="1700" b="0">
                <a:solidFill>
                  <a:srgbClr val="1C2B3A"/>
                </a:solidFill>
                <a:latin typeface="Trebuchet MS"/>
              </a:rPr>
              <a:t>Acte authentique</a:t>
            </a:r>
          </a:p>
          <a:p>
            <a:pPr algn="l">
              <a:spcBef>
                <a:spcPts val="600"/>
              </a:spcBef>
            </a:pPr>
            <a:r>
              <a:rPr sz="1700" b="0">
                <a:solidFill>
                  <a:srgbClr val="1C2B3A"/>
                </a:solidFill>
                <a:latin typeface="Trebuchet MS"/>
              </a:rPr>
              <a:t>Signature notariée, démarrage des appels de fonds échelonnés selon l'avancement du chantier (VEFA)</a:t>
            </a:r>
          </a:p>
        </p:txBody>
      </p:sp>
    </p:spTree>
  </p:cSld>
  <p:clrMapOvr>
    <a:masterClrMapping/>
  </p:clrMapOvr>
  <p:transition spd="med" dur="422">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CEAE0"/>
        </a:solidFill>
        <a:effectLst/>
      </p:bgPr>
    </p:bg>
    <p:spTree>
      <p:nvGrpSpPr>
        <p:cNvPr id="1" name=""/>
        <p:cNvGrpSpPr/>
        <p:nvPr/>
      </p:nvGrpSpPr>
      <p:grpSpPr/>
      <p:sp>
        <p:nvSpPr>
          <p:cNvPr id="2" name="Rectangle 1"/>
          <p:cNvSpPr/>
          <p:nvPr/>
        </p:nvSpPr>
        <p:spPr>
          <a:xfrm>
            <a:off x="0" y="0"/>
            <a:ext cx="9144000" cy="1417320"/>
          </a:xfrm>
          <a:prstGeom prst="rect">
            <a:avLst/>
          </a:prstGeom>
          <a:solidFill>
            <a:srgbClr val="1C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41732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05600"/>
            <a:ext cx="9144000" cy="1524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1168"/>
            <a:ext cx="8028432" cy="1005840"/>
          </a:xfrm>
          <a:prstGeom prst="rect">
            <a:avLst/>
          </a:prstGeom>
          <a:noFill/>
        </p:spPr>
        <p:txBody>
          <a:bodyPr wrap="square"/>
          <a:lstStyle/>
          <a:p>
            <a:pPr algn="l"/>
            <a:r>
              <a:rPr sz="3200" b="1" i="0">
                <a:solidFill>
                  <a:srgbClr val="FFFFFF"/>
                </a:solidFill>
                <a:latin typeface="Georgia"/>
              </a:rPr>
              <a:t>ÉTUDE DE CAS — BOUYGUES IMMOBILIER</a:t>
            </a:r>
          </a:p>
        </p:txBody>
      </p:sp>
      <p:sp>
        <p:nvSpPr>
          <p:cNvPr id="6" name="TextBox 5"/>
          <p:cNvSpPr txBox="1"/>
          <p:nvPr/>
        </p:nvSpPr>
        <p:spPr>
          <a:xfrm>
            <a:off x="594360" y="1691640"/>
            <a:ext cx="3794760" cy="4709160"/>
          </a:xfrm>
          <a:prstGeom prst="rect">
            <a:avLst/>
          </a:prstGeom>
          <a:noFill/>
        </p:spPr>
        <p:txBody>
          <a:bodyPr wrap="square"/>
          <a:lstStyle/>
          <a:p>
            <a:pPr algn="l">
              <a:spcBef>
                <a:spcPts val="0"/>
              </a:spcBef>
            </a:pPr>
            <a:r>
              <a:rPr sz="1700" b="0">
                <a:solidFill>
                  <a:srgbClr val="1C2B3A"/>
                </a:solidFill>
                <a:latin typeface="Trebuchet MS"/>
              </a:rPr>
              <a:t>Phase 3 — Après l'achat</a:t>
            </a:r>
          </a:p>
          <a:p>
            <a:pPr algn="l">
              <a:spcBef>
                <a:spcPts val="600"/>
              </a:spcBef>
            </a:pPr>
            <a:r>
              <a:rPr sz="1700" b="0">
                <a:solidFill>
                  <a:srgbClr val="1C2B3A"/>
                </a:solidFill>
                <a:latin typeface="Trebuchet MS"/>
              </a:rPr>
              <a:t>14 / 15</a:t>
            </a:r>
          </a:p>
          <a:p>
            <a:pPr algn="l">
              <a:spcBef>
                <a:spcPts val="600"/>
              </a:spcBef>
            </a:pPr>
            <a:r>
              <a:rPr sz="1700" b="0">
                <a:solidFill>
                  <a:srgbClr val="1C2B3A"/>
                </a:solidFill>
                <a:latin typeface="Trebuchet MS"/>
              </a:rPr>
              <a:t>Objectif : transformer le client en ambassadeur. Un enjeu central du marketing relationnel</a:t>
            </a:r>
          </a:p>
          <a:p>
            <a:pPr algn="l">
              <a:spcBef>
                <a:spcPts val="600"/>
              </a:spcBef>
            </a:pPr>
            <a:r>
              <a:rPr sz="1700" b="0">
                <a:solidFill>
                  <a:srgbClr val="1C2B3A"/>
                </a:solidFill>
                <a:latin typeface="Trebuchet MS"/>
              </a:rPr>
              <a:t>Leviers déployés</a:t>
            </a:r>
          </a:p>
          <a:p>
            <a:pPr algn="l">
              <a:spcBef>
                <a:spcPts val="600"/>
              </a:spcBef>
            </a:pPr>
            <a:r>
              <a:rPr sz="1700" b="0">
                <a:solidFill>
                  <a:srgbClr val="1C2B3A"/>
                </a:solidFill>
                <a:latin typeface="Trebuchet MS"/>
              </a:rPr>
              <a:t>Livraison personnalisée</a:t>
            </a:r>
          </a:p>
          <a:p>
            <a:pPr algn="l">
              <a:spcBef>
                <a:spcPts val="600"/>
              </a:spcBef>
            </a:pPr>
            <a:r>
              <a:rPr sz="1700" b="0">
                <a:solidFill>
                  <a:srgbClr val="1C2B3A"/>
                </a:solidFill>
                <a:latin typeface="Trebuchet MS"/>
              </a:rPr>
              <a:t>Pré-livraison, visite de courtoisie, livret d'accueil de la résidence</a:t>
            </a:r>
          </a:p>
          <a:p>
            <a:pPr algn="l">
              <a:spcBef>
                <a:spcPts val="600"/>
              </a:spcBef>
            </a:pPr>
            <a:r>
              <a:rPr sz="1700" b="0">
                <a:solidFill>
                  <a:srgbClr val="1C2B3A"/>
                </a:solidFill>
                <a:latin typeface="Trebuchet MS"/>
              </a:rPr>
              <a:t>Garanties légales</a:t>
            </a:r>
          </a:p>
          <a:p>
            <a:pPr algn="l">
              <a:spcBef>
                <a:spcPts val="600"/>
              </a:spcBef>
            </a:pPr>
            <a:r>
              <a:rPr sz="1700" b="0">
                <a:solidFill>
                  <a:srgbClr val="1C2B3A"/>
                </a:solidFill>
                <a:latin typeface="Trebuchet MS"/>
              </a:rPr>
              <a:t>Parfait achèvement (1 an), biennale (2 ans), décennale (10 ans), suivi structuré</a:t>
            </a:r>
          </a:p>
          <a:p>
            <a:pPr algn="l">
              <a:spcBef>
                <a:spcPts val="600"/>
              </a:spcBef>
            </a:pPr>
            <a:r>
              <a:rPr sz="1700" b="0">
                <a:solidFill>
                  <a:srgbClr val="1C2B3A"/>
                </a:solidFill>
                <a:latin typeface="Trebuchet MS"/>
              </a:rPr>
              <a:t>Service Après-Vente dédié</a:t>
            </a:r>
          </a:p>
          <a:p>
            <a:pPr algn="l">
              <a:spcBef>
                <a:spcPts val="600"/>
              </a:spcBef>
            </a:pPr>
            <a:r>
              <a:rPr sz="1700" b="0">
                <a:solidFill>
                  <a:srgbClr val="1C2B3A"/>
                </a:solidFill>
                <a:latin typeface="Trebuchet MS"/>
              </a:rPr>
              <a:t>Plateforme client en ligne, application mobile pour signaler les réserves</a:t>
            </a:r>
          </a:p>
          <a:p>
            <a:pPr algn="l">
              <a:spcBef>
                <a:spcPts val="600"/>
              </a:spcBef>
            </a:pPr>
            <a:r>
              <a:rPr sz="1700" b="0">
                <a:solidFill>
                  <a:srgbClr val="1C2B3A"/>
                </a:solidFill>
                <a:latin typeface="Trebuchet MS"/>
              </a:rPr>
              <a:t>Programme de fidélisation</a:t>
            </a:r>
          </a:p>
        </p:txBody>
      </p:sp>
      <p:sp>
        <p:nvSpPr>
          <p:cNvPr id="7" name="Rectangle 6"/>
          <p:cNvSpPr/>
          <p:nvPr/>
        </p:nvSpPr>
        <p:spPr>
          <a:xfrm>
            <a:off x="4553712" y="1783080"/>
            <a:ext cx="76200" cy="452628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691640"/>
            <a:ext cx="3794760" cy="4709160"/>
          </a:xfrm>
          <a:prstGeom prst="rect">
            <a:avLst/>
          </a:prstGeom>
          <a:noFill/>
        </p:spPr>
        <p:txBody>
          <a:bodyPr wrap="square"/>
          <a:lstStyle/>
          <a:p>
            <a:pPr algn="l">
              <a:spcBef>
                <a:spcPts val="0"/>
              </a:spcBef>
            </a:pPr>
            <a:r>
              <a:rPr sz="1700" b="0">
                <a:solidFill>
                  <a:srgbClr val="1C2B3A"/>
                </a:solidFill>
                <a:latin typeface="Trebuchet MS"/>
              </a:rPr>
              <a:t>Parrainage, offres préférentielles, invitations à des événements</a:t>
            </a:r>
          </a:p>
          <a:p>
            <a:pPr algn="l">
              <a:spcBef>
                <a:spcPts val="600"/>
              </a:spcBef>
            </a:pPr>
            <a:r>
              <a:rPr sz="1700" b="0">
                <a:solidFill>
                  <a:srgbClr val="1C2B3A"/>
                </a:solidFill>
                <a:latin typeface="Trebuchet MS"/>
              </a:rPr>
              <a:t>Indicateurs de la relation</a:t>
            </a:r>
          </a:p>
          <a:p>
            <a:pPr algn="l">
              <a:spcBef>
                <a:spcPts val="600"/>
              </a:spcBef>
            </a:pPr>
            <a:r>
              <a:rPr sz="1700" b="0">
                <a:solidFill>
                  <a:srgbClr val="1C2B3A"/>
                </a:solidFill>
                <a:latin typeface="Trebuchet MS"/>
              </a:rPr>
              <a:t>NPS</a:t>
            </a:r>
          </a:p>
          <a:p>
            <a:pPr algn="l">
              <a:spcBef>
                <a:spcPts val="600"/>
              </a:spcBef>
            </a:pPr>
            <a:r>
              <a:rPr sz="1700" b="0">
                <a:solidFill>
                  <a:srgbClr val="1C2B3A"/>
                </a:solidFill>
                <a:latin typeface="Trebuchet MS"/>
              </a:rPr>
              <a:t>mesure de la recommandation</a:t>
            </a:r>
          </a:p>
          <a:p>
            <a:pPr algn="l">
              <a:spcBef>
                <a:spcPts val="600"/>
              </a:spcBef>
            </a:pPr>
            <a:r>
              <a:rPr sz="1700" b="0">
                <a:solidFill>
                  <a:srgbClr val="1C2B3A"/>
                </a:solidFill>
                <a:latin typeface="Trebuchet MS"/>
              </a:rPr>
              <a:t>Taux de réitération</a:t>
            </a:r>
          </a:p>
          <a:p>
            <a:pPr algn="l">
              <a:spcBef>
                <a:spcPts val="600"/>
              </a:spcBef>
            </a:pPr>
            <a:r>
              <a:rPr sz="1700" b="0">
                <a:solidFill>
                  <a:srgbClr val="1C2B3A"/>
                </a:solidFill>
                <a:latin typeface="Trebuchet MS"/>
              </a:rPr>
              <a:t>clients revenant pour un 2ᵉ projet</a:t>
            </a:r>
          </a:p>
          <a:p>
            <a:pPr algn="l">
              <a:spcBef>
                <a:spcPts val="600"/>
              </a:spcBef>
            </a:pPr>
            <a:r>
              <a:rPr sz="1700" b="0">
                <a:solidFill>
                  <a:srgbClr val="1C2B3A"/>
                </a:solidFill>
                <a:latin typeface="Trebuchet MS"/>
              </a:rPr>
              <a:t>Taux de réserves</a:t>
            </a:r>
          </a:p>
          <a:p>
            <a:pPr algn="l">
              <a:spcBef>
                <a:spcPts val="600"/>
              </a:spcBef>
            </a:pPr>
            <a:r>
              <a:rPr sz="1700" b="0">
                <a:solidFill>
                  <a:srgbClr val="1C2B3A"/>
                </a:solidFill>
                <a:latin typeface="Trebuchet MS"/>
              </a:rPr>
              <a:t>qualité perçue à la livraison</a:t>
            </a:r>
          </a:p>
          <a:p>
            <a:pPr algn="l">
              <a:spcBef>
                <a:spcPts val="600"/>
              </a:spcBef>
            </a:pPr>
            <a:r>
              <a:rPr sz="1700" b="0">
                <a:solidFill>
                  <a:srgbClr val="1C2B3A"/>
                </a:solidFill>
                <a:latin typeface="Trebuchet MS"/>
              </a:rPr>
              <a:t>LTV</a:t>
            </a:r>
          </a:p>
          <a:p>
            <a:pPr algn="l">
              <a:spcBef>
                <a:spcPts val="600"/>
              </a:spcBef>
            </a:pPr>
            <a:r>
              <a:rPr sz="1700" b="0">
                <a:solidFill>
                  <a:srgbClr val="1C2B3A"/>
                </a:solidFill>
                <a:latin typeface="Trebuchet MS"/>
              </a:rPr>
              <a:t>valeur actualisée du client</a:t>
            </a:r>
          </a:p>
          <a:p>
            <a:pPr algn="l">
              <a:spcBef>
                <a:spcPts val="600"/>
              </a:spcBef>
            </a:pPr>
            <a:r>
              <a:rPr sz="1700" b="0">
                <a:solidFill>
                  <a:srgbClr val="1C2B3A"/>
                </a:solidFill>
                <a:latin typeface="Trebuchet MS"/>
              </a:rPr>
              <a:t>Avis et e-réputation</a:t>
            </a:r>
          </a:p>
          <a:p>
            <a:pPr algn="l">
              <a:spcBef>
                <a:spcPts val="600"/>
              </a:spcBef>
            </a:pPr>
            <a:r>
              <a:rPr sz="1700" b="0">
                <a:solidFill>
                  <a:srgbClr val="1C2B3A"/>
                </a:solidFill>
                <a:latin typeface="Trebuchet MS"/>
              </a:rPr>
              <a:t>Google, Trustpilot, forums</a:t>
            </a:r>
          </a:p>
        </p:txBody>
      </p:sp>
    </p:spTree>
  </p:cSld>
  <p:clrMapOvr>
    <a:masterClrMapping/>
  </p:clrMapOvr>
  <p:transition spd="med" dur="537">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Rectangle 1"/>
          <p:cNvSpPr/>
          <p:nvPr/>
        </p:nvSpPr>
        <p:spPr>
          <a:xfrm>
            <a:off x="0" y="0"/>
            <a:ext cx="9144000" cy="54864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68580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0" y="2880360"/>
            <a:ext cx="4572000" cy="2286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3337560"/>
            <a:ext cx="7525512" cy="1645920"/>
          </a:xfrm>
          <a:prstGeom prst="rect">
            <a:avLst/>
          </a:prstGeom>
          <a:noFill/>
        </p:spPr>
        <p:txBody>
          <a:bodyPr wrap="square"/>
          <a:lstStyle/>
          <a:p>
            <a:pPr algn="ctr"/>
            <a:r>
              <a:rPr sz="4800" b="1" i="0">
                <a:solidFill>
                  <a:srgbClr val="C8A84B"/>
                </a:solidFill>
                <a:latin typeface="Georgia"/>
              </a:rPr>
              <a:t>CONCLUSION</a:t>
            </a:r>
          </a:p>
        </p:txBody>
      </p:sp>
      <p:sp>
        <p:nvSpPr>
          <p:cNvPr id="6" name="TextBox 5"/>
          <p:cNvSpPr txBox="1"/>
          <p:nvPr/>
        </p:nvSpPr>
        <p:spPr>
          <a:xfrm>
            <a:off x="1024128" y="5143500"/>
            <a:ext cx="7525512" cy="731520"/>
          </a:xfrm>
          <a:prstGeom prst="rect">
            <a:avLst/>
          </a:prstGeom>
          <a:noFill/>
        </p:spPr>
        <p:txBody>
          <a:bodyPr wrap="square"/>
          <a:lstStyle/>
          <a:p>
            <a:pPr algn="ctr"/>
            <a:r>
              <a:rPr sz="1800" b="0" i="0">
                <a:solidFill>
                  <a:srgbClr val="CCCCCC"/>
                </a:solidFill>
                <a:latin typeface="Trebuchet MS"/>
              </a:rPr>
              <a:t>Vers une expérience client immobilière augmentée</a:t>
            </a:r>
          </a:p>
        </p:txBody>
      </p:sp>
    </p:spTree>
  </p:cSld>
  <p:clrMapOvr>
    <a:masterClrMapping/>
  </p:clrMapOvr>
  <p:transition spd="med" dur="619">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