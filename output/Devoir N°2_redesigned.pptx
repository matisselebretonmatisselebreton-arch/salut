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94610"/>
  </p:normalViewPr>
  <p:slideViewPr>
    <p:cSldViewPr snapToGrid="0" snapToObjects="1">
      <p:cViewPr varScale="1">
        <p:scale>
          <a:sx n="88" d="100"/>
          <a:sy n="88" d="100"/>
        </p:scale>
        <p:origin x="81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187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C9A227"/>
          </a:solidFill>
          <a:ln/>
        </p:spPr>
        <p:txBody>
          <a:bodyPr/>
          <a:lstStyle/>
          <a:p>
            <a:endParaRPr lang="fr-FR"/>
          </a:p>
        </p:txBody>
      </p:sp>
      <p:sp>
        <p:nvSpPr>
          <p:cNvPr id="3" name="Shape 1"/>
          <p:cNvSpPr/>
          <p:nvPr/>
        </p:nvSpPr>
        <p:spPr>
          <a:xfrm>
            <a:off x="6035040" y="0"/>
            <a:ext cx="3108960" cy="5143500"/>
          </a:xfrm>
          <a:prstGeom prst="rect">
            <a:avLst/>
          </a:prstGeom>
          <a:solidFill>
            <a:srgbClr val="2A3A7A"/>
          </a:solidFill>
          <a:ln/>
        </p:spPr>
        <p:txBody>
          <a:bodyPr/>
          <a:lstStyle/>
          <a:p>
            <a:endParaRPr lang="fr-FR"/>
          </a:p>
        </p:txBody>
      </p:sp>
      <p:sp>
        <p:nvSpPr>
          <p:cNvPr id="4" name="Shape 2"/>
          <p:cNvSpPr/>
          <p:nvPr/>
        </p:nvSpPr>
        <p:spPr>
          <a:xfrm>
            <a:off x="6858000" y="-914400"/>
            <a:ext cx="3657600" cy="3657600"/>
          </a:xfrm>
          <a:prstGeom prst="ellipse">
            <a:avLst/>
          </a:prstGeom>
          <a:solidFill>
            <a:srgbClr val="1E2761"/>
          </a:solidFill>
          <a:ln w="12700">
            <a:solidFill>
              <a:srgbClr val="C9A227"/>
            </a:solidFill>
            <a:prstDash val="solid"/>
          </a:ln>
        </p:spPr>
        <p:txBody>
          <a:bodyPr/>
          <a:lstStyle/>
          <a:p>
            <a:endParaRPr lang="fr-FR"/>
          </a:p>
        </p:txBody>
      </p:sp>
      <p:sp>
        <p:nvSpPr>
          <p:cNvPr id="5" name="Shape 3"/>
          <p:cNvSpPr/>
          <p:nvPr/>
        </p:nvSpPr>
        <p:spPr>
          <a:xfrm>
            <a:off x="7498080" y="2926080"/>
            <a:ext cx="2286000" cy="2286000"/>
          </a:xfrm>
          <a:prstGeom prst="ellipse">
            <a:avLst/>
          </a:prstGeom>
          <a:solidFill>
            <a:srgbClr val="2A3A7A"/>
          </a:solidFill>
          <a:ln w="9525">
            <a:solidFill>
              <a:srgbClr val="CADCFC"/>
            </a:solidFill>
            <a:prstDash val="solid"/>
          </a:ln>
        </p:spPr>
        <p:txBody>
          <a:bodyPr/>
          <a:lstStyle/>
          <a:p>
            <a:endParaRPr lang="fr-FR"/>
          </a:p>
        </p:txBody>
      </p:sp>
      <p:sp>
        <p:nvSpPr>
          <p:cNvPr id="6" name="Text 4"/>
          <p:cNvSpPr/>
          <p:nvPr/>
        </p:nvSpPr>
        <p:spPr>
          <a:xfrm>
            <a:off x="548640" y="640080"/>
            <a:ext cx="5486400" cy="365760"/>
          </a:xfrm>
          <a:prstGeom prst="rect">
            <a:avLst/>
          </a:prstGeom>
          <a:noFill/>
          <a:ln/>
        </p:spPr>
        <p:txBody>
          <a:bodyPr wrap="square" rtlCol="0" anchor="ctr"/>
          <a:lstStyle/>
          <a:p>
            <a:pPr marL="0" indent="0">
              <a:buNone/>
            </a:pPr>
            <a:r>
              <a:rPr lang="en-US" sz="2200" b="1" kern="0" spc="300" dirty="0">
                <a:solidFill>
                  <a:srgbClr val="FFFFFF"/>
                </a:solidFill>
                <a:latin typeface="Trebuchet MS" pitchFamily="34" charset="0"/>
                <a:ea typeface="Calibri" pitchFamily="34" charset="-122"/>
                <a:cs typeface="Calibri" pitchFamily="34" charset="-120"/>
              </a:rPr>
              <a:t>ESPI  •  ALT3  •  TEAM WORK D2</a:t>
            </a:r>
            <a:endParaRPr lang="en-US" sz="1200" dirty="0"/>
          </a:p>
        </p:txBody>
      </p:sp>
      <p:sp>
        <p:nvSpPr>
          <p:cNvPr id="7" name="Text 5"/>
          <p:cNvSpPr/>
          <p:nvPr/>
        </p:nvSpPr>
        <p:spPr>
          <a:xfrm>
            <a:off x="548640" y="1371600"/>
            <a:ext cx="5943600" cy="91440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Georgia" pitchFamily="34" charset="-122"/>
                <a:cs typeface="Georgia" pitchFamily="34" charset="-120"/>
              </a:rPr>
              <a:t>Marketing de l'Immobilier</a:t>
            </a:r>
            <a:endParaRPr lang="en-US" sz="3600" dirty="0"/>
          </a:p>
        </p:txBody>
      </p:sp>
      <p:sp>
        <p:nvSpPr>
          <p:cNvPr id="8" name="Text 6"/>
          <p:cNvSpPr/>
          <p:nvPr/>
        </p:nvSpPr>
        <p:spPr>
          <a:xfrm>
            <a:off x="548640" y="2331720"/>
            <a:ext cx="5943600" cy="457200"/>
          </a:xfrm>
          <a:prstGeom prst="rect">
            <a:avLst/>
          </a:prstGeom>
          <a:noFill/>
          <a:ln/>
        </p:spPr>
        <p:txBody>
          <a:bodyPr wrap="square" rtlCol="0" anchor="ctr"/>
          <a:lstStyle/>
          <a:p>
            <a:pPr marL="0" indent="0">
              <a:buNone/>
            </a:pPr>
            <a:r>
              <a:rPr lang="en-US" sz="2200" i="1" dirty="0">
                <a:solidFill>
                  <a:srgbClr val="FFFFFF"/>
                </a:solidFill>
                <a:latin typeface="Trebuchet MS" pitchFamily="34" charset="0"/>
                <a:ea typeface="Georgia" pitchFamily="34" charset="-122"/>
                <a:cs typeface="Georgia" pitchFamily="34" charset="-120"/>
              </a:rPr>
              <a:t>Du Marketing Mix à la Relation Client</a:t>
            </a:r>
            <a:endParaRPr lang="en-US" sz="1800" dirty="0"/>
          </a:p>
        </p:txBody>
      </p:sp>
      <p:sp>
        <p:nvSpPr>
          <p:cNvPr id="9" name="Shape 7"/>
          <p:cNvSpPr/>
          <p:nvPr/>
        </p:nvSpPr>
        <p:spPr>
          <a:xfrm>
            <a:off x="548640" y="2926080"/>
            <a:ext cx="548640" cy="36576"/>
          </a:xfrm>
          <a:prstGeom prst="rect">
            <a:avLst/>
          </a:prstGeom>
          <a:solidFill>
            <a:srgbClr val="C9A227"/>
          </a:solidFill>
          <a:ln/>
        </p:spPr>
        <p:txBody>
          <a:bodyPr/>
          <a:lstStyle/>
          <a:p>
            <a:endParaRPr lang="fr-FR"/>
          </a:p>
        </p:txBody>
      </p:sp>
      <p:sp>
        <p:nvSpPr>
          <p:cNvPr id="10" name="Text 8"/>
          <p:cNvSpPr/>
          <p:nvPr/>
        </p:nvSpPr>
        <p:spPr>
          <a:xfrm>
            <a:off x="548640" y="3063240"/>
            <a:ext cx="5486400" cy="320040"/>
          </a:xfrm>
          <a:prstGeom prst="rect">
            <a:avLst/>
          </a:prstGeom>
          <a:noFill/>
          <a:ln/>
        </p:spPr>
        <p:txBody>
          <a:bodyPr wrap="square" rtlCol="0" anchor="ctr"/>
          <a:lstStyle/>
          <a:p>
            <a:pPr marL="0" indent="0">
              <a:buNone/>
            </a:pPr>
            <a:endParaRPr lang="en-US" sz="1300" dirty="0"/>
          </a:p>
        </p:txBody>
      </p:sp>
      <p:sp>
        <p:nvSpPr>
          <p:cNvPr id="11" name="Text 9"/>
          <p:cNvSpPr/>
          <p:nvPr/>
        </p:nvSpPr>
        <p:spPr>
          <a:xfrm>
            <a:off x="228600" y="4011743"/>
            <a:ext cx="8229600" cy="32004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Calibri" pitchFamily="34" charset="-122"/>
                <a:cs typeface="Calibri" pitchFamily="34" charset="-120"/>
              </a:rPr>
              <a:t>Groupe : </a:t>
            </a:r>
            <a:r>
              <a:rPr lang="en-US" sz="2200" dirty="0">
                <a:solidFill>
                  <a:srgbClr val="FFFFFF"/>
                </a:solidFill>
                <a:latin typeface="Trebuchet MS" pitchFamily="34" charset="0"/>
                <a:ea typeface="Calibri" pitchFamily="34" charset="-122"/>
                <a:cs typeface="Calibri" pitchFamily="34" charset="-120"/>
              </a:rPr>
              <a:t>Aloys Gervois  •  Matisse Lebreton  •  Matheis Lopes  •  Edouard Saury  •  Corentin Lardeux</a:t>
            </a:r>
            <a:endParaRPr lang="en-US" sz="1100" dirty="0"/>
          </a:p>
        </p:txBody>
      </p:sp>
      <p:sp>
        <p:nvSpPr>
          <p:cNvPr id="12" name="Text 10"/>
          <p:cNvSpPr/>
          <p:nvPr/>
        </p:nvSpPr>
        <p:spPr>
          <a:xfrm>
            <a:off x="548640" y="4343400"/>
            <a:ext cx="8229600" cy="274320"/>
          </a:xfrm>
          <a:prstGeom prst="rect">
            <a:avLst/>
          </a:prstGeom>
          <a:noFill/>
          <a:ln/>
        </p:spPr>
        <p:txBody>
          <a:bodyPr wrap="square" rtlCol="0" anchor="ctr"/>
          <a:lstStyle/>
          <a:p>
            <a:pPr marL="0" indent="0">
              <a:buNone/>
            </a:pPr>
            <a:endParaRPr lang="en-US" sz="1000" dirty="0"/>
          </a:p>
        </p:txBody>
      </p:sp>
      <p:sp>
        <p:nvSpPr>
          <p:cNvPr id="13" name="Text 11"/>
          <p:cNvSpPr/>
          <p:nvPr/>
        </p:nvSpPr>
        <p:spPr>
          <a:xfrm>
            <a:off x="548640" y="4617720"/>
            <a:ext cx="8229600" cy="274320"/>
          </a:xfrm>
          <a:prstGeom prst="rect">
            <a:avLst/>
          </a:prstGeom>
          <a:noFill/>
          <a:ln/>
        </p:spPr>
        <p:txBody>
          <a:bodyPr wrap="square" rtlCol="0" anchor="ctr"/>
          <a:lstStyle/>
          <a:p>
            <a:pPr marL="0" indent="0">
              <a:buNone/>
            </a:pPr>
            <a:endParaRPr lang="en-US" sz="1000" dirty="0"/>
          </a:p>
        </p:txBody>
      </p:sp>
      <p:sp>
        <p:nvSpPr>
          <p:cNvPr id="14" name="Rectangle 13"/>
          <p:cNvSpPr/>
          <p:nvPr/>
        </p:nvSpPr>
        <p:spPr>
          <a:xfrm>
            <a:off x="0" y="0"/>
            <a:ext cx="109728" cy="51435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649">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CEAE3"/>
        </a:solidFill>
        <a:effectLst/>
      </p:bgPr>
    </p:bg>
    <p:spTree>
      <p:nvGrpSpPr>
        <p:cNvPr id="1" name=""/>
        <p:cNvGrpSpPr/>
        <p:nvPr/>
      </p:nvGrpSpPr>
      <p:grpSpPr>
        <a:xfrm>
          <a:off x="0" y="0"/>
          <a:ext cx="0" cy="0"/>
          <a:chOff x="0" y="0"/>
          <a:chExt cx="0" cy="0"/>
        </a:xfrm>
      </p:grpSpPr>
      <p:sp>
        <p:nvSpPr>
          <p:cNvPr id="30" name="Rectangle 29"/>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PLAN</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Sommaire</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2 / 15</a:t>
            </a:r>
            <a:endParaRPr lang="en-US" sz="900" dirty="0"/>
          </a:p>
        </p:txBody>
      </p:sp>
      <p:sp>
        <p:nvSpPr>
          <p:cNvPr id="9" name="Text 7"/>
          <p:cNvSpPr/>
          <p:nvPr/>
        </p:nvSpPr>
        <p:spPr>
          <a:xfrm>
            <a:off x="548640" y="155448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01</a:t>
            </a:r>
            <a:endParaRPr lang="en-US" sz="1800" dirty="0"/>
          </a:p>
        </p:txBody>
      </p:sp>
      <p:sp>
        <p:nvSpPr>
          <p:cNvPr id="10" name="Text 8"/>
          <p:cNvSpPr/>
          <p:nvPr/>
        </p:nvSpPr>
        <p:spPr>
          <a:xfrm>
            <a:off x="1143000" y="155448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Introduction</a:t>
            </a:r>
            <a:endParaRPr lang="en-US" sz="1400" dirty="0"/>
          </a:p>
        </p:txBody>
      </p:sp>
      <p:sp>
        <p:nvSpPr>
          <p:cNvPr id="11" name="Text 9"/>
          <p:cNvSpPr/>
          <p:nvPr/>
        </p:nvSpPr>
        <p:spPr>
          <a:xfrm>
            <a:off x="4572000" y="155448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Le marketing au cœur de l'immobilier</a:t>
            </a:r>
            <a:endParaRPr lang="en-US" sz="1100" dirty="0"/>
          </a:p>
        </p:txBody>
      </p:sp>
      <p:sp>
        <p:nvSpPr>
          <p:cNvPr id="12" name="Text 10"/>
          <p:cNvSpPr/>
          <p:nvPr/>
        </p:nvSpPr>
        <p:spPr>
          <a:xfrm>
            <a:off x="548640" y="196596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02</a:t>
            </a:r>
            <a:endParaRPr lang="en-US" sz="1800" dirty="0"/>
          </a:p>
        </p:txBody>
      </p:sp>
      <p:sp>
        <p:nvSpPr>
          <p:cNvPr id="13" name="Text 11"/>
          <p:cNvSpPr/>
          <p:nvPr/>
        </p:nvSpPr>
        <p:spPr>
          <a:xfrm>
            <a:off x="1143000" y="196596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Thème 1 — Le Marketing Mix</a:t>
            </a:r>
            <a:endParaRPr lang="en-US" sz="1400" dirty="0"/>
          </a:p>
        </p:txBody>
      </p:sp>
      <p:sp>
        <p:nvSpPr>
          <p:cNvPr id="14" name="Text 12"/>
          <p:cNvSpPr/>
          <p:nvPr/>
        </p:nvSpPr>
        <p:spPr>
          <a:xfrm>
            <a:off x="4572000" y="196596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Définition, 4P et extension au 7P</a:t>
            </a:r>
            <a:endParaRPr lang="en-US" sz="1100" dirty="0"/>
          </a:p>
        </p:txBody>
      </p:sp>
      <p:sp>
        <p:nvSpPr>
          <p:cNvPr id="15" name="Text 13"/>
          <p:cNvSpPr/>
          <p:nvPr/>
        </p:nvSpPr>
        <p:spPr>
          <a:xfrm>
            <a:off x="548640" y="237744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03</a:t>
            </a:r>
            <a:endParaRPr lang="en-US" sz="1800" dirty="0"/>
          </a:p>
        </p:txBody>
      </p:sp>
      <p:sp>
        <p:nvSpPr>
          <p:cNvPr id="16" name="Text 14"/>
          <p:cNvSpPr/>
          <p:nvPr/>
        </p:nvSpPr>
        <p:spPr>
          <a:xfrm>
            <a:off x="1143000" y="237744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Application au secteur immobilier</a:t>
            </a:r>
            <a:endParaRPr lang="en-US" sz="1400" dirty="0"/>
          </a:p>
        </p:txBody>
      </p:sp>
      <p:sp>
        <p:nvSpPr>
          <p:cNvPr id="17" name="Text 15"/>
          <p:cNvSpPr/>
          <p:nvPr/>
        </p:nvSpPr>
        <p:spPr>
          <a:xfrm>
            <a:off x="4572000" y="237744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Lecture sectorielle des 7P</a:t>
            </a:r>
            <a:endParaRPr lang="en-US" sz="1100" dirty="0"/>
          </a:p>
        </p:txBody>
      </p:sp>
      <p:sp>
        <p:nvSpPr>
          <p:cNvPr id="18" name="Text 16"/>
          <p:cNvSpPr/>
          <p:nvPr/>
        </p:nvSpPr>
        <p:spPr>
          <a:xfrm>
            <a:off x="548640" y="278892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04</a:t>
            </a:r>
            <a:endParaRPr lang="en-US" sz="1800" dirty="0"/>
          </a:p>
        </p:txBody>
      </p:sp>
      <p:sp>
        <p:nvSpPr>
          <p:cNvPr id="19" name="Text 17"/>
          <p:cNvSpPr/>
          <p:nvPr/>
        </p:nvSpPr>
        <p:spPr>
          <a:xfrm>
            <a:off x="1143000" y="278892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Thème 2 — La GRC &amp; le marketing relationnel</a:t>
            </a:r>
            <a:endParaRPr lang="en-US" sz="1400" dirty="0"/>
          </a:p>
        </p:txBody>
      </p:sp>
      <p:sp>
        <p:nvSpPr>
          <p:cNvPr id="20" name="Text 18"/>
          <p:cNvSpPr/>
          <p:nvPr/>
        </p:nvSpPr>
        <p:spPr>
          <a:xfrm>
            <a:off x="4572000" y="278892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De la transaction à la relation</a:t>
            </a:r>
            <a:endParaRPr lang="en-US" sz="1100" dirty="0"/>
          </a:p>
        </p:txBody>
      </p:sp>
      <p:sp>
        <p:nvSpPr>
          <p:cNvPr id="21" name="Text 19"/>
          <p:cNvSpPr/>
          <p:nvPr/>
        </p:nvSpPr>
        <p:spPr>
          <a:xfrm>
            <a:off x="548640" y="320040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05</a:t>
            </a:r>
            <a:endParaRPr lang="en-US" sz="1800" dirty="0"/>
          </a:p>
        </p:txBody>
      </p:sp>
      <p:sp>
        <p:nvSpPr>
          <p:cNvPr id="22" name="Text 20"/>
          <p:cNvSpPr/>
          <p:nvPr/>
        </p:nvSpPr>
        <p:spPr>
          <a:xfrm>
            <a:off x="1143000" y="320040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Le parcours client</a:t>
            </a:r>
            <a:endParaRPr lang="en-US" sz="1400" dirty="0"/>
          </a:p>
        </p:txBody>
      </p:sp>
      <p:sp>
        <p:nvSpPr>
          <p:cNvPr id="23" name="Text 21"/>
          <p:cNvSpPr/>
          <p:nvPr/>
        </p:nvSpPr>
        <p:spPr>
          <a:xfrm>
            <a:off x="4572000" y="320040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Avant, pendant, après l'achat</a:t>
            </a:r>
            <a:endParaRPr lang="en-US" sz="1100" dirty="0"/>
          </a:p>
        </p:txBody>
      </p:sp>
      <p:sp>
        <p:nvSpPr>
          <p:cNvPr id="24" name="Text 22"/>
          <p:cNvSpPr/>
          <p:nvPr/>
        </p:nvSpPr>
        <p:spPr>
          <a:xfrm>
            <a:off x="548640" y="361188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06</a:t>
            </a:r>
            <a:endParaRPr lang="en-US" sz="1800" dirty="0"/>
          </a:p>
        </p:txBody>
      </p:sp>
      <p:sp>
        <p:nvSpPr>
          <p:cNvPr id="25" name="Text 23"/>
          <p:cNvSpPr/>
          <p:nvPr/>
        </p:nvSpPr>
        <p:spPr>
          <a:xfrm>
            <a:off x="1143000" y="361188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Étude de cas : Bouygues Immobilier</a:t>
            </a:r>
            <a:endParaRPr lang="en-US" sz="1400" dirty="0"/>
          </a:p>
        </p:txBody>
      </p:sp>
      <p:sp>
        <p:nvSpPr>
          <p:cNvPr id="26" name="Text 24"/>
          <p:cNvSpPr/>
          <p:nvPr/>
        </p:nvSpPr>
        <p:spPr>
          <a:xfrm>
            <a:off x="4572000" y="361188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Un parcours client orchestré</a:t>
            </a:r>
            <a:endParaRPr lang="en-US" sz="1100" dirty="0"/>
          </a:p>
        </p:txBody>
      </p:sp>
      <p:sp>
        <p:nvSpPr>
          <p:cNvPr id="27" name="Text 25"/>
          <p:cNvSpPr/>
          <p:nvPr/>
        </p:nvSpPr>
        <p:spPr>
          <a:xfrm>
            <a:off x="548640" y="4023360"/>
            <a:ext cx="54864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07</a:t>
            </a:r>
            <a:endParaRPr lang="en-US" sz="1800" dirty="0"/>
          </a:p>
        </p:txBody>
      </p:sp>
      <p:sp>
        <p:nvSpPr>
          <p:cNvPr id="28" name="Text 26"/>
          <p:cNvSpPr/>
          <p:nvPr/>
        </p:nvSpPr>
        <p:spPr>
          <a:xfrm>
            <a:off x="1143000" y="4023360"/>
            <a:ext cx="4572000" cy="4114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Conclusion &amp; enjeux</a:t>
            </a:r>
            <a:endParaRPr lang="en-US" sz="1400" dirty="0"/>
          </a:p>
        </p:txBody>
      </p:sp>
      <p:sp>
        <p:nvSpPr>
          <p:cNvPr id="29" name="Text 27"/>
          <p:cNvSpPr/>
          <p:nvPr/>
        </p:nvSpPr>
        <p:spPr>
          <a:xfrm>
            <a:off x="4572000" y="4023360"/>
            <a:ext cx="4206240" cy="411480"/>
          </a:xfrm>
          <a:prstGeom prst="rect">
            <a:avLst/>
          </a:prstGeom>
          <a:noFill/>
          <a:ln/>
        </p:spPr>
        <p:txBody>
          <a:bodyPr wrap="square" lIns="0" tIns="0" rIns="0" bIns="0" rtlCol="0" anchor="ctr"/>
          <a:lstStyle/>
          <a:p>
            <a:pPr marL="0" indent="0" algn="r">
              <a:buNone/>
            </a:pPr>
            <a:r>
              <a:rPr lang="en-US" sz="1500" i="1" dirty="0">
                <a:solidFill>
                  <a:srgbClr val="1C2B3A"/>
                </a:solidFill>
                <a:latin typeface="Trebuchet MS" pitchFamily="34" charset="0"/>
                <a:ea typeface="Calibri" pitchFamily="34" charset="-122"/>
                <a:cs typeface="Calibri" pitchFamily="34" charset="-120"/>
              </a:rPr>
              <a:t>Vers une expérience client augmentée</a:t>
            </a:r>
            <a:endParaRPr lang="en-US" sz="1100" dirty="0"/>
          </a:p>
        </p:txBody>
      </p:sp>
      <p:sp>
        <p:nvSpPr>
          <p:cNvPr id="31" name="Rectangle 30"/>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514">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0"/>
        </a:solidFill>
        <a:effectLst/>
      </p:bgPr>
    </p:bg>
    <p:spTree>
      <p:nvGrpSpPr>
        <p:cNvPr id="1" name=""/>
        <p:cNvGrpSpPr/>
        <p:nvPr/>
      </p:nvGrpSpPr>
      <p:grpSpPr>
        <a:xfrm>
          <a:off x="0" y="0"/>
          <a:ext cx="0" cy="0"/>
          <a:chOff x="0" y="0"/>
          <a:chExt cx="0" cy="0"/>
        </a:xfrm>
      </p:grpSpPr>
      <p:sp>
        <p:nvSpPr>
          <p:cNvPr id="22" name="Rectangle 21"/>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INTRODUCTION</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Pourquoi le marketing en immobilier ?</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3 / 15</a:t>
            </a:r>
            <a:endParaRPr lang="en-US" sz="900" dirty="0"/>
          </a:p>
        </p:txBody>
      </p:sp>
      <p:sp>
        <p:nvSpPr>
          <p:cNvPr id="9" name="Text 7"/>
          <p:cNvSpPr/>
          <p:nvPr/>
        </p:nvSpPr>
        <p:spPr>
          <a:xfrm>
            <a:off x="365760" y="1554480"/>
            <a:ext cx="5120640" cy="3017520"/>
          </a:xfrm>
          <a:prstGeom prst="rect">
            <a:avLst/>
          </a:prstGeom>
          <a:noFill/>
          <a:ln/>
        </p:spPr>
        <p:txBody>
          <a:bodyPr wrap="square" rtlCol="0" anchor="ctr"/>
          <a:lstStyle/>
          <a:p>
            <a:pPr marL="0" indent="0">
              <a:spcAft>
                <a:spcPts val="600"/>
              </a:spcAft>
              <a:buNone/>
            </a:pPr>
            <a:r>
              <a:rPr lang="en-US" sz="1500" b="1" dirty="0">
                <a:solidFill>
                  <a:srgbClr val="1C2B3A"/>
                </a:solidFill>
                <a:latin typeface="Trebuchet MS" pitchFamily="34" charset="0"/>
                <a:ea typeface="Calibri" pitchFamily="34" charset="-122"/>
                <a:cs typeface="Calibri" pitchFamily="34" charset="-120"/>
              </a:rPr>
              <a:t>Un marché en mutation profonde. </a:t>
            </a:r>
            <a:endParaRPr lang="en-US" sz="1200" dirty="0"/>
          </a:p>
          <a:p>
            <a:pPr marL="0" indent="0">
              <a:spcAft>
                <a:spcPts val="600"/>
              </a:spcAft>
              <a:buNone/>
            </a:pPr>
            <a:r>
              <a:rPr lang="en-US" sz="1500" dirty="0">
                <a:solidFill>
                  <a:srgbClr val="1C2B3A"/>
                </a:solidFill>
                <a:latin typeface="Trebuchet MS" pitchFamily="34" charset="0"/>
                <a:ea typeface="Calibri" pitchFamily="34" charset="-122"/>
                <a:cs typeface="Calibri" pitchFamily="34" charset="-120"/>
              </a:rPr>
              <a:t>Hausse des taux, raréfaction du foncier, exigences ESG, nouveaux usages post-Covid : le </a:t>
            </a:r>
            <a:r>
              <a:rPr lang="en-US" sz="1500" dirty="0" err="1">
                <a:solidFill>
                  <a:srgbClr val="1C2B3A"/>
                </a:solidFill>
                <a:latin typeface="Trebuchet MS" pitchFamily="34" charset="0"/>
                <a:ea typeface="Calibri" pitchFamily="34" charset="-122"/>
                <a:cs typeface="Calibri" pitchFamily="34" charset="-120"/>
              </a:rPr>
              <a:t>secteur</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immobilier</a:t>
            </a:r>
            <a:r>
              <a:rPr lang="en-US" sz="1500" dirty="0">
                <a:solidFill>
                  <a:srgbClr val="1C2B3A"/>
                </a:solidFill>
                <a:latin typeface="Trebuchet MS" pitchFamily="34" charset="0"/>
                <a:ea typeface="Calibri" pitchFamily="34" charset="-122"/>
                <a:cs typeface="Calibri" pitchFamily="34" charset="-120"/>
              </a:rPr>
              <a:t>, résidentiel comme </a:t>
            </a:r>
            <a:r>
              <a:rPr lang="en-US" sz="1500" dirty="0" err="1">
                <a:solidFill>
                  <a:srgbClr val="1C2B3A"/>
                </a:solidFill>
                <a:latin typeface="Trebuchet MS" pitchFamily="34" charset="0"/>
                <a:ea typeface="Calibri" pitchFamily="34" charset="-122"/>
                <a:cs typeface="Calibri" pitchFamily="34" charset="-120"/>
              </a:rPr>
              <a:t>tertiaire</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n'échappe</a:t>
            </a:r>
            <a:r>
              <a:rPr lang="en-US" sz="1500" dirty="0">
                <a:solidFill>
                  <a:srgbClr val="1C2B3A"/>
                </a:solidFill>
                <a:latin typeface="Trebuchet MS" pitchFamily="34" charset="0"/>
                <a:ea typeface="Calibri" pitchFamily="34" charset="-122"/>
                <a:cs typeface="Calibri" pitchFamily="34" charset="-120"/>
              </a:rPr>
              <a:t> plus à la logique de différenciation marketing.</a:t>
            </a:r>
            <a:endParaRPr lang="en-US" sz="1200" dirty="0"/>
          </a:p>
          <a:p>
            <a:pPr marL="0" indent="0">
              <a:spcAft>
                <a:spcPts val="600"/>
              </a:spcAft>
              <a:buNone/>
            </a:pPr>
            <a:r>
              <a:rPr lang="en-US" sz="1500" dirty="0">
                <a:solidFill>
                  <a:srgbClr val="1C2B3A"/>
                </a:solidFill>
                <a:latin typeface="Trebuchet MS" pitchFamily="34" charset="0"/>
                <a:ea typeface="Calibri" pitchFamily="34" charset="-122"/>
                <a:cs typeface="Calibri" pitchFamily="34" charset="-120"/>
              </a:rPr>
              <a:t> </a:t>
            </a:r>
            <a:endParaRPr lang="en-US" sz="1200" dirty="0"/>
          </a:p>
          <a:p>
            <a:pPr marL="0" indent="0">
              <a:spcAft>
                <a:spcPts val="600"/>
              </a:spcAft>
              <a:buNone/>
            </a:pPr>
            <a:r>
              <a:rPr lang="en-US" sz="1500" b="1" dirty="0">
                <a:solidFill>
                  <a:srgbClr val="1C2B3A"/>
                </a:solidFill>
                <a:latin typeface="Trebuchet MS" pitchFamily="34" charset="0"/>
                <a:ea typeface="Calibri" pitchFamily="34" charset="-122"/>
                <a:cs typeface="Calibri" pitchFamily="34" charset="-120"/>
              </a:rPr>
              <a:t>D'un produit à une expérience. </a:t>
            </a:r>
            <a:endParaRPr lang="en-US" sz="1200" dirty="0"/>
          </a:p>
          <a:p>
            <a:pPr marL="0" indent="0">
              <a:spcAft>
                <a:spcPts val="600"/>
              </a:spcAft>
              <a:buNone/>
            </a:pPr>
            <a:r>
              <a:rPr lang="en-US" sz="1500" dirty="0">
                <a:solidFill>
                  <a:srgbClr val="1C2B3A"/>
                </a:solidFill>
                <a:latin typeface="Trebuchet MS" pitchFamily="34" charset="0"/>
                <a:ea typeface="Calibri" pitchFamily="34" charset="-122"/>
                <a:cs typeface="Calibri" pitchFamily="34" charset="-120"/>
              </a:rPr>
              <a:t>Le bien immobilier ne se vend plus seul : il s'inscrit dans une promesse de marque, un parcours d'achat long et </a:t>
            </a:r>
            <a:r>
              <a:rPr lang="en-US" sz="1500" dirty="0" err="1">
                <a:solidFill>
                  <a:srgbClr val="1C2B3A"/>
                </a:solidFill>
                <a:latin typeface="Trebuchet MS" pitchFamily="34" charset="0"/>
                <a:ea typeface="Calibri" pitchFamily="34" charset="-122"/>
                <a:cs typeface="Calibri" pitchFamily="34" charset="-120"/>
              </a:rPr>
              <a:t>émotionnel</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ainsi</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qu’une</a:t>
            </a:r>
            <a:r>
              <a:rPr lang="en-US" sz="1500" dirty="0">
                <a:solidFill>
                  <a:srgbClr val="1C2B3A"/>
                </a:solidFill>
                <a:latin typeface="Trebuchet MS" pitchFamily="34" charset="0"/>
                <a:ea typeface="Calibri" pitchFamily="34" charset="-122"/>
                <a:cs typeface="Calibri" pitchFamily="34" charset="-120"/>
              </a:rPr>
              <a:t> relation client qui se prolonge bien après la signature.</a:t>
            </a:r>
            <a:endParaRPr lang="en-US" sz="1200" dirty="0"/>
          </a:p>
        </p:txBody>
      </p:sp>
      <p:sp>
        <p:nvSpPr>
          <p:cNvPr id="10" name="Shape 8"/>
          <p:cNvSpPr/>
          <p:nvPr/>
        </p:nvSpPr>
        <p:spPr>
          <a:xfrm>
            <a:off x="5669280" y="1554480"/>
            <a:ext cx="3200400" cy="868680"/>
          </a:xfrm>
          <a:prstGeom prst="rect">
            <a:avLst/>
          </a:prstGeom>
          <a:solidFill>
            <a:srgbClr val="F5F7FB"/>
          </a:solidFill>
          <a:ln w="9525">
            <a:solidFill>
              <a:srgbClr val="CADCFC"/>
            </a:solidFill>
            <a:prstDash val="solid"/>
          </a:ln>
        </p:spPr>
        <p:txBody>
          <a:bodyPr/>
          <a:lstStyle/>
          <a:p>
            <a:endParaRPr lang="fr-FR"/>
          </a:p>
        </p:txBody>
      </p:sp>
      <p:sp>
        <p:nvSpPr>
          <p:cNvPr id="11" name="Shape 9"/>
          <p:cNvSpPr/>
          <p:nvPr/>
        </p:nvSpPr>
        <p:spPr>
          <a:xfrm>
            <a:off x="5669280" y="1554480"/>
            <a:ext cx="73152" cy="868680"/>
          </a:xfrm>
          <a:prstGeom prst="rect">
            <a:avLst/>
          </a:prstGeom>
          <a:solidFill>
            <a:srgbClr val="C9A227"/>
          </a:solidFill>
          <a:ln w="12700">
            <a:solidFill>
              <a:srgbClr val="C9A227"/>
            </a:solidFill>
            <a:prstDash val="solid"/>
          </a:ln>
        </p:spPr>
        <p:txBody>
          <a:bodyPr/>
          <a:lstStyle/>
          <a:p>
            <a:endParaRPr lang="fr-FR"/>
          </a:p>
        </p:txBody>
      </p:sp>
      <p:sp>
        <p:nvSpPr>
          <p:cNvPr id="12" name="Text 10"/>
          <p:cNvSpPr/>
          <p:nvPr/>
        </p:nvSpPr>
        <p:spPr>
          <a:xfrm>
            <a:off x="5806440" y="1627632"/>
            <a:ext cx="3017520" cy="38404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 18 mois</a:t>
            </a:r>
            <a:endParaRPr lang="en-US" sz="2000" dirty="0"/>
          </a:p>
        </p:txBody>
      </p:sp>
      <p:sp>
        <p:nvSpPr>
          <p:cNvPr id="13" name="Text 11"/>
          <p:cNvSpPr/>
          <p:nvPr/>
        </p:nvSpPr>
        <p:spPr>
          <a:xfrm>
            <a:off x="5806440" y="2011680"/>
            <a:ext cx="3017520" cy="36576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durée moyenne d'un parcours d'achat immobilier neuf</a:t>
            </a:r>
            <a:endParaRPr lang="en-US" sz="1000" dirty="0"/>
          </a:p>
        </p:txBody>
      </p:sp>
      <p:sp>
        <p:nvSpPr>
          <p:cNvPr id="14" name="Shape 12"/>
          <p:cNvSpPr/>
          <p:nvPr/>
        </p:nvSpPr>
        <p:spPr>
          <a:xfrm>
            <a:off x="5669280" y="2514600"/>
            <a:ext cx="3200400" cy="868680"/>
          </a:xfrm>
          <a:prstGeom prst="rect">
            <a:avLst/>
          </a:prstGeom>
          <a:solidFill>
            <a:srgbClr val="F5F7FB"/>
          </a:solidFill>
          <a:ln w="9525">
            <a:solidFill>
              <a:srgbClr val="CADCFC"/>
            </a:solidFill>
            <a:prstDash val="solid"/>
          </a:ln>
        </p:spPr>
        <p:txBody>
          <a:bodyPr/>
          <a:lstStyle/>
          <a:p>
            <a:endParaRPr lang="fr-FR"/>
          </a:p>
        </p:txBody>
      </p:sp>
      <p:sp>
        <p:nvSpPr>
          <p:cNvPr id="15" name="Shape 13"/>
          <p:cNvSpPr/>
          <p:nvPr/>
        </p:nvSpPr>
        <p:spPr>
          <a:xfrm>
            <a:off x="5669280" y="2514600"/>
            <a:ext cx="73152" cy="868680"/>
          </a:xfrm>
          <a:prstGeom prst="rect">
            <a:avLst/>
          </a:prstGeom>
          <a:solidFill>
            <a:srgbClr val="C9A227"/>
          </a:solidFill>
          <a:ln w="12700">
            <a:solidFill>
              <a:srgbClr val="C9A227"/>
            </a:solidFill>
            <a:prstDash val="solid"/>
          </a:ln>
        </p:spPr>
        <p:txBody>
          <a:bodyPr/>
          <a:lstStyle/>
          <a:p>
            <a:endParaRPr lang="fr-FR"/>
          </a:p>
        </p:txBody>
      </p:sp>
      <p:sp>
        <p:nvSpPr>
          <p:cNvPr id="16" name="Text 14"/>
          <p:cNvSpPr/>
          <p:nvPr/>
        </p:nvSpPr>
        <p:spPr>
          <a:xfrm>
            <a:off x="5806440" y="2587752"/>
            <a:ext cx="3017520" cy="38404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7 P</a:t>
            </a:r>
            <a:endParaRPr lang="en-US" sz="2000" dirty="0"/>
          </a:p>
        </p:txBody>
      </p:sp>
      <p:sp>
        <p:nvSpPr>
          <p:cNvPr id="17" name="Text 15"/>
          <p:cNvSpPr/>
          <p:nvPr/>
        </p:nvSpPr>
        <p:spPr>
          <a:xfrm>
            <a:off x="5806440" y="2971800"/>
            <a:ext cx="3017520" cy="36576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du marketing des services appliqués à l'immobilier</a:t>
            </a:r>
            <a:endParaRPr lang="en-US" sz="1000" dirty="0"/>
          </a:p>
        </p:txBody>
      </p:sp>
      <p:sp>
        <p:nvSpPr>
          <p:cNvPr id="18" name="Shape 16"/>
          <p:cNvSpPr/>
          <p:nvPr/>
        </p:nvSpPr>
        <p:spPr>
          <a:xfrm>
            <a:off x="5669280" y="3474720"/>
            <a:ext cx="3200400" cy="868680"/>
          </a:xfrm>
          <a:prstGeom prst="rect">
            <a:avLst/>
          </a:prstGeom>
          <a:solidFill>
            <a:srgbClr val="F5F7FB"/>
          </a:solidFill>
          <a:ln w="9525">
            <a:solidFill>
              <a:srgbClr val="CADCFC"/>
            </a:solidFill>
            <a:prstDash val="solid"/>
          </a:ln>
        </p:spPr>
        <p:txBody>
          <a:bodyPr/>
          <a:lstStyle/>
          <a:p>
            <a:endParaRPr lang="fr-FR"/>
          </a:p>
        </p:txBody>
      </p:sp>
      <p:sp>
        <p:nvSpPr>
          <p:cNvPr id="19" name="Shape 17"/>
          <p:cNvSpPr/>
          <p:nvPr/>
        </p:nvSpPr>
        <p:spPr>
          <a:xfrm>
            <a:off x="5669280" y="3474720"/>
            <a:ext cx="73152" cy="868680"/>
          </a:xfrm>
          <a:prstGeom prst="rect">
            <a:avLst/>
          </a:prstGeom>
          <a:solidFill>
            <a:srgbClr val="C9A227"/>
          </a:solidFill>
          <a:ln w="12700">
            <a:solidFill>
              <a:srgbClr val="C9A227"/>
            </a:solidFill>
            <a:prstDash val="solid"/>
          </a:ln>
        </p:spPr>
        <p:txBody>
          <a:bodyPr/>
          <a:lstStyle/>
          <a:p>
            <a:endParaRPr lang="fr-FR"/>
          </a:p>
        </p:txBody>
      </p:sp>
      <p:sp>
        <p:nvSpPr>
          <p:cNvPr id="20" name="Text 18"/>
          <p:cNvSpPr/>
          <p:nvPr/>
        </p:nvSpPr>
        <p:spPr>
          <a:xfrm>
            <a:off x="5806440" y="3547872"/>
            <a:ext cx="3017520" cy="38404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3 phases</a:t>
            </a:r>
            <a:endParaRPr lang="en-US" sz="2000" dirty="0"/>
          </a:p>
        </p:txBody>
      </p:sp>
      <p:sp>
        <p:nvSpPr>
          <p:cNvPr id="21" name="Text 19"/>
          <p:cNvSpPr/>
          <p:nvPr/>
        </p:nvSpPr>
        <p:spPr>
          <a:xfrm>
            <a:off x="5806440" y="3931920"/>
            <a:ext cx="3017520" cy="36576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avant , pendant et après l'achat à orchestrer</a:t>
            </a:r>
            <a:endParaRPr lang="en-US" sz="1000" dirty="0"/>
          </a:p>
        </p:txBody>
      </p:sp>
      <p:sp>
        <p:nvSpPr>
          <p:cNvPr id="23" name="Rectangle 22"/>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17">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AE3"/>
        </a:solidFill>
        <a:effectLst/>
      </p:bgPr>
    </p:bg>
    <p:spTree>
      <p:nvGrpSpPr>
        <p:cNvPr id="1" name=""/>
        <p:cNvGrpSpPr/>
        <p:nvPr/>
      </p:nvGrpSpPr>
      <p:grpSpPr>
        <a:xfrm>
          <a:off x="0" y="0"/>
          <a:ext cx="0" cy="0"/>
          <a:chOff x="0" y="0"/>
          <a:chExt cx="0" cy="0"/>
        </a:xfrm>
      </p:grpSpPr>
      <p:sp>
        <p:nvSpPr>
          <p:cNvPr id="10" name="Rectangle 9"/>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0" y="0"/>
            <a:ext cx="228600" cy="5143500"/>
          </a:xfrm>
          <a:prstGeom prst="rect">
            <a:avLst/>
          </a:prstGeom>
          <a:solidFill>
            <a:srgbClr val="C9A227"/>
          </a:solidFill>
          <a:ln/>
        </p:spPr>
        <p:txBody>
          <a:bodyPr/>
          <a:lstStyle/>
          <a:p>
            <a:endParaRPr lang="fr-FR"/>
          </a:p>
        </p:txBody>
      </p:sp>
      <p:sp>
        <p:nvSpPr>
          <p:cNvPr id="3" name="Text 1"/>
          <p:cNvSpPr/>
          <p:nvPr/>
        </p:nvSpPr>
        <p:spPr>
          <a:xfrm>
            <a:off x="731520" y="1645920"/>
            <a:ext cx="7315200" cy="457200"/>
          </a:xfrm>
          <a:prstGeom prst="rect">
            <a:avLst/>
          </a:prstGeom>
          <a:noFill/>
          <a:ln/>
        </p:spPr>
        <p:txBody>
          <a:bodyPr wrap="square" rtlCol="0" anchor="ctr"/>
          <a:lstStyle/>
          <a:p>
            <a:pPr marL="0" indent="0">
              <a:buNone/>
            </a:pPr>
            <a:r>
              <a:rPr lang="en-US" sz="1800" b="1" kern="0" spc="400" dirty="0">
                <a:solidFill>
                  <a:srgbClr val="1C2B3A"/>
                </a:solidFill>
                <a:latin typeface="Trebuchet MS" pitchFamily="34" charset="0"/>
                <a:ea typeface="Calibri" pitchFamily="34" charset="-122"/>
                <a:cs typeface="Calibri" pitchFamily="34" charset="-120"/>
              </a:rPr>
              <a:t>THÈME 1</a:t>
            </a:r>
            <a:endParaRPr lang="en-US" sz="1400" dirty="0"/>
          </a:p>
        </p:txBody>
      </p:sp>
      <p:sp>
        <p:nvSpPr>
          <p:cNvPr id="4" name="Text 2"/>
          <p:cNvSpPr/>
          <p:nvPr/>
        </p:nvSpPr>
        <p:spPr>
          <a:xfrm>
            <a:off x="731520" y="2103120"/>
            <a:ext cx="8229600" cy="914400"/>
          </a:xfrm>
          <a:prstGeom prst="rect">
            <a:avLst/>
          </a:prstGeom>
          <a:noFill/>
          <a:ln/>
        </p:spPr>
        <p:txBody>
          <a:bodyPr wrap="square"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Le Marketing Mix</a:t>
            </a:r>
            <a:endParaRPr lang="en-US" sz="4400" dirty="0"/>
          </a:p>
        </p:txBody>
      </p:sp>
      <p:sp>
        <p:nvSpPr>
          <p:cNvPr id="5" name="Shape 3"/>
          <p:cNvSpPr/>
          <p:nvPr/>
        </p:nvSpPr>
        <p:spPr>
          <a:xfrm>
            <a:off x="731520" y="3108960"/>
            <a:ext cx="731520" cy="45720"/>
          </a:xfrm>
          <a:prstGeom prst="rect">
            <a:avLst/>
          </a:prstGeom>
          <a:solidFill>
            <a:srgbClr val="C9A227"/>
          </a:solidFill>
          <a:ln/>
        </p:spPr>
        <p:txBody>
          <a:bodyPr/>
          <a:lstStyle/>
          <a:p>
            <a:endParaRPr lang="fr-FR"/>
          </a:p>
        </p:txBody>
      </p:sp>
      <p:sp>
        <p:nvSpPr>
          <p:cNvPr id="6" name="Text 4"/>
          <p:cNvSpPr/>
          <p:nvPr/>
        </p:nvSpPr>
        <p:spPr>
          <a:xfrm>
            <a:off x="731520" y="3246120"/>
            <a:ext cx="7772400" cy="457200"/>
          </a:xfrm>
          <a:prstGeom prst="rect">
            <a:avLst/>
          </a:prstGeom>
          <a:noFill/>
          <a:ln/>
        </p:spPr>
        <p:txBody>
          <a:bodyPr wrap="square" rtlCol="0" anchor="ctr"/>
          <a:lstStyle/>
          <a:p>
            <a:pPr marL="0" indent="0">
              <a:buNone/>
            </a:pPr>
            <a:endParaRPr lang="en-US" sz="1600" dirty="0"/>
          </a:p>
        </p:txBody>
      </p:sp>
      <p:sp>
        <p:nvSpPr>
          <p:cNvPr id="7" name="Shape 5"/>
          <p:cNvSpPr/>
          <p:nvPr/>
        </p:nvSpPr>
        <p:spPr>
          <a:xfrm>
            <a:off x="0" y="4850892"/>
            <a:ext cx="9144000" cy="292608"/>
          </a:xfrm>
          <a:prstGeom prst="rect">
            <a:avLst/>
          </a:prstGeom>
          <a:solidFill>
            <a:srgbClr val="1E2761"/>
          </a:solidFill>
          <a:ln/>
        </p:spPr>
        <p:txBody>
          <a:bodyPr/>
          <a:lstStyle/>
          <a:p>
            <a:endParaRPr lang="fr-FR" dirty="0"/>
          </a:p>
        </p:txBody>
      </p:sp>
      <p:sp>
        <p:nvSpPr>
          <p:cNvPr id="9" name="Text 7"/>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4 / 15</a:t>
            </a:r>
            <a:endParaRPr lang="en-US" sz="900" dirty="0"/>
          </a:p>
        </p:txBody>
      </p:sp>
      <p:sp>
        <p:nvSpPr>
          <p:cNvPr id="11" name="Rectangle 10"/>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3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0"/>
        </a:solidFill>
        <a:effectLst/>
      </p:bgPr>
    </p:bg>
    <p:spTree>
      <p:nvGrpSpPr>
        <p:cNvPr id="1" name=""/>
        <p:cNvGrpSpPr/>
        <p:nvPr/>
      </p:nvGrpSpPr>
      <p:grpSpPr>
        <a:xfrm>
          <a:off x="0" y="0"/>
          <a:ext cx="0" cy="0"/>
          <a:chOff x="0" y="0"/>
          <a:chExt cx="0" cy="0"/>
        </a:xfrm>
      </p:grpSpPr>
      <p:sp>
        <p:nvSpPr>
          <p:cNvPr id="24" name="Rectangle 23"/>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Qu'est-ce que le marketing mix ?</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5 / 15</a:t>
            </a:r>
            <a:endParaRPr lang="en-US" sz="900" dirty="0"/>
          </a:p>
        </p:txBody>
      </p:sp>
      <p:sp>
        <p:nvSpPr>
          <p:cNvPr id="9" name="Shape 7"/>
          <p:cNvSpPr/>
          <p:nvPr/>
        </p:nvSpPr>
        <p:spPr>
          <a:xfrm>
            <a:off x="365760" y="1554480"/>
            <a:ext cx="8412480" cy="1051560"/>
          </a:xfrm>
          <a:prstGeom prst="rect">
            <a:avLst/>
          </a:prstGeom>
          <a:solidFill>
            <a:srgbClr val="F5F7FB"/>
          </a:solidFill>
          <a:ln w="9525">
            <a:solidFill>
              <a:srgbClr val="CADCFC"/>
            </a:solidFill>
            <a:prstDash val="solid"/>
          </a:ln>
        </p:spPr>
        <p:txBody>
          <a:bodyPr/>
          <a:lstStyle/>
          <a:p>
            <a:endParaRPr lang="fr-FR"/>
          </a:p>
        </p:txBody>
      </p:sp>
      <p:sp>
        <p:nvSpPr>
          <p:cNvPr id="10" name="Shape 8"/>
          <p:cNvSpPr/>
          <p:nvPr/>
        </p:nvSpPr>
        <p:spPr>
          <a:xfrm>
            <a:off x="365760" y="1554480"/>
            <a:ext cx="73152" cy="1051560"/>
          </a:xfrm>
          <a:prstGeom prst="rect">
            <a:avLst/>
          </a:prstGeom>
          <a:solidFill>
            <a:srgbClr val="C9A227"/>
          </a:solidFill>
          <a:ln w="12700">
            <a:solidFill>
              <a:srgbClr val="C9A227"/>
            </a:solidFill>
            <a:prstDash val="solid"/>
          </a:ln>
        </p:spPr>
        <p:txBody>
          <a:bodyPr/>
          <a:lstStyle/>
          <a:p>
            <a:endParaRPr lang="fr-FR"/>
          </a:p>
        </p:txBody>
      </p:sp>
      <p:sp>
        <p:nvSpPr>
          <p:cNvPr id="11" name="Text 9"/>
          <p:cNvSpPr/>
          <p:nvPr/>
        </p:nvSpPr>
        <p:spPr>
          <a:xfrm>
            <a:off x="640080" y="1627632"/>
            <a:ext cx="8046720" cy="91440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Définition.  </a:t>
            </a:r>
            <a:r>
              <a:rPr lang="en-US" sz="1500" dirty="0">
                <a:solidFill>
                  <a:srgbClr val="1C2B3A"/>
                </a:solidFill>
                <a:latin typeface="Trebuchet MS" pitchFamily="34" charset="0"/>
                <a:ea typeface="Calibri" pitchFamily="34" charset="-122"/>
                <a:cs typeface="Calibri" pitchFamily="34" charset="-120"/>
              </a:rPr>
              <a:t>Le marketing mix désigne l'ensemble cohérent des décisions et actions marketing qu'une entreprise met en œuvre pour atteindre ses objectifs commerciaux sur un marché cible. Il traduit la stratégie marketing en leviers opérationnels articulés autour de variables </a:t>
            </a:r>
            <a:r>
              <a:rPr lang="en-US" sz="1500" dirty="0" err="1">
                <a:solidFill>
                  <a:srgbClr val="1C2B3A"/>
                </a:solidFill>
                <a:latin typeface="Trebuchet MS" pitchFamily="34" charset="0"/>
                <a:ea typeface="Calibri" pitchFamily="34" charset="-122"/>
                <a:cs typeface="Calibri" pitchFamily="34" charset="-120"/>
              </a:rPr>
              <a:t>interdépendantes</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Historiquement</a:t>
            </a:r>
            <a:r>
              <a:rPr lang="en-US" sz="1500" dirty="0">
                <a:solidFill>
                  <a:srgbClr val="1C2B3A"/>
                </a:solidFill>
                <a:latin typeface="Trebuchet MS" pitchFamily="34" charset="0"/>
                <a:ea typeface="Calibri" pitchFamily="34" charset="-122"/>
                <a:cs typeface="Calibri" pitchFamily="34" charset="-120"/>
              </a:rPr>
              <a:t> les </a:t>
            </a:r>
            <a:r>
              <a:rPr lang="en-US" sz="1500" b="1" dirty="0">
                <a:solidFill>
                  <a:srgbClr val="1C2B3A"/>
                </a:solidFill>
                <a:latin typeface="Trebuchet MS" pitchFamily="34" charset="0"/>
                <a:ea typeface="Calibri" pitchFamily="34" charset="-122"/>
                <a:cs typeface="Calibri" pitchFamily="34" charset="-120"/>
              </a:rPr>
              <a:t>4P</a:t>
            </a:r>
            <a:r>
              <a:rPr lang="en-US" sz="1500" dirty="0">
                <a:solidFill>
                  <a:srgbClr val="1C2B3A"/>
                </a:solidFill>
                <a:latin typeface="Trebuchet MS" pitchFamily="34" charset="0"/>
                <a:ea typeface="Calibri" pitchFamily="34" charset="-122"/>
                <a:cs typeface="Calibri" pitchFamily="34" charset="-120"/>
              </a:rPr>
              <a:t> formalisés par E. Jerome McCarthy </a:t>
            </a:r>
            <a:r>
              <a:rPr lang="en-US" sz="1500" dirty="0" err="1">
                <a:solidFill>
                  <a:srgbClr val="1C2B3A"/>
                </a:solidFill>
                <a:latin typeface="Trebuchet MS" pitchFamily="34" charset="0"/>
                <a:ea typeface="Calibri" pitchFamily="34" charset="-122"/>
                <a:cs typeface="Calibri" pitchFamily="34" charset="-120"/>
              </a:rPr>
              <a:t>en</a:t>
            </a:r>
            <a:r>
              <a:rPr lang="en-US" sz="1500" dirty="0">
                <a:solidFill>
                  <a:srgbClr val="1C2B3A"/>
                </a:solidFill>
                <a:latin typeface="Trebuchet MS" pitchFamily="34" charset="0"/>
                <a:ea typeface="Calibri" pitchFamily="34" charset="-122"/>
                <a:cs typeface="Calibri" pitchFamily="34" charset="-120"/>
              </a:rPr>
              <a:t> 1960 </a:t>
            </a:r>
            <a:r>
              <a:rPr lang="en-US" sz="1500" dirty="0" err="1">
                <a:solidFill>
                  <a:srgbClr val="1C2B3A"/>
                </a:solidFill>
                <a:latin typeface="Trebuchet MS" pitchFamily="34" charset="0"/>
                <a:ea typeface="Calibri" pitchFamily="34" charset="-122"/>
                <a:cs typeface="Calibri" pitchFamily="34" charset="-120"/>
              </a:rPr>
              <a:t>ont</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été</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étendus</a:t>
            </a:r>
            <a:r>
              <a:rPr lang="en-US" sz="1500" dirty="0">
                <a:solidFill>
                  <a:srgbClr val="1C2B3A"/>
                </a:solidFill>
                <a:latin typeface="Trebuchet MS" pitchFamily="34" charset="0"/>
                <a:ea typeface="Calibri" pitchFamily="34" charset="-122"/>
                <a:cs typeface="Calibri" pitchFamily="34" charset="-120"/>
              </a:rPr>
              <a:t> aux </a:t>
            </a:r>
            <a:r>
              <a:rPr lang="en-US" sz="1500" b="1" dirty="0">
                <a:solidFill>
                  <a:srgbClr val="1C2B3A"/>
                </a:solidFill>
                <a:latin typeface="Trebuchet MS" pitchFamily="34" charset="0"/>
                <a:ea typeface="Calibri" pitchFamily="34" charset="-122"/>
                <a:cs typeface="Calibri" pitchFamily="34" charset="-120"/>
              </a:rPr>
              <a:t>7P</a:t>
            </a:r>
            <a:r>
              <a:rPr lang="en-US" sz="1500" dirty="0">
                <a:solidFill>
                  <a:srgbClr val="1C2B3A"/>
                </a:solidFill>
                <a:latin typeface="Trebuchet MS" pitchFamily="34" charset="0"/>
                <a:ea typeface="Calibri" pitchFamily="34" charset="-122"/>
                <a:cs typeface="Calibri" pitchFamily="34" charset="-120"/>
              </a:rPr>
              <a:t> par Booms &amp; Bitner (1981) pour les activités de service.</a:t>
            </a:r>
            <a:endParaRPr lang="en-US" sz="1100" dirty="0"/>
          </a:p>
        </p:txBody>
      </p:sp>
      <p:sp>
        <p:nvSpPr>
          <p:cNvPr id="12" name="Shape 10"/>
          <p:cNvSpPr/>
          <p:nvPr/>
        </p:nvSpPr>
        <p:spPr>
          <a:xfrm>
            <a:off x="365760" y="2880360"/>
            <a:ext cx="2697480" cy="1691640"/>
          </a:xfrm>
          <a:prstGeom prst="rect">
            <a:avLst/>
          </a:prstGeom>
          <a:solidFill>
            <a:srgbClr val="FFFFFF"/>
          </a:solidFill>
          <a:ln w="12700">
            <a:solidFill>
              <a:srgbClr val="1E2761"/>
            </a:solidFill>
            <a:prstDash val="solid"/>
          </a:ln>
        </p:spPr>
        <p:txBody>
          <a:bodyPr/>
          <a:lstStyle/>
          <a:p>
            <a:endParaRPr lang="fr-FR"/>
          </a:p>
        </p:txBody>
      </p:sp>
      <p:sp>
        <p:nvSpPr>
          <p:cNvPr id="13" name="Shape 11"/>
          <p:cNvSpPr/>
          <p:nvPr/>
        </p:nvSpPr>
        <p:spPr>
          <a:xfrm>
            <a:off x="365760" y="2880360"/>
            <a:ext cx="2697480" cy="292608"/>
          </a:xfrm>
          <a:prstGeom prst="rect">
            <a:avLst/>
          </a:prstGeom>
          <a:solidFill>
            <a:srgbClr val="1E2761"/>
          </a:solidFill>
          <a:ln w="12700">
            <a:solidFill>
              <a:srgbClr val="1E2761"/>
            </a:solidFill>
            <a:prstDash val="solid"/>
          </a:ln>
        </p:spPr>
        <p:txBody>
          <a:bodyPr/>
          <a:lstStyle/>
          <a:p>
            <a:endParaRPr lang="fr-FR"/>
          </a:p>
        </p:txBody>
      </p:sp>
      <p:sp>
        <p:nvSpPr>
          <p:cNvPr id="14" name="Text 12"/>
          <p:cNvSpPr/>
          <p:nvPr/>
        </p:nvSpPr>
        <p:spPr>
          <a:xfrm>
            <a:off x="475488" y="2880360"/>
            <a:ext cx="24688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Cohérence</a:t>
            </a:r>
            <a:endParaRPr lang="en-US" sz="1200" dirty="0"/>
          </a:p>
        </p:txBody>
      </p:sp>
      <p:sp>
        <p:nvSpPr>
          <p:cNvPr id="15" name="Text 13"/>
          <p:cNvSpPr/>
          <p:nvPr/>
        </p:nvSpPr>
        <p:spPr>
          <a:xfrm>
            <a:off x="502920" y="3246120"/>
            <a:ext cx="2468880" cy="12801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Les variables doivent former un </a:t>
            </a:r>
            <a:r>
              <a:rPr lang="en-US" sz="1500" dirty="0" err="1">
                <a:solidFill>
                  <a:srgbClr val="1C2B3A"/>
                </a:solidFill>
                <a:latin typeface="Trebuchet MS" pitchFamily="34" charset="0"/>
                <a:ea typeface="Calibri" pitchFamily="34" charset="-122"/>
                <a:cs typeface="Calibri" pitchFamily="34" charset="-120"/>
              </a:rPr>
              <a:t>système</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harmonisé</a:t>
            </a:r>
            <a:r>
              <a:rPr lang="en-US" sz="1500" dirty="0">
                <a:solidFill>
                  <a:srgbClr val="1C2B3A"/>
                </a:solidFill>
                <a:latin typeface="Trebuchet MS" pitchFamily="34" charset="0"/>
                <a:ea typeface="Calibri" pitchFamily="34" charset="-122"/>
                <a:cs typeface="Calibri" pitchFamily="34" charset="-120"/>
              </a:rPr>
              <a:t> sans contradiction interne.</a:t>
            </a:r>
            <a:endParaRPr lang="en-US" sz="1100" dirty="0"/>
          </a:p>
        </p:txBody>
      </p:sp>
      <p:sp>
        <p:nvSpPr>
          <p:cNvPr id="16" name="Shape 14"/>
          <p:cNvSpPr/>
          <p:nvPr/>
        </p:nvSpPr>
        <p:spPr>
          <a:xfrm>
            <a:off x="3246120" y="2880360"/>
            <a:ext cx="2697480" cy="1691640"/>
          </a:xfrm>
          <a:prstGeom prst="rect">
            <a:avLst/>
          </a:prstGeom>
          <a:solidFill>
            <a:srgbClr val="FFFFFF"/>
          </a:solidFill>
          <a:ln w="12700">
            <a:solidFill>
              <a:srgbClr val="1E2761"/>
            </a:solidFill>
            <a:prstDash val="solid"/>
          </a:ln>
        </p:spPr>
        <p:txBody>
          <a:bodyPr/>
          <a:lstStyle/>
          <a:p>
            <a:endParaRPr lang="fr-FR"/>
          </a:p>
        </p:txBody>
      </p:sp>
      <p:sp>
        <p:nvSpPr>
          <p:cNvPr id="17" name="Shape 15"/>
          <p:cNvSpPr/>
          <p:nvPr/>
        </p:nvSpPr>
        <p:spPr>
          <a:xfrm>
            <a:off x="3246120" y="2880360"/>
            <a:ext cx="2697480" cy="292608"/>
          </a:xfrm>
          <a:prstGeom prst="rect">
            <a:avLst/>
          </a:prstGeom>
          <a:solidFill>
            <a:srgbClr val="1E2761"/>
          </a:solidFill>
          <a:ln w="12700">
            <a:solidFill>
              <a:srgbClr val="1E2761"/>
            </a:solidFill>
            <a:prstDash val="solid"/>
          </a:ln>
        </p:spPr>
        <p:txBody>
          <a:bodyPr/>
          <a:lstStyle/>
          <a:p>
            <a:endParaRPr lang="fr-FR"/>
          </a:p>
        </p:txBody>
      </p:sp>
      <p:sp>
        <p:nvSpPr>
          <p:cNvPr id="18" name="Text 16"/>
          <p:cNvSpPr/>
          <p:nvPr/>
        </p:nvSpPr>
        <p:spPr>
          <a:xfrm>
            <a:off x="3355848" y="2880360"/>
            <a:ext cx="24688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Cible</a:t>
            </a:r>
            <a:endParaRPr lang="en-US" sz="1200" dirty="0"/>
          </a:p>
        </p:txBody>
      </p:sp>
      <p:sp>
        <p:nvSpPr>
          <p:cNvPr id="19" name="Text 17"/>
          <p:cNvSpPr/>
          <p:nvPr/>
        </p:nvSpPr>
        <p:spPr>
          <a:xfrm>
            <a:off x="3383280" y="3246120"/>
            <a:ext cx="2468880" cy="12801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Le mix se construit en fonction d'un segment précis et de son insight.</a:t>
            </a:r>
            <a:endParaRPr lang="en-US" sz="1100" dirty="0"/>
          </a:p>
        </p:txBody>
      </p:sp>
      <p:sp>
        <p:nvSpPr>
          <p:cNvPr id="20" name="Shape 18"/>
          <p:cNvSpPr/>
          <p:nvPr/>
        </p:nvSpPr>
        <p:spPr>
          <a:xfrm>
            <a:off x="6126480" y="2880360"/>
            <a:ext cx="2697480" cy="1691640"/>
          </a:xfrm>
          <a:prstGeom prst="rect">
            <a:avLst/>
          </a:prstGeom>
          <a:solidFill>
            <a:srgbClr val="FFFFFF"/>
          </a:solidFill>
          <a:ln w="12700">
            <a:solidFill>
              <a:srgbClr val="1E2761"/>
            </a:solidFill>
            <a:prstDash val="solid"/>
          </a:ln>
        </p:spPr>
        <p:txBody>
          <a:bodyPr/>
          <a:lstStyle/>
          <a:p>
            <a:endParaRPr lang="fr-FR"/>
          </a:p>
        </p:txBody>
      </p:sp>
      <p:sp>
        <p:nvSpPr>
          <p:cNvPr id="21" name="Shape 19"/>
          <p:cNvSpPr/>
          <p:nvPr/>
        </p:nvSpPr>
        <p:spPr>
          <a:xfrm>
            <a:off x="6126480" y="2880360"/>
            <a:ext cx="2697480" cy="292608"/>
          </a:xfrm>
          <a:prstGeom prst="rect">
            <a:avLst/>
          </a:prstGeom>
          <a:solidFill>
            <a:srgbClr val="1E2761"/>
          </a:solidFill>
          <a:ln w="12700">
            <a:solidFill>
              <a:srgbClr val="1E2761"/>
            </a:solidFill>
            <a:prstDash val="solid"/>
          </a:ln>
        </p:spPr>
        <p:txBody>
          <a:bodyPr/>
          <a:lstStyle/>
          <a:p>
            <a:endParaRPr lang="fr-FR"/>
          </a:p>
        </p:txBody>
      </p:sp>
      <p:sp>
        <p:nvSpPr>
          <p:cNvPr id="22" name="Text 20"/>
          <p:cNvSpPr/>
          <p:nvPr/>
        </p:nvSpPr>
        <p:spPr>
          <a:xfrm>
            <a:off x="6236208" y="2880360"/>
            <a:ext cx="24688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Différenciation</a:t>
            </a:r>
            <a:endParaRPr lang="en-US" sz="1200" dirty="0"/>
          </a:p>
        </p:txBody>
      </p:sp>
      <p:sp>
        <p:nvSpPr>
          <p:cNvPr id="23" name="Text 21"/>
          <p:cNvSpPr/>
          <p:nvPr/>
        </p:nvSpPr>
        <p:spPr>
          <a:xfrm>
            <a:off x="6263640" y="3246120"/>
            <a:ext cx="2468880" cy="12801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Il doit créer un avantage concurrentiel perçu et défendable.</a:t>
            </a:r>
            <a:endParaRPr lang="en-US" sz="1100" dirty="0"/>
          </a:p>
        </p:txBody>
      </p:sp>
      <p:sp>
        <p:nvSpPr>
          <p:cNvPr id="25" name="Rectangle 24"/>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44">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AE3"/>
        </a:solidFill>
        <a:effectLst/>
      </p:bgPr>
    </p:bg>
    <p:spTree>
      <p:nvGrpSpPr>
        <p:cNvPr id="1" name=""/>
        <p:cNvGrpSpPr/>
        <p:nvPr/>
      </p:nvGrpSpPr>
      <p:grpSpPr>
        <a:xfrm>
          <a:off x="0" y="0"/>
          <a:ext cx="0" cy="0"/>
          <a:chOff x="0" y="0"/>
          <a:chExt cx="0" cy="0"/>
        </a:xfrm>
      </p:grpSpPr>
      <p:sp>
        <p:nvSpPr>
          <p:cNvPr id="30" name="Rectangle 29"/>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Les 4P : le cœur du marketing mix</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6 / 15</a:t>
            </a:r>
            <a:endParaRPr lang="en-US" sz="900" dirty="0"/>
          </a:p>
        </p:txBody>
      </p:sp>
      <p:sp>
        <p:nvSpPr>
          <p:cNvPr id="9" name="Text 7"/>
          <p:cNvSpPr/>
          <p:nvPr/>
        </p:nvSpPr>
        <p:spPr>
          <a:xfrm>
            <a:off x="365760" y="1417320"/>
            <a:ext cx="8595360" cy="27432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Modèle fondateur de E. J. McCarthy (1960) les quatre leviers d'action complémentaires.</a:t>
            </a:r>
            <a:endParaRPr lang="en-US" sz="1100" dirty="0"/>
          </a:p>
        </p:txBody>
      </p:sp>
      <p:sp>
        <p:nvSpPr>
          <p:cNvPr id="10" name="Shape 8"/>
          <p:cNvSpPr/>
          <p:nvPr/>
        </p:nvSpPr>
        <p:spPr>
          <a:xfrm>
            <a:off x="365760" y="1790575"/>
            <a:ext cx="4160520" cy="1280160"/>
          </a:xfrm>
          <a:prstGeom prst="rect">
            <a:avLst/>
          </a:prstGeom>
          <a:solidFill>
            <a:srgbClr val="F5F7FB"/>
          </a:solidFill>
          <a:ln w="9525">
            <a:solidFill>
              <a:srgbClr val="CADCFC"/>
            </a:solidFill>
            <a:prstDash val="solid"/>
          </a:ln>
        </p:spPr>
        <p:txBody>
          <a:bodyPr/>
          <a:lstStyle/>
          <a:p>
            <a:endParaRPr lang="fr-FR"/>
          </a:p>
        </p:txBody>
      </p:sp>
      <p:sp>
        <p:nvSpPr>
          <p:cNvPr id="11" name="Shape 9"/>
          <p:cNvSpPr/>
          <p:nvPr/>
        </p:nvSpPr>
        <p:spPr>
          <a:xfrm>
            <a:off x="502920" y="1947672"/>
            <a:ext cx="685800" cy="685800"/>
          </a:xfrm>
          <a:prstGeom prst="ellipse">
            <a:avLst/>
          </a:prstGeom>
          <a:solidFill>
            <a:srgbClr val="1E2761"/>
          </a:solidFill>
          <a:ln w="12700">
            <a:solidFill>
              <a:srgbClr val="1E2761"/>
            </a:solidFill>
            <a:prstDash val="solid"/>
          </a:ln>
        </p:spPr>
        <p:txBody>
          <a:bodyPr/>
          <a:lstStyle/>
          <a:p>
            <a:endParaRPr lang="fr-FR"/>
          </a:p>
        </p:txBody>
      </p:sp>
      <p:sp>
        <p:nvSpPr>
          <p:cNvPr id="12" name="Text 10"/>
          <p:cNvSpPr/>
          <p:nvPr/>
        </p:nvSpPr>
        <p:spPr>
          <a:xfrm>
            <a:off x="502920" y="1947672"/>
            <a:ext cx="685800" cy="68580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P</a:t>
            </a:r>
            <a:endParaRPr lang="en-US" sz="2400" dirty="0"/>
          </a:p>
        </p:txBody>
      </p:sp>
      <p:sp>
        <p:nvSpPr>
          <p:cNvPr id="13" name="Text 11"/>
          <p:cNvSpPr/>
          <p:nvPr/>
        </p:nvSpPr>
        <p:spPr>
          <a:xfrm>
            <a:off x="1280160" y="1920240"/>
            <a:ext cx="320040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Product — Produit</a:t>
            </a:r>
            <a:endParaRPr lang="en-US" sz="1300" dirty="0"/>
          </a:p>
        </p:txBody>
      </p:sp>
      <p:sp>
        <p:nvSpPr>
          <p:cNvPr id="14" name="Text 12"/>
          <p:cNvSpPr/>
          <p:nvPr/>
        </p:nvSpPr>
        <p:spPr>
          <a:xfrm>
            <a:off x="1280160" y="2221992"/>
            <a:ext cx="3154680" cy="8229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Caractéristiques, qualité, gamme, design, marque, services associés, garanties. Ce que l'entreprise offre pour répondre à un besoin.</a:t>
            </a:r>
            <a:endParaRPr lang="en-US" sz="950" dirty="0"/>
          </a:p>
        </p:txBody>
      </p:sp>
      <p:sp>
        <p:nvSpPr>
          <p:cNvPr id="15" name="Shape 13"/>
          <p:cNvSpPr/>
          <p:nvPr/>
        </p:nvSpPr>
        <p:spPr>
          <a:xfrm>
            <a:off x="4709160" y="1783080"/>
            <a:ext cx="4160520" cy="1280160"/>
          </a:xfrm>
          <a:prstGeom prst="rect">
            <a:avLst/>
          </a:prstGeom>
          <a:solidFill>
            <a:srgbClr val="F5F7FB"/>
          </a:solidFill>
          <a:ln w="9525">
            <a:solidFill>
              <a:srgbClr val="CADCFC"/>
            </a:solidFill>
            <a:prstDash val="solid"/>
          </a:ln>
        </p:spPr>
        <p:txBody>
          <a:bodyPr/>
          <a:lstStyle/>
          <a:p>
            <a:endParaRPr lang="fr-FR"/>
          </a:p>
        </p:txBody>
      </p:sp>
      <p:sp>
        <p:nvSpPr>
          <p:cNvPr id="16" name="Shape 14"/>
          <p:cNvSpPr/>
          <p:nvPr/>
        </p:nvSpPr>
        <p:spPr>
          <a:xfrm>
            <a:off x="4846320" y="1947672"/>
            <a:ext cx="685800" cy="685800"/>
          </a:xfrm>
          <a:prstGeom prst="ellipse">
            <a:avLst/>
          </a:prstGeom>
          <a:solidFill>
            <a:srgbClr val="1E2761"/>
          </a:solidFill>
          <a:ln w="12700">
            <a:solidFill>
              <a:srgbClr val="1E2761"/>
            </a:solidFill>
            <a:prstDash val="solid"/>
          </a:ln>
        </p:spPr>
        <p:txBody>
          <a:bodyPr/>
          <a:lstStyle/>
          <a:p>
            <a:endParaRPr lang="fr-FR"/>
          </a:p>
        </p:txBody>
      </p:sp>
      <p:sp>
        <p:nvSpPr>
          <p:cNvPr id="17" name="Text 15"/>
          <p:cNvSpPr/>
          <p:nvPr/>
        </p:nvSpPr>
        <p:spPr>
          <a:xfrm>
            <a:off x="4846320" y="1947672"/>
            <a:ext cx="685800" cy="68580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P</a:t>
            </a:r>
            <a:endParaRPr lang="en-US" sz="2400" dirty="0"/>
          </a:p>
        </p:txBody>
      </p:sp>
      <p:sp>
        <p:nvSpPr>
          <p:cNvPr id="18" name="Text 16"/>
          <p:cNvSpPr/>
          <p:nvPr/>
        </p:nvSpPr>
        <p:spPr>
          <a:xfrm>
            <a:off x="5623560" y="1920240"/>
            <a:ext cx="320040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Price — Prix</a:t>
            </a:r>
            <a:endParaRPr lang="en-US" sz="1300" dirty="0"/>
          </a:p>
        </p:txBody>
      </p:sp>
      <p:sp>
        <p:nvSpPr>
          <p:cNvPr id="19" name="Text 17"/>
          <p:cNvSpPr/>
          <p:nvPr/>
        </p:nvSpPr>
        <p:spPr>
          <a:xfrm>
            <a:off x="5623560" y="2221992"/>
            <a:ext cx="3154680" cy="8229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Prix de vente, conditions de paiement, remises, politique tarifaire. Premier signal de positionnement et levier direct de marge.</a:t>
            </a:r>
            <a:endParaRPr lang="en-US" sz="950" dirty="0"/>
          </a:p>
        </p:txBody>
      </p:sp>
      <p:sp>
        <p:nvSpPr>
          <p:cNvPr id="20" name="Shape 18"/>
          <p:cNvSpPr/>
          <p:nvPr/>
        </p:nvSpPr>
        <p:spPr>
          <a:xfrm>
            <a:off x="365760" y="3200400"/>
            <a:ext cx="4160520" cy="1280160"/>
          </a:xfrm>
          <a:prstGeom prst="rect">
            <a:avLst/>
          </a:prstGeom>
          <a:solidFill>
            <a:srgbClr val="F5F7FB"/>
          </a:solidFill>
          <a:ln w="9525">
            <a:solidFill>
              <a:srgbClr val="CADCFC"/>
            </a:solidFill>
            <a:prstDash val="solid"/>
          </a:ln>
        </p:spPr>
        <p:txBody>
          <a:bodyPr/>
          <a:lstStyle/>
          <a:p>
            <a:endParaRPr lang="fr-FR"/>
          </a:p>
        </p:txBody>
      </p:sp>
      <p:sp>
        <p:nvSpPr>
          <p:cNvPr id="21" name="Shape 19"/>
          <p:cNvSpPr/>
          <p:nvPr/>
        </p:nvSpPr>
        <p:spPr>
          <a:xfrm>
            <a:off x="502920" y="3364992"/>
            <a:ext cx="685800" cy="685800"/>
          </a:xfrm>
          <a:prstGeom prst="ellipse">
            <a:avLst/>
          </a:prstGeom>
          <a:solidFill>
            <a:srgbClr val="1E2761"/>
          </a:solidFill>
          <a:ln w="12700">
            <a:solidFill>
              <a:srgbClr val="1E2761"/>
            </a:solidFill>
            <a:prstDash val="solid"/>
          </a:ln>
        </p:spPr>
        <p:txBody>
          <a:bodyPr/>
          <a:lstStyle/>
          <a:p>
            <a:endParaRPr lang="fr-FR"/>
          </a:p>
        </p:txBody>
      </p:sp>
      <p:sp>
        <p:nvSpPr>
          <p:cNvPr id="22" name="Text 20"/>
          <p:cNvSpPr/>
          <p:nvPr/>
        </p:nvSpPr>
        <p:spPr>
          <a:xfrm>
            <a:off x="502920" y="3364992"/>
            <a:ext cx="685800" cy="68580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P</a:t>
            </a:r>
            <a:endParaRPr lang="en-US" sz="2400" dirty="0"/>
          </a:p>
        </p:txBody>
      </p:sp>
      <p:sp>
        <p:nvSpPr>
          <p:cNvPr id="23" name="Text 21"/>
          <p:cNvSpPr/>
          <p:nvPr/>
        </p:nvSpPr>
        <p:spPr>
          <a:xfrm>
            <a:off x="1280160" y="3337560"/>
            <a:ext cx="320040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Place — Distribution</a:t>
            </a:r>
            <a:endParaRPr lang="en-US" sz="1300" dirty="0"/>
          </a:p>
        </p:txBody>
      </p:sp>
      <p:sp>
        <p:nvSpPr>
          <p:cNvPr id="24" name="Text 22"/>
          <p:cNvSpPr/>
          <p:nvPr/>
        </p:nvSpPr>
        <p:spPr>
          <a:xfrm>
            <a:off x="1280160" y="3639312"/>
            <a:ext cx="3154680" cy="8229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Canaux, points de vente, logistique, couverture géographique. Comment et où le client accède au produit.</a:t>
            </a:r>
            <a:endParaRPr lang="en-US" sz="950" dirty="0"/>
          </a:p>
        </p:txBody>
      </p:sp>
      <p:sp>
        <p:nvSpPr>
          <p:cNvPr id="25" name="Shape 23"/>
          <p:cNvSpPr/>
          <p:nvPr/>
        </p:nvSpPr>
        <p:spPr>
          <a:xfrm>
            <a:off x="4709160" y="3200400"/>
            <a:ext cx="4160520" cy="1280160"/>
          </a:xfrm>
          <a:prstGeom prst="rect">
            <a:avLst/>
          </a:prstGeom>
          <a:solidFill>
            <a:srgbClr val="F5F7FB"/>
          </a:solidFill>
          <a:ln w="9525">
            <a:solidFill>
              <a:srgbClr val="CADCFC"/>
            </a:solidFill>
            <a:prstDash val="solid"/>
          </a:ln>
        </p:spPr>
        <p:txBody>
          <a:bodyPr/>
          <a:lstStyle/>
          <a:p>
            <a:endParaRPr lang="fr-FR"/>
          </a:p>
        </p:txBody>
      </p:sp>
      <p:sp>
        <p:nvSpPr>
          <p:cNvPr id="26" name="Shape 24"/>
          <p:cNvSpPr/>
          <p:nvPr/>
        </p:nvSpPr>
        <p:spPr>
          <a:xfrm>
            <a:off x="4846320" y="3364992"/>
            <a:ext cx="685800" cy="685800"/>
          </a:xfrm>
          <a:prstGeom prst="ellipse">
            <a:avLst/>
          </a:prstGeom>
          <a:solidFill>
            <a:srgbClr val="1E2761"/>
          </a:solidFill>
          <a:ln w="12700">
            <a:solidFill>
              <a:srgbClr val="1E2761"/>
            </a:solidFill>
            <a:prstDash val="solid"/>
          </a:ln>
        </p:spPr>
        <p:txBody>
          <a:bodyPr/>
          <a:lstStyle/>
          <a:p>
            <a:endParaRPr lang="fr-FR"/>
          </a:p>
        </p:txBody>
      </p:sp>
      <p:sp>
        <p:nvSpPr>
          <p:cNvPr id="27" name="Text 25"/>
          <p:cNvSpPr/>
          <p:nvPr/>
        </p:nvSpPr>
        <p:spPr>
          <a:xfrm>
            <a:off x="4846320" y="3364992"/>
            <a:ext cx="685800" cy="68580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P</a:t>
            </a:r>
            <a:endParaRPr lang="en-US" sz="2400" dirty="0"/>
          </a:p>
        </p:txBody>
      </p:sp>
      <p:sp>
        <p:nvSpPr>
          <p:cNvPr id="28" name="Text 26"/>
          <p:cNvSpPr/>
          <p:nvPr/>
        </p:nvSpPr>
        <p:spPr>
          <a:xfrm>
            <a:off x="5623560" y="3337560"/>
            <a:ext cx="320040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Promotion — Communication</a:t>
            </a:r>
            <a:endParaRPr lang="en-US" sz="1300" dirty="0"/>
          </a:p>
        </p:txBody>
      </p:sp>
      <p:sp>
        <p:nvSpPr>
          <p:cNvPr id="29" name="Text 27"/>
          <p:cNvSpPr/>
          <p:nvPr/>
        </p:nvSpPr>
        <p:spPr>
          <a:xfrm>
            <a:off x="5623560" y="3639312"/>
            <a:ext cx="3154680" cy="8229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Publicité, promotion des ventes, RP, marketing digital, force de vente. Comment l'entreprise fait connaître et désirer son offre.</a:t>
            </a:r>
            <a:endParaRPr lang="en-US" sz="950" dirty="0"/>
          </a:p>
        </p:txBody>
      </p:sp>
      <p:sp>
        <p:nvSpPr>
          <p:cNvPr id="31" name="Rectangle 30"/>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562">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0"/>
        </a:solidFill>
        <a:effectLst/>
      </p:bgPr>
    </p:bg>
    <p:spTree>
      <p:nvGrpSpPr>
        <p:cNvPr id="1" name=""/>
        <p:cNvGrpSpPr/>
        <p:nvPr/>
      </p:nvGrpSpPr>
      <p:grpSpPr>
        <a:xfrm>
          <a:off x="0" y="0"/>
          <a:ext cx="0" cy="0"/>
          <a:chOff x="0" y="0"/>
          <a:chExt cx="0" cy="0"/>
        </a:xfrm>
      </p:grpSpPr>
      <p:sp>
        <p:nvSpPr>
          <p:cNvPr id="18" name="Rectangle 17"/>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Du 4P au 7P : le marketing des services</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7 / 15</a:t>
            </a:r>
            <a:endParaRPr lang="en-US" sz="900" dirty="0"/>
          </a:p>
        </p:txBody>
      </p:sp>
      <p:sp>
        <p:nvSpPr>
          <p:cNvPr id="9" name="Text 7"/>
          <p:cNvSpPr/>
          <p:nvPr/>
        </p:nvSpPr>
        <p:spPr>
          <a:xfrm>
            <a:off x="365760" y="1417320"/>
            <a:ext cx="8595360" cy="32004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Booms &amp; Bitner (1981) ajoutent trois P pour les activités de service </a:t>
            </a:r>
            <a:r>
              <a:rPr lang="en-US" sz="1500" i="1" dirty="0" err="1">
                <a:solidFill>
                  <a:srgbClr val="1C2B3A"/>
                </a:solidFill>
                <a:latin typeface="Trebuchet MS" pitchFamily="34" charset="0"/>
                <a:ea typeface="Calibri" pitchFamily="34" charset="-122"/>
                <a:cs typeface="Calibri" pitchFamily="34" charset="-120"/>
              </a:rPr>
              <a:t>ce</a:t>
            </a:r>
            <a:r>
              <a:rPr lang="en-US" sz="1500" i="1" dirty="0">
                <a:solidFill>
                  <a:srgbClr val="1C2B3A"/>
                </a:solidFill>
                <a:latin typeface="Trebuchet MS" pitchFamily="34" charset="0"/>
                <a:ea typeface="Calibri" pitchFamily="34" charset="-122"/>
                <a:cs typeface="Calibri" pitchFamily="34" charset="-120"/>
              </a:rPr>
              <a:t> qui est </a:t>
            </a:r>
            <a:r>
              <a:rPr lang="en-US" sz="1500" i="1" dirty="0" err="1">
                <a:solidFill>
                  <a:srgbClr val="1C2B3A"/>
                </a:solidFill>
                <a:latin typeface="Trebuchet MS" pitchFamily="34" charset="0"/>
                <a:ea typeface="Calibri" pitchFamily="34" charset="-122"/>
                <a:cs typeface="Calibri" pitchFamily="34" charset="-120"/>
              </a:rPr>
              <a:t>particulièrement</a:t>
            </a:r>
            <a:r>
              <a:rPr lang="en-US" sz="1500" i="1" dirty="0">
                <a:solidFill>
                  <a:srgbClr val="1C2B3A"/>
                </a:solidFill>
                <a:latin typeface="Trebuchet MS" pitchFamily="34" charset="0"/>
                <a:ea typeface="Calibri" pitchFamily="34" charset="-122"/>
                <a:cs typeface="Calibri" pitchFamily="34" charset="-120"/>
              </a:rPr>
              <a:t> pertinent en immobilier.</a:t>
            </a:r>
            <a:endParaRPr lang="en-US" sz="1100" dirty="0"/>
          </a:p>
        </p:txBody>
      </p:sp>
      <p:sp>
        <p:nvSpPr>
          <p:cNvPr id="10" name="Shape 8"/>
          <p:cNvSpPr/>
          <p:nvPr/>
        </p:nvSpPr>
        <p:spPr>
          <a:xfrm>
            <a:off x="365760" y="1828800"/>
            <a:ext cx="4023360" cy="2880360"/>
          </a:xfrm>
          <a:prstGeom prst="rect">
            <a:avLst/>
          </a:prstGeom>
          <a:solidFill>
            <a:srgbClr val="FFFFFF"/>
          </a:solidFill>
          <a:ln w="12700">
            <a:solidFill>
              <a:srgbClr val="1E2761"/>
            </a:solidFill>
            <a:prstDash val="solid"/>
          </a:ln>
        </p:spPr>
        <p:txBody>
          <a:bodyPr/>
          <a:lstStyle/>
          <a:p>
            <a:endParaRPr lang="fr-FR"/>
          </a:p>
        </p:txBody>
      </p:sp>
      <p:sp>
        <p:nvSpPr>
          <p:cNvPr id="11" name="Text 9"/>
          <p:cNvSpPr/>
          <p:nvPr/>
        </p:nvSpPr>
        <p:spPr>
          <a:xfrm>
            <a:off x="502920" y="1920240"/>
            <a:ext cx="3749040" cy="32004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Les 4P historiques</a:t>
            </a:r>
            <a:endParaRPr lang="en-US" sz="1300" dirty="0"/>
          </a:p>
        </p:txBody>
      </p:sp>
      <p:sp>
        <p:nvSpPr>
          <p:cNvPr id="12" name="Shape 10"/>
          <p:cNvSpPr/>
          <p:nvPr/>
        </p:nvSpPr>
        <p:spPr>
          <a:xfrm>
            <a:off x="502920" y="2240280"/>
            <a:ext cx="365760" cy="27432"/>
          </a:xfrm>
          <a:prstGeom prst="rect">
            <a:avLst/>
          </a:prstGeom>
          <a:solidFill>
            <a:srgbClr val="C9A227"/>
          </a:solidFill>
          <a:ln/>
        </p:spPr>
        <p:txBody>
          <a:bodyPr/>
          <a:lstStyle/>
          <a:p>
            <a:endParaRPr lang="fr-FR"/>
          </a:p>
        </p:txBody>
      </p:sp>
      <p:sp>
        <p:nvSpPr>
          <p:cNvPr id="13" name="Text 11"/>
          <p:cNvSpPr/>
          <p:nvPr/>
        </p:nvSpPr>
        <p:spPr>
          <a:xfrm>
            <a:off x="502920" y="2331720"/>
            <a:ext cx="3749040" cy="2331720"/>
          </a:xfrm>
          <a:prstGeom prst="rect">
            <a:avLst/>
          </a:prstGeom>
          <a:noFill/>
          <a:ln/>
        </p:spPr>
        <p:txBody>
          <a:bodyPr wrap="square" lIns="0" tIns="0" rIns="0" bIns="0" rtlCol="0" anchor="ctr"/>
          <a:lstStyle/>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Product</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Le bien — neuf, ancien, locatif, tertiaire</a:t>
            </a:r>
            <a:endParaRPr lang="en-US" sz="1000" dirty="0"/>
          </a:p>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Price</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Prix au m², plan de financement, frais</a:t>
            </a:r>
            <a:endParaRPr lang="en-US" sz="1000" dirty="0"/>
          </a:p>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Place</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Agences, plateformes, commercialisation directe</a:t>
            </a:r>
            <a:endParaRPr lang="en-US" sz="1000" dirty="0"/>
          </a:p>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Promotion</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Site web, salons, brochures, SEO/SEA, RP</a:t>
            </a:r>
            <a:endParaRPr lang="en-US" sz="1000" dirty="0"/>
          </a:p>
        </p:txBody>
      </p:sp>
      <p:sp>
        <p:nvSpPr>
          <p:cNvPr id="14" name="Shape 12"/>
          <p:cNvSpPr/>
          <p:nvPr/>
        </p:nvSpPr>
        <p:spPr>
          <a:xfrm>
            <a:off x="4754880" y="1828800"/>
            <a:ext cx="4023360" cy="2880360"/>
          </a:xfrm>
          <a:prstGeom prst="rect">
            <a:avLst/>
          </a:prstGeom>
          <a:solidFill>
            <a:srgbClr val="1E2761"/>
          </a:solidFill>
          <a:ln w="12700">
            <a:solidFill>
              <a:srgbClr val="1E2761"/>
            </a:solidFill>
            <a:prstDash val="solid"/>
          </a:ln>
        </p:spPr>
        <p:txBody>
          <a:bodyPr/>
          <a:lstStyle/>
          <a:p>
            <a:endParaRPr lang="fr-FR"/>
          </a:p>
        </p:txBody>
      </p:sp>
      <p:sp>
        <p:nvSpPr>
          <p:cNvPr id="15" name="Text 13"/>
          <p:cNvSpPr/>
          <p:nvPr/>
        </p:nvSpPr>
        <p:spPr>
          <a:xfrm>
            <a:off x="4892040" y="1920240"/>
            <a:ext cx="3749040" cy="32004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Les 3P ajoutés (services)</a:t>
            </a:r>
            <a:endParaRPr lang="en-US" sz="1300" dirty="0"/>
          </a:p>
        </p:txBody>
      </p:sp>
      <p:sp>
        <p:nvSpPr>
          <p:cNvPr id="16" name="Shape 14"/>
          <p:cNvSpPr/>
          <p:nvPr/>
        </p:nvSpPr>
        <p:spPr>
          <a:xfrm>
            <a:off x="4892040" y="2240280"/>
            <a:ext cx="365760" cy="27432"/>
          </a:xfrm>
          <a:prstGeom prst="rect">
            <a:avLst/>
          </a:prstGeom>
          <a:solidFill>
            <a:srgbClr val="C9A227"/>
          </a:solidFill>
          <a:ln/>
        </p:spPr>
        <p:txBody>
          <a:bodyPr/>
          <a:lstStyle/>
          <a:p>
            <a:endParaRPr lang="fr-FR"/>
          </a:p>
        </p:txBody>
      </p:sp>
      <p:sp>
        <p:nvSpPr>
          <p:cNvPr id="17" name="Text 15"/>
          <p:cNvSpPr/>
          <p:nvPr/>
        </p:nvSpPr>
        <p:spPr>
          <a:xfrm>
            <a:off x="4892040" y="2331720"/>
            <a:ext cx="3749040" cy="2331720"/>
          </a:xfrm>
          <a:prstGeom prst="rect">
            <a:avLst/>
          </a:prstGeom>
          <a:noFill/>
          <a:ln/>
        </p:spPr>
        <p:txBody>
          <a:bodyPr wrap="square" lIns="0" tIns="0" rIns="0" bIns="0" rtlCol="0" anchor="ctr"/>
          <a:lstStyle/>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People — Personnes</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Conseillers, équipes commerciales, SAV : la qualité de la relation humaine est un produit en soi</a:t>
            </a:r>
            <a:endParaRPr lang="en-US" sz="1000" dirty="0"/>
          </a:p>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Process — Processus</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Procédures de vente, gestion des dossiers, suivi de chantier, livraison</a:t>
            </a:r>
            <a:endParaRPr lang="en-US" sz="1000" dirty="0"/>
          </a:p>
          <a:p>
            <a:pPr marL="0" indent="0">
              <a:spcAft>
                <a:spcPts val="300"/>
              </a:spcAft>
              <a:buNone/>
            </a:pPr>
            <a:r>
              <a:rPr lang="en-US" sz="1500" b="1" dirty="0">
                <a:solidFill>
                  <a:srgbClr val="1C2B3A"/>
                </a:solidFill>
                <a:latin typeface="Trebuchet MS" pitchFamily="34" charset="0"/>
                <a:ea typeface="Calibri" pitchFamily="34" charset="-122"/>
                <a:cs typeface="Calibri" pitchFamily="34" charset="-120"/>
              </a:rPr>
              <a:t>Physical evidence — Preuve physique</a:t>
            </a:r>
            <a:endParaRPr lang="en-US" sz="1000" dirty="0"/>
          </a:p>
          <a:p>
            <a:pPr marL="0" indent="0">
              <a:spcAft>
                <a:spcPts val="300"/>
              </a:spcAft>
              <a:buNone/>
            </a:pPr>
            <a:r>
              <a:rPr lang="en-US" sz="1500" dirty="0">
                <a:solidFill>
                  <a:srgbClr val="1C2B3A"/>
                </a:solidFill>
                <a:latin typeface="Trebuchet MS" pitchFamily="34" charset="0"/>
                <a:ea typeface="Calibri" pitchFamily="34" charset="-122"/>
                <a:cs typeface="Calibri" pitchFamily="34" charset="-120"/>
              </a:rPr>
              <a:t>Bulles de vente, appartements témoins, supports, charte visuelle, livret de livraison</a:t>
            </a:r>
            <a:endParaRPr lang="en-US" sz="1000" dirty="0"/>
          </a:p>
        </p:txBody>
      </p:sp>
      <p:sp>
        <p:nvSpPr>
          <p:cNvPr id="19" name="Rectangle 18"/>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AE3"/>
        </a:solidFill>
        <a:effectLst/>
      </p:bgPr>
    </p:bg>
    <p:spTree>
      <p:nvGrpSpPr>
        <p:cNvPr id="1" name=""/>
        <p:cNvGrpSpPr/>
        <p:nvPr/>
      </p:nvGrpSpPr>
      <p:grpSpPr>
        <a:xfrm>
          <a:off x="0" y="0"/>
          <a:ext cx="0" cy="0"/>
          <a:chOff x="0" y="0"/>
          <a:chExt cx="0" cy="0"/>
        </a:xfrm>
      </p:grpSpPr>
      <p:sp>
        <p:nvSpPr>
          <p:cNvPr id="10" name="Rectangle 9"/>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THÈME 1</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Lecture des 7P appliquée à l'immobilier</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8 / 15</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281227239"/>
              </p:ext>
            </p:extLst>
          </p:nvPr>
        </p:nvGraphicFramePr>
        <p:xfrm>
          <a:off x="365760" y="1554480"/>
          <a:ext cx="8412480" cy="2688336"/>
        </p:xfrm>
        <a:graphic>
          <a:graphicData uri="http://schemas.openxmlformats.org/drawingml/2006/table">
            <a:tbl>
              <a:tblPr/>
              <a:tblGrid>
                <a:gridCol w="182880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Product</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Logements neufs / anciens, bureaux, résidences services, performance énergétique (RE2020), prestations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Prix de vente, Pinel, prêt à taux zéro, échelonnement des paiements VEFA</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Place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Agences physiques, sites web, portails (SeLoger, Bien'ici), commercialisateurs partenaires, salons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Promotion</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Campagnes digitales, retargeting, brochures, home staging, événements, relations presse, marque employeur</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People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Conseillers commerciaux, négociateurs, conseils en patrimoine, équipes après-vente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Process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Réservation, dépôt notarial, appels de fonds, visites de chantier, livraison, levée de réserves</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Physical evidence</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00" dirty="0">
                          <a:solidFill>
                            <a:srgbClr val="1F2937"/>
                          </a:solidFill>
                          <a:latin typeface="Calibri" pitchFamily="34" charset="0"/>
                          <a:ea typeface="Calibri" pitchFamily="34" charset="-122"/>
                          <a:cs typeface="Calibri" pitchFamily="34" charset="-120"/>
                        </a:rPr>
                        <a:t>Bulles de vente, maquettes, appartements témoins, visites virtuelles, contrats, livret d'accueil</a:t>
                      </a:r>
                      <a:endParaRPr lang="en-US" sz="1000" dirty="0">
                        <a:latin typeface="Calibri" charset="0"/>
                        <a:ea typeface="Calibri" charset="0"/>
                        <a:cs typeface="Calibri" charset="0"/>
                      </a:endParaRPr>
                    </a:p>
                  </a:txBody>
                  <a:tcPr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5F7FB"/>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555">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0"/>
        </a:solidFill>
        <a:effectLst/>
      </p:bgPr>
    </p:bg>
    <p:spTree>
      <p:nvGrpSpPr>
        <p:cNvPr id="1" name=""/>
        <p:cNvGrpSpPr/>
        <p:nvPr/>
      </p:nvGrpSpPr>
      <p:grpSpPr>
        <a:xfrm>
          <a:off x="0" y="0"/>
          <a:ext cx="0" cy="0"/>
          <a:chOff x="0" y="0"/>
          <a:chExt cx="0" cy="0"/>
        </a:xfrm>
      </p:grpSpPr>
      <p:sp>
        <p:nvSpPr>
          <p:cNvPr id="10" name="Rectangle 9"/>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0" y="0"/>
            <a:ext cx="228600" cy="5143500"/>
          </a:xfrm>
          <a:prstGeom prst="rect">
            <a:avLst/>
          </a:prstGeom>
          <a:solidFill>
            <a:srgbClr val="C9A227"/>
          </a:solidFill>
          <a:ln/>
        </p:spPr>
        <p:txBody>
          <a:bodyPr/>
          <a:lstStyle/>
          <a:p>
            <a:endParaRPr lang="fr-FR"/>
          </a:p>
        </p:txBody>
      </p:sp>
      <p:sp>
        <p:nvSpPr>
          <p:cNvPr id="3" name="Text 1"/>
          <p:cNvSpPr/>
          <p:nvPr/>
        </p:nvSpPr>
        <p:spPr>
          <a:xfrm>
            <a:off x="731520" y="1645920"/>
            <a:ext cx="7315200" cy="457200"/>
          </a:xfrm>
          <a:prstGeom prst="rect">
            <a:avLst/>
          </a:prstGeom>
          <a:noFill/>
          <a:ln/>
        </p:spPr>
        <p:txBody>
          <a:bodyPr wrap="square" rtlCol="0" anchor="ctr"/>
          <a:lstStyle/>
          <a:p>
            <a:pPr marL="0" indent="0">
              <a:buNone/>
            </a:pPr>
            <a:r>
              <a:rPr lang="en-US" sz="1800" b="1" kern="0" spc="400" dirty="0">
                <a:solidFill>
                  <a:srgbClr val="1C2B3A"/>
                </a:solidFill>
                <a:latin typeface="Trebuchet MS" pitchFamily="34" charset="0"/>
                <a:ea typeface="Calibri" pitchFamily="34" charset="-122"/>
                <a:cs typeface="Calibri" pitchFamily="34" charset="-120"/>
              </a:rPr>
              <a:t>THÈME 2</a:t>
            </a:r>
            <a:endParaRPr lang="en-US" sz="1400" dirty="0"/>
          </a:p>
        </p:txBody>
      </p:sp>
      <p:sp>
        <p:nvSpPr>
          <p:cNvPr id="4" name="Text 2"/>
          <p:cNvSpPr/>
          <p:nvPr/>
        </p:nvSpPr>
        <p:spPr>
          <a:xfrm>
            <a:off x="731520" y="2103120"/>
            <a:ext cx="8229600" cy="914400"/>
          </a:xfrm>
          <a:prstGeom prst="rect">
            <a:avLst/>
          </a:prstGeom>
          <a:noFill/>
          <a:ln/>
        </p:spPr>
        <p:txBody>
          <a:bodyPr wrap="square"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La GRC &amp; le marketing relationnel</a:t>
            </a:r>
            <a:endParaRPr lang="en-US" sz="4000" dirty="0"/>
          </a:p>
        </p:txBody>
      </p:sp>
      <p:sp>
        <p:nvSpPr>
          <p:cNvPr id="5" name="Shape 3"/>
          <p:cNvSpPr/>
          <p:nvPr/>
        </p:nvSpPr>
        <p:spPr>
          <a:xfrm>
            <a:off x="731520" y="3154680"/>
            <a:ext cx="731520" cy="45720"/>
          </a:xfrm>
          <a:prstGeom prst="rect">
            <a:avLst/>
          </a:prstGeom>
          <a:solidFill>
            <a:srgbClr val="C9A227"/>
          </a:solidFill>
          <a:ln/>
        </p:spPr>
        <p:txBody>
          <a:bodyPr/>
          <a:lstStyle/>
          <a:p>
            <a:endParaRPr lang="fr-FR"/>
          </a:p>
        </p:txBody>
      </p:sp>
      <p:sp>
        <p:nvSpPr>
          <p:cNvPr id="6" name="Text 4"/>
          <p:cNvSpPr/>
          <p:nvPr/>
        </p:nvSpPr>
        <p:spPr>
          <a:xfrm>
            <a:off x="731520" y="3291840"/>
            <a:ext cx="7772400" cy="457200"/>
          </a:xfrm>
          <a:prstGeom prst="rect">
            <a:avLst/>
          </a:prstGeom>
          <a:noFill/>
          <a:ln/>
        </p:spPr>
        <p:txBody>
          <a:bodyPr wrap="square" rtlCol="0" anchor="ctr"/>
          <a:lstStyle/>
          <a:p>
            <a:pPr marL="0" indent="0">
              <a:buNone/>
            </a:pPr>
            <a:endParaRPr lang="en-US" sz="1600" dirty="0"/>
          </a:p>
        </p:txBody>
      </p:sp>
      <p:sp>
        <p:nvSpPr>
          <p:cNvPr id="7" name="Shape 5"/>
          <p:cNvSpPr/>
          <p:nvPr/>
        </p:nvSpPr>
        <p:spPr>
          <a:xfrm>
            <a:off x="0" y="4850892"/>
            <a:ext cx="9144000" cy="292608"/>
          </a:xfrm>
          <a:prstGeom prst="rect">
            <a:avLst/>
          </a:prstGeom>
          <a:solidFill>
            <a:srgbClr val="1E2761"/>
          </a:solidFill>
          <a:ln/>
        </p:spPr>
        <p:txBody>
          <a:bodyPr/>
          <a:lstStyle/>
          <a:p>
            <a:endParaRPr lang="fr-FR"/>
          </a:p>
        </p:txBody>
      </p:sp>
      <p:sp>
        <p:nvSpPr>
          <p:cNvPr id="9" name="Text 7"/>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9 / 15</a:t>
            </a:r>
            <a:endParaRPr lang="en-US" sz="900" dirty="0"/>
          </a:p>
        </p:txBody>
      </p:sp>
      <p:sp>
        <p:nvSpPr>
          <p:cNvPr id="11" name="Rectangle 10"/>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EAE3"/>
        </a:solidFill>
        <a:effectLst/>
      </p:bgPr>
    </p:bg>
    <p:spTree>
      <p:nvGrpSpPr>
        <p:cNvPr id="1" name=""/>
        <p:cNvGrpSpPr/>
        <p:nvPr/>
      </p:nvGrpSpPr>
      <p:grpSpPr>
        <a:xfrm>
          <a:off x="0" y="0"/>
          <a:ext cx="0" cy="0"/>
          <a:chOff x="0" y="0"/>
          <a:chExt cx="0" cy="0"/>
        </a:xfrm>
      </p:grpSpPr>
      <p:sp>
        <p:nvSpPr>
          <p:cNvPr id="14" name="Rectangle 13"/>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THÈME 2</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GRC &amp; marketing relationnel</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10 / 15</a:t>
            </a:r>
            <a:endParaRPr lang="en-US" sz="900" dirty="0"/>
          </a:p>
        </p:txBody>
      </p:sp>
      <p:sp>
        <p:nvSpPr>
          <p:cNvPr id="9" name="Shape 7"/>
          <p:cNvSpPr/>
          <p:nvPr/>
        </p:nvSpPr>
        <p:spPr>
          <a:xfrm>
            <a:off x="365760" y="1508760"/>
            <a:ext cx="8412480" cy="1005840"/>
          </a:xfrm>
          <a:prstGeom prst="rect">
            <a:avLst/>
          </a:prstGeom>
          <a:solidFill>
            <a:srgbClr val="F5F7FB"/>
          </a:solidFill>
          <a:ln w="9525">
            <a:solidFill>
              <a:srgbClr val="CADCFC"/>
            </a:solidFill>
            <a:prstDash val="solid"/>
          </a:ln>
        </p:spPr>
        <p:txBody>
          <a:bodyPr/>
          <a:lstStyle/>
          <a:p>
            <a:endParaRPr lang="fr-FR"/>
          </a:p>
        </p:txBody>
      </p:sp>
      <p:sp>
        <p:nvSpPr>
          <p:cNvPr id="10" name="Shape 8"/>
          <p:cNvSpPr/>
          <p:nvPr/>
        </p:nvSpPr>
        <p:spPr>
          <a:xfrm>
            <a:off x="365760" y="1508760"/>
            <a:ext cx="73152" cy="1005840"/>
          </a:xfrm>
          <a:prstGeom prst="rect">
            <a:avLst/>
          </a:prstGeom>
          <a:solidFill>
            <a:srgbClr val="C9A227"/>
          </a:solidFill>
          <a:ln w="12700">
            <a:solidFill>
              <a:srgbClr val="C9A227"/>
            </a:solidFill>
            <a:prstDash val="solid"/>
          </a:ln>
        </p:spPr>
        <p:txBody>
          <a:bodyPr/>
          <a:lstStyle/>
          <a:p>
            <a:endParaRPr lang="fr-FR"/>
          </a:p>
        </p:txBody>
      </p:sp>
      <p:sp>
        <p:nvSpPr>
          <p:cNvPr id="11" name="Text 9"/>
          <p:cNvSpPr/>
          <p:nvPr/>
        </p:nvSpPr>
        <p:spPr>
          <a:xfrm>
            <a:off x="640080" y="1581912"/>
            <a:ext cx="8046720" cy="8686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Définition.  </a:t>
            </a:r>
            <a:r>
              <a:rPr lang="en-US" sz="1500" dirty="0">
                <a:solidFill>
                  <a:srgbClr val="1C2B3A"/>
                </a:solidFill>
                <a:latin typeface="Trebuchet MS" pitchFamily="34" charset="0"/>
                <a:ea typeface="Calibri" pitchFamily="34" charset="-122"/>
                <a:cs typeface="Calibri" pitchFamily="34" charset="-120"/>
              </a:rPr>
              <a:t>La Gestion de la Relation Client (GRC ou CRM) regroupe l'ensemble des stratégies, processus et outils visant à identifier, attirer, fidéliser et développer une relation durable et personnalisée avec chaque client. Le </a:t>
            </a:r>
            <a:r>
              <a:rPr lang="en-US" sz="1500" b="1" dirty="0">
                <a:solidFill>
                  <a:srgbClr val="1C2B3A"/>
                </a:solidFill>
                <a:latin typeface="Trebuchet MS" pitchFamily="34" charset="0"/>
                <a:ea typeface="Calibri" pitchFamily="34" charset="-122"/>
                <a:cs typeface="Calibri" pitchFamily="34" charset="-120"/>
              </a:rPr>
              <a:t>marketing relationnel</a:t>
            </a:r>
            <a:r>
              <a:rPr lang="en-US" sz="1500" dirty="0">
                <a:solidFill>
                  <a:srgbClr val="1C2B3A"/>
                </a:solidFill>
                <a:latin typeface="Trebuchet MS" pitchFamily="34" charset="0"/>
                <a:ea typeface="Calibri" pitchFamily="34" charset="-122"/>
                <a:cs typeface="Calibri" pitchFamily="34" charset="-120"/>
              </a:rPr>
              <a:t> s'oppose au marketing transactionnel : il privilégie la valeur créée sur la durée du cycle de vie client (Lifetime value - LTV) à la maximisation d'une vente isolée.</a:t>
            </a:r>
            <a:endParaRPr lang="en-US" sz="1100" dirty="0"/>
          </a:p>
        </p:txBody>
      </p:sp>
      <p:sp>
        <p:nvSpPr>
          <p:cNvPr id="12" name="Text 10"/>
          <p:cNvSpPr/>
          <p:nvPr/>
        </p:nvSpPr>
        <p:spPr>
          <a:xfrm>
            <a:off x="365760" y="2697480"/>
            <a:ext cx="822960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Marketing transactionnel vs marketing relationnel</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726408059"/>
              </p:ext>
            </p:extLst>
          </p:nvPr>
        </p:nvGraphicFramePr>
        <p:xfrm>
          <a:off x="365760" y="3017520"/>
          <a:ext cx="8412480" cy="1609344"/>
        </p:xfrm>
        <a:graphic>
          <a:graphicData uri="http://schemas.openxmlformats.org/drawingml/2006/table">
            <a:tbl>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10896">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Marketing transactionnel</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64748B"/>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Marketing relationnel</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Vente unique, court terme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Relation durable, long terme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Centré produit</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Centré client et expérience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Communication de masse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Personnalisation, segmentation fine</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r h="310896">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Mesure : chiffre d'affaires</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F2937"/>
                          </a:solidFill>
                          <a:latin typeface="Calibri" pitchFamily="34" charset="0"/>
                          <a:ea typeface="Calibri" pitchFamily="34" charset="-122"/>
                          <a:cs typeface="Calibri" pitchFamily="34" charset="-120"/>
                        </a:rPr>
                        <a:t>Mesure : satisfaction, fidélité, LTV, </a:t>
                      </a:r>
                      <a:r>
                        <a:rPr lang="fr-FR" sz="1050" kern="1200" dirty="0">
                          <a:solidFill>
                            <a:srgbClr val="1F2937"/>
                          </a:solidFill>
                          <a:latin typeface="Calibri" pitchFamily="34" charset="0"/>
                          <a:ea typeface="Calibri" pitchFamily="34" charset="-122"/>
                          <a:cs typeface="Calibri" pitchFamily="34" charset="-120"/>
                        </a:rPr>
                        <a:t>Net</a:t>
                      </a:r>
                      <a:r>
                        <a:rPr lang="fr-FR" sz="1800" b="1" i="0" kern="1200" dirty="0">
                          <a:solidFill>
                            <a:schemeClr val="tx1"/>
                          </a:solidFill>
                          <a:effectLst/>
                          <a:latin typeface="+mn-lt"/>
                          <a:ea typeface="+mn-ea"/>
                          <a:cs typeface="+mn-cs"/>
                        </a:rPr>
                        <a:t> </a:t>
                      </a:r>
                      <a:r>
                        <a:rPr lang="fr-FR" sz="1050" kern="1200" dirty="0" err="1">
                          <a:solidFill>
                            <a:srgbClr val="1F2937"/>
                          </a:solidFill>
                          <a:latin typeface="Calibri" pitchFamily="34" charset="0"/>
                          <a:ea typeface="Calibri" pitchFamily="34" charset="-122"/>
                          <a:cs typeface="Calibri" pitchFamily="34" charset="-120"/>
                        </a:rPr>
                        <a:t>Promoter</a:t>
                      </a:r>
                      <a:r>
                        <a:rPr lang="fr-FR" sz="1800" b="1" i="0" kern="1200" dirty="0">
                          <a:solidFill>
                            <a:schemeClr val="tx1"/>
                          </a:solidFill>
                          <a:effectLst/>
                          <a:latin typeface="+mn-lt"/>
                          <a:ea typeface="+mn-ea"/>
                          <a:cs typeface="+mn-cs"/>
                        </a:rPr>
                        <a:t> </a:t>
                      </a:r>
                      <a:r>
                        <a:rPr lang="fr-FR" sz="1050" kern="1200" dirty="0">
                          <a:solidFill>
                            <a:srgbClr val="1F2937"/>
                          </a:solidFill>
                          <a:latin typeface="Calibri" pitchFamily="34" charset="0"/>
                          <a:ea typeface="Calibri" pitchFamily="34" charset="-122"/>
                          <a:cs typeface="Calibri" pitchFamily="34" charset="-120"/>
                        </a:rPr>
                        <a:t>Score (NPS)</a:t>
                      </a:r>
                      <a:endParaRPr lang="en-US" sz="1050" dirty="0">
                        <a:latin typeface="Calibri" charset="0"/>
                        <a:ea typeface="Calibri" charset="0"/>
                        <a:cs typeface="Calibri" charset="0"/>
                      </a:endParaRPr>
                    </a:p>
                  </a:txBody>
                  <a:tcP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5" name="Rectangle 14"/>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72">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0"/>
        </a:solidFill>
        <a:effectLst/>
      </p:bgPr>
    </p:bg>
    <p:spTree>
      <p:nvGrpSpPr>
        <p:cNvPr id="1" name=""/>
        <p:cNvGrpSpPr/>
        <p:nvPr/>
      </p:nvGrpSpPr>
      <p:grpSpPr>
        <a:xfrm>
          <a:off x="0" y="0"/>
          <a:ext cx="0" cy="0"/>
          <a:chOff x="0" y="0"/>
          <a:chExt cx="0" cy="0"/>
        </a:xfrm>
      </p:grpSpPr>
      <p:sp>
        <p:nvSpPr>
          <p:cNvPr id="29" name="Rectangle 28"/>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THÈME 2</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Le parcours client : définition &amp; enjeux</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11 / 15</a:t>
            </a:r>
            <a:endParaRPr lang="en-US" sz="900" dirty="0"/>
          </a:p>
        </p:txBody>
      </p:sp>
      <p:sp>
        <p:nvSpPr>
          <p:cNvPr id="9" name="Shape 7"/>
          <p:cNvSpPr/>
          <p:nvPr/>
        </p:nvSpPr>
        <p:spPr>
          <a:xfrm>
            <a:off x="365760" y="1508760"/>
            <a:ext cx="8412480" cy="914400"/>
          </a:xfrm>
          <a:prstGeom prst="rect">
            <a:avLst/>
          </a:prstGeom>
          <a:solidFill>
            <a:srgbClr val="F5F7FB"/>
          </a:solidFill>
          <a:ln w="9525">
            <a:solidFill>
              <a:srgbClr val="CADCFC"/>
            </a:solidFill>
            <a:prstDash val="solid"/>
          </a:ln>
        </p:spPr>
        <p:txBody>
          <a:bodyPr/>
          <a:lstStyle/>
          <a:p>
            <a:endParaRPr lang="fr-FR"/>
          </a:p>
        </p:txBody>
      </p:sp>
      <p:sp>
        <p:nvSpPr>
          <p:cNvPr id="10" name="Shape 8"/>
          <p:cNvSpPr/>
          <p:nvPr/>
        </p:nvSpPr>
        <p:spPr>
          <a:xfrm>
            <a:off x="365760" y="1508760"/>
            <a:ext cx="73152" cy="914400"/>
          </a:xfrm>
          <a:prstGeom prst="rect">
            <a:avLst/>
          </a:prstGeom>
          <a:solidFill>
            <a:srgbClr val="C9A227"/>
          </a:solidFill>
          <a:ln w="12700">
            <a:solidFill>
              <a:srgbClr val="C9A227"/>
            </a:solidFill>
            <a:prstDash val="solid"/>
          </a:ln>
        </p:spPr>
        <p:txBody>
          <a:bodyPr/>
          <a:lstStyle/>
          <a:p>
            <a:endParaRPr lang="fr-FR"/>
          </a:p>
        </p:txBody>
      </p:sp>
      <p:sp>
        <p:nvSpPr>
          <p:cNvPr id="11" name="Text 9"/>
          <p:cNvSpPr/>
          <p:nvPr/>
        </p:nvSpPr>
        <p:spPr>
          <a:xfrm>
            <a:off x="640080" y="1581912"/>
            <a:ext cx="8046720" cy="77724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Définition.  </a:t>
            </a:r>
            <a:r>
              <a:rPr lang="en-US" sz="1500" dirty="0">
                <a:solidFill>
                  <a:srgbClr val="1C2B3A"/>
                </a:solidFill>
                <a:latin typeface="Trebuchet MS" pitchFamily="34" charset="0"/>
                <a:ea typeface="Calibri" pitchFamily="34" charset="-122"/>
                <a:cs typeface="Calibri" pitchFamily="34" charset="-120"/>
              </a:rPr>
              <a:t>Le parcours client (customer journey) désigne l'ensemble des étapes physiques et </a:t>
            </a:r>
            <a:r>
              <a:rPr lang="en-US" sz="1500" dirty="0" err="1">
                <a:solidFill>
                  <a:srgbClr val="1C2B3A"/>
                </a:solidFill>
                <a:latin typeface="Trebuchet MS" pitchFamily="34" charset="0"/>
                <a:ea typeface="Calibri" pitchFamily="34" charset="-122"/>
                <a:cs typeface="Calibri" pitchFamily="34" charset="-120"/>
              </a:rPr>
              <a:t>digitales</a:t>
            </a:r>
            <a:r>
              <a:rPr lang="en-US" sz="1500" dirty="0">
                <a:solidFill>
                  <a:srgbClr val="1C2B3A"/>
                </a:solidFill>
                <a:latin typeface="Trebuchet MS" pitchFamily="34" charset="0"/>
                <a:ea typeface="Calibri" pitchFamily="34" charset="-122"/>
                <a:cs typeface="Calibri" pitchFamily="34" charset="-120"/>
              </a:rPr>
              <a:t> qu'un client traverse dans sa relation avec </a:t>
            </a:r>
            <a:r>
              <a:rPr lang="en-US" sz="1500" dirty="0" err="1">
                <a:solidFill>
                  <a:srgbClr val="1C2B3A"/>
                </a:solidFill>
                <a:latin typeface="Trebuchet MS" pitchFamily="34" charset="0"/>
                <a:ea typeface="Calibri" pitchFamily="34" charset="-122"/>
                <a:cs typeface="Calibri" pitchFamily="34" charset="-120"/>
              </a:rPr>
              <a:t>une</a:t>
            </a:r>
            <a:r>
              <a:rPr lang="en-US" sz="1500" dirty="0">
                <a:solidFill>
                  <a:srgbClr val="1C2B3A"/>
                </a:solidFill>
                <a:latin typeface="Trebuchet MS" pitchFamily="34" charset="0"/>
                <a:ea typeface="Calibri" pitchFamily="34" charset="-122"/>
                <a:cs typeface="Calibri" pitchFamily="34" charset="-120"/>
              </a:rPr>
              <a:t> marque depuis l'apparition du besoin jusqu'à l'usage et la recommandation. </a:t>
            </a:r>
            <a:endParaRPr lang="en-US" sz="1100" dirty="0"/>
          </a:p>
        </p:txBody>
      </p:sp>
      <p:sp>
        <p:nvSpPr>
          <p:cNvPr id="12" name="Shape 10"/>
          <p:cNvSpPr/>
          <p:nvPr/>
        </p:nvSpPr>
        <p:spPr>
          <a:xfrm>
            <a:off x="365760" y="2697480"/>
            <a:ext cx="2743200" cy="1874520"/>
          </a:xfrm>
          <a:prstGeom prst="rect">
            <a:avLst/>
          </a:prstGeom>
          <a:solidFill>
            <a:srgbClr val="FFFFFF"/>
          </a:solidFill>
          <a:ln w="12700">
            <a:solidFill>
              <a:srgbClr val="1E2761"/>
            </a:solidFill>
            <a:prstDash val="solid"/>
          </a:ln>
        </p:spPr>
        <p:txBody>
          <a:bodyPr/>
          <a:lstStyle/>
          <a:p>
            <a:endParaRPr lang="fr-FR"/>
          </a:p>
        </p:txBody>
      </p:sp>
      <p:sp>
        <p:nvSpPr>
          <p:cNvPr id="13" name="Shape 11"/>
          <p:cNvSpPr/>
          <p:nvPr/>
        </p:nvSpPr>
        <p:spPr>
          <a:xfrm>
            <a:off x="365760" y="2697480"/>
            <a:ext cx="2743200" cy="365760"/>
          </a:xfrm>
          <a:prstGeom prst="rect">
            <a:avLst/>
          </a:prstGeom>
          <a:solidFill>
            <a:srgbClr val="1E2761"/>
          </a:solidFill>
          <a:ln w="12700">
            <a:solidFill>
              <a:srgbClr val="1E2761"/>
            </a:solidFill>
            <a:prstDash val="solid"/>
          </a:ln>
        </p:spPr>
        <p:txBody>
          <a:bodyPr/>
          <a:lstStyle/>
          <a:p>
            <a:endParaRPr lang="fr-FR"/>
          </a:p>
        </p:txBody>
      </p:sp>
      <p:sp>
        <p:nvSpPr>
          <p:cNvPr id="14" name="Text 12"/>
          <p:cNvSpPr/>
          <p:nvPr/>
        </p:nvSpPr>
        <p:spPr>
          <a:xfrm>
            <a:off x="365760" y="2697480"/>
            <a:ext cx="2743200" cy="365760"/>
          </a:xfrm>
          <a:prstGeom prst="rect">
            <a:avLst/>
          </a:prstGeom>
          <a:noFill/>
          <a:ln/>
        </p:spPr>
        <p:txBody>
          <a:bodyPr wrap="square" lIns="0" tIns="0" rIns="0" bIns="0" rtlCol="0" anchor="ctr"/>
          <a:lstStyle/>
          <a:p>
            <a:pPr marL="0" indent="0" algn="ctr">
              <a:buNone/>
            </a:pPr>
            <a:r>
              <a:rPr lang="en-US" sz="1500" b="1" kern="0" spc="200" dirty="0">
                <a:solidFill>
                  <a:srgbClr val="1C2B3A"/>
                </a:solidFill>
                <a:latin typeface="Trebuchet MS" pitchFamily="34" charset="0"/>
                <a:ea typeface="Calibri" pitchFamily="34" charset="-122"/>
                <a:cs typeface="Calibri" pitchFamily="34" charset="-120"/>
              </a:rPr>
              <a:t>AVANT</a:t>
            </a:r>
            <a:endParaRPr lang="en-US" sz="1300" dirty="0"/>
          </a:p>
        </p:txBody>
      </p:sp>
      <p:sp>
        <p:nvSpPr>
          <p:cNvPr id="15" name="Text 13"/>
          <p:cNvSpPr/>
          <p:nvPr/>
        </p:nvSpPr>
        <p:spPr>
          <a:xfrm>
            <a:off x="502920" y="3154680"/>
            <a:ext cx="2468880" cy="32004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Prise de conscience</a:t>
            </a:r>
            <a:endParaRPr lang="en-US" sz="1200" dirty="0"/>
          </a:p>
        </p:txBody>
      </p:sp>
      <p:sp>
        <p:nvSpPr>
          <p:cNvPr id="16" name="Text 14"/>
          <p:cNvSpPr/>
          <p:nvPr/>
        </p:nvSpPr>
        <p:spPr>
          <a:xfrm>
            <a:off x="502920" y="3474720"/>
            <a:ext cx="2468880" cy="10515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Recherche d'information, comparaison, premières </a:t>
            </a:r>
            <a:r>
              <a:rPr lang="en-US" sz="1500" dirty="0" err="1">
                <a:solidFill>
                  <a:srgbClr val="1C2B3A"/>
                </a:solidFill>
                <a:latin typeface="Trebuchet MS" pitchFamily="34" charset="0"/>
                <a:ea typeface="Calibri" pitchFamily="34" charset="-122"/>
                <a:cs typeface="Calibri" pitchFamily="34" charset="-120"/>
              </a:rPr>
              <a:t>visites</a:t>
            </a:r>
            <a:r>
              <a:rPr lang="en-US" sz="1500" dirty="0">
                <a:solidFill>
                  <a:srgbClr val="1C2B3A"/>
                </a:solidFill>
                <a:latin typeface="Trebuchet MS" pitchFamily="34" charset="0"/>
                <a:ea typeface="Calibri" pitchFamily="34" charset="-122"/>
                <a:cs typeface="Calibri" pitchFamily="34" charset="-120"/>
              </a:rPr>
              <a:t>, le client construit sa décision</a:t>
            </a:r>
            <a:endParaRPr lang="en-US" sz="1000" dirty="0"/>
          </a:p>
        </p:txBody>
      </p:sp>
      <p:sp>
        <p:nvSpPr>
          <p:cNvPr id="18" name="Shape 16"/>
          <p:cNvSpPr/>
          <p:nvPr/>
        </p:nvSpPr>
        <p:spPr>
          <a:xfrm>
            <a:off x="3291840" y="2697480"/>
            <a:ext cx="2743200" cy="1874520"/>
          </a:xfrm>
          <a:prstGeom prst="rect">
            <a:avLst/>
          </a:prstGeom>
          <a:solidFill>
            <a:srgbClr val="FFFFFF"/>
          </a:solidFill>
          <a:ln w="12700">
            <a:solidFill>
              <a:srgbClr val="1E2761"/>
            </a:solidFill>
            <a:prstDash val="solid"/>
          </a:ln>
        </p:spPr>
        <p:txBody>
          <a:bodyPr/>
          <a:lstStyle/>
          <a:p>
            <a:endParaRPr lang="fr-FR"/>
          </a:p>
        </p:txBody>
      </p:sp>
      <p:sp>
        <p:nvSpPr>
          <p:cNvPr id="19" name="Shape 17"/>
          <p:cNvSpPr/>
          <p:nvPr/>
        </p:nvSpPr>
        <p:spPr>
          <a:xfrm>
            <a:off x="3291840" y="2697480"/>
            <a:ext cx="2743200" cy="365760"/>
          </a:xfrm>
          <a:prstGeom prst="rect">
            <a:avLst/>
          </a:prstGeom>
          <a:solidFill>
            <a:srgbClr val="1E2761"/>
          </a:solidFill>
          <a:ln w="12700">
            <a:solidFill>
              <a:srgbClr val="1E2761"/>
            </a:solidFill>
            <a:prstDash val="solid"/>
          </a:ln>
        </p:spPr>
        <p:txBody>
          <a:bodyPr/>
          <a:lstStyle/>
          <a:p>
            <a:endParaRPr lang="fr-FR"/>
          </a:p>
        </p:txBody>
      </p:sp>
      <p:sp>
        <p:nvSpPr>
          <p:cNvPr id="20" name="Text 18"/>
          <p:cNvSpPr/>
          <p:nvPr/>
        </p:nvSpPr>
        <p:spPr>
          <a:xfrm>
            <a:off x="3291840" y="2697480"/>
            <a:ext cx="2743200" cy="365760"/>
          </a:xfrm>
          <a:prstGeom prst="rect">
            <a:avLst/>
          </a:prstGeom>
          <a:noFill/>
          <a:ln/>
        </p:spPr>
        <p:txBody>
          <a:bodyPr wrap="square" lIns="0" tIns="0" rIns="0" bIns="0" rtlCol="0" anchor="ctr"/>
          <a:lstStyle/>
          <a:p>
            <a:pPr marL="0" indent="0" algn="ctr">
              <a:buNone/>
            </a:pPr>
            <a:r>
              <a:rPr lang="en-US" sz="1500" b="1" kern="0" spc="200" dirty="0">
                <a:solidFill>
                  <a:srgbClr val="1C2B3A"/>
                </a:solidFill>
                <a:latin typeface="Trebuchet MS" pitchFamily="34" charset="0"/>
                <a:ea typeface="Calibri" pitchFamily="34" charset="-122"/>
                <a:cs typeface="Calibri" pitchFamily="34" charset="-120"/>
              </a:rPr>
              <a:t>PENDANT</a:t>
            </a:r>
            <a:endParaRPr lang="en-US" sz="1300" dirty="0"/>
          </a:p>
        </p:txBody>
      </p:sp>
      <p:sp>
        <p:nvSpPr>
          <p:cNvPr id="21" name="Text 19"/>
          <p:cNvSpPr/>
          <p:nvPr/>
        </p:nvSpPr>
        <p:spPr>
          <a:xfrm>
            <a:off x="3429000" y="3154680"/>
            <a:ext cx="2468880" cy="32004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Acte d'achat</a:t>
            </a:r>
            <a:endParaRPr lang="en-US" sz="1200" dirty="0"/>
          </a:p>
        </p:txBody>
      </p:sp>
      <p:sp>
        <p:nvSpPr>
          <p:cNvPr id="22" name="Text 20"/>
          <p:cNvSpPr/>
          <p:nvPr/>
        </p:nvSpPr>
        <p:spPr>
          <a:xfrm>
            <a:off x="3429000" y="3474720"/>
            <a:ext cx="2468880" cy="10515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Réservation, négociation, signature, </a:t>
            </a:r>
            <a:r>
              <a:rPr lang="en-US" sz="1500" dirty="0" err="1">
                <a:solidFill>
                  <a:srgbClr val="1C2B3A"/>
                </a:solidFill>
                <a:latin typeface="Trebuchet MS" pitchFamily="34" charset="0"/>
                <a:ea typeface="Calibri" pitchFamily="34" charset="-122"/>
                <a:cs typeface="Calibri" pitchFamily="34" charset="-120"/>
              </a:rPr>
              <a:t>financement</a:t>
            </a:r>
            <a:endParaRPr lang="en-US" sz="1000" dirty="0"/>
          </a:p>
        </p:txBody>
      </p:sp>
      <p:sp>
        <p:nvSpPr>
          <p:cNvPr id="24" name="Shape 22"/>
          <p:cNvSpPr/>
          <p:nvPr/>
        </p:nvSpPr>
        <p:spPr>
          <a:xfrm>
            <a:off x="6217920" y="2697480"/>
            <a:ext cx="2743200" cy="1874520"/>
          </a:xfrm>
          <a:prstGeom prst="rect">
            <a:avLst/>
          </a:prstGeom>
          <a:solidFill>
            <a:srgbClr val="FFFFFF"/>
          </a:solidFill>
          <a:ln w="12700">
            <a:solidFill>
              <a:srgbClr val="1E2761"/>
            </a:solidFill>
            <a:prstDash val="solid"/>
          </a:ln>
        </p:spPr>
        <p:txBody>
          <a:bodyPr/>
          <a:lstStyle/>
          <a:p>
            <a:endParaRPr lang="fr-FR"/>
          </a:p>
        </p:txBody>
      </p:sp>
      <p:sp>
        <p:nvSpPr>
          <p:cNvPr id="25" name="Shape 23"/>
          <p:cNvSpPr/>
          <p:nvPr/>
        </p:nvSpPr>
        <p:spPr>
          <a:xfrm>
            <a:off x="6217920" y="2697480"/>
            <a:ext cx="2743200" cy="365760"/>
          </a:xfrm>
          <a:prstGeom prst="rect">
            <a:avLst/>
          </a:prstGeom>
          <a:solidFill>
            <a:srgbClr val="1E2761"/>
          </a:solidFill>
          <a:ln w="12700">
            <a:solidFill>
              <a:srgbClr val="1E2761"/>
            </a:solidFill>
            <a:prstDash val="solid"/>
          </a:ln>
        </p:spPr>
        <p:txBody>
          <a:bodyPr/>
          <a:lstStyle/>
          <a:p>
            <a:endParaRPr lang="fr-FR"/>
          </a:p>
        </p:txBody>
      </p:sp>
      <p:sp>
        <p:nvSpPr>
          <p:cNvPr id="26" name="Text 24"/>
          <p:cNvSpPr/>
          <p:nvPr/>
        </p:nvSpPr>
        <p:spPr>
          <a:xfrm>
            <a:off x="6217920" y="2697480"/>
            <a:ext cx="2743200" cy="365760"/>
          </a:xfrm>
          <a:prstGeom prst="rect">
            <a:avLst/>
          </a:prstGeom>
          <a:noFill/>
          <a:ln/>
        </p:spPr>
        <p:txBody>
          <a:bodyPr wrap="square" lIns="0" tIns="0" rIns="0" bIns="0" rtlCol="0" anchor="ctr"/>
          <a:lstStyle/>
          <a:p>
            <a:pPr marL="0" indent="0" algn="ctr">
              <a:buNone/>
            </a:pPr>
            <a:r>
              <a:rPr lang="en-US" sz="1500" b="1" kern="0" spc="200" dirty="0">
                <a:solidFill>
                  <a:srgbClr val="1C2B3A"/>
                </a:solidFill>
                <a:latin typeface="Trebuchet MS" pitchFamily="34" charset="0"/>
                <a:ea typeface="Calibri" pitchFamily="34" charset="-122"/>
                <a:cs typeface="Calibri" pitchFamily="34" charset="-120"/>
              </a:rPr>
              <a:t>APRÈS</a:t>
            </a:r>
            <a:endParaRPr lang="en-US" sz="1300" dirty="0"/>
          </a:p>
        </p:txBody>
      </p:sp>
      <p:sp>
        <p:nvSpPr>
          <p:cNvPr id="27" name="Text 25"/>
          <p:cNvSpPr/>
          <p:nvPr/>
        </p:nvSpPr>
        <p:spPr>
          <a:xfrm>
            <a:off x="6355080" y="3154680"/>
            <a:ext cx="2468880" cy="32004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Usage &amp; fidélisation</a:t>
            </a:r>
            <a:endParaRPr lang="en-US" sz="1200" dirty="0"/>
          </a:p>
        </p:txBody>
      </p:sp>
      <p:sp>
        <p:nvSpPr>
          <p:cNvPr id="28" name="Text 26"/>
          <p:cNvSpPr/>
          <p:nvPr/>
        </p:nvSpPr>
        <p:spPr>
          <a:xfrm>
            <a:off x="6355080" y="3474720"/>
            <a:ext cx="2468880" cy="105156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Livraison, SAV, garantie, recommendation, capital de confiance pour de futurs projets</a:t>
            </a:r>
            <a:endParaRPr lang="en-US" sz="1000" dirty="0"/>
          </a:p>
        </p:txBody>
      </p:sp>
      <p:sp>
        <p:nvSpPr>
          <p:cNvPr id="30" name="Rectangle 29"/>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598">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AE3"/>
        </a:solidFill>
        <a:effectLst/>
      </p:bgPr>
    </p:bg>
    <p:spTree>
      <p:nvGrpSpPr>
        <p:cNvPr id="1" name=""/>
        <p:cNvGrpSpPr/>
        <p:nvPr/>
      </p:nvGrpSpPr>
      <p:grpSpPr>
        <a:xfrm>
          <a:off x="0" y="0"/>
          <a:ext cx="0" cy="0"/>
          <a:chOff x="0" y="0"/>
          <a:chExt cx="0" cy="0"/>
        </a:xfrm>
      </p:grpSpPr>
      <p:sp>
        <p:nvSpPr>
          <p:cNvPr id="27" name="Rectangle 26"/>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ÉTUDE DE CAS — BOUYGUES IMMOBILIER</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Phase 1 — Avant l'achat</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12 / 15</a:t>
            </a:r>
            <a:endParaRPr lang="en-US" sz="900" dirty="0"/>
          </a:p>
        </p:txBody>
      </p:sp>
      <p:sp>
        <p:nvSpPr>
          <p:cNvPr id="9" name="Text 7"/>
          <p:cNvSpPr/>
          <p:nvPr/>
        </p:nvSpPr>
        <p:spPr>
          <a:xfrm>
            <a:off x="365760" y="1417320"/>
            <a:ext cx="8595360" cy="457200"/>
          </a:xfrm>
          <a:prstGeom prst="rect">
            <a:avLst/>
          </a:prstGeom>
          <a:noFill/>
          <a:ln/>
        </p:spPr>
        <p:txBody>
          <a:bodyPr wrap="square" lIns="0" tIns="0" rIns="0" bIns="0" rtlCol="0" anchor="ctr"/>
          <a:lstStyle/>
          <a:p>
            <a:pPr marL="0" indent="0">
              <a:buNone/>
            </a:pPr>
            <a:r>
              <a:rPr lang="en-US" sz="1500" b="1" i="1" dirty="0">
                <a:solidFill>
                  <a:srgbClr val="1C2B3A"/>
                </a:solidFill>
                <a:latin typeface="Trebuchet MS" pitchFamily="34" charset="0"/>
                <a:ea typeface="Calibri" pitchFamily="34" charset="-122"/>
                <a:cs typeface="Calibri" pitchFamily="34" charset="-120"/>
              </a:rPr>
              <a:t>Bouygues Immobilier</a:t>
            </a:r>
            <a:r>
              <a:rPr lang="en-US" sz="1500" i="1" dirty="0">
                <a:solidFill>
                  <a:srgbClr val="1C2B3A"/>
                </a:solidFill>
                <a:latin typeface="Trebuchet MS" pitchFamily="34" charset="0"/>
                <a:ea typeface="Calibri" pitchFamily="34" charset="-122"/>
                <a:cs typeface="Calibri" pitchFamily="34" charset="-120"/>
              </a:rPr>
              <a:t> : </a:t>
            </a:r>
            <a:r>
              <a:rPr lang="en-US" sz="1500" i="1" dirty="0" err="1">
                <a:solidFill>
                  <a:srgbClr val="1C2B3A"/>
                </a:solidFill>
                <a:latin typeface="Trebuchet MS" pitchFamily="34" charset="0"/>
                <a:ea typeface="Calibri" pitchFamily="34" charset="-122"/>
                <a:cs typeface="Calibri" pitchFamily="34" charset="-120"/>
              </a:rPr>
              <a:t>promoteur</a:t>
            </a:r>
            <a:r>
              <a:rPr lang="en-US" sz="1500" i="1" dirty="0">
                <a:solidFill>
                  <a:srgbClr val="1C2B3A"/>
                </a:solidFill>
                <a:latin typeface="Trebuchet MS" pitchFamily="34" charset="0"/>
                <a:ea typeface="Calibri" pitchFamily="34" charset="-122"/>
                <a:cs typeface="Calibri" pitchFamily="34" charset="-120"/>
              </a:rPr>
              <a:t> français majeur (logement neuf, immobilier d'entreprise, aménagement urbain). Ancrage de marque autour de l'innovation, du quartier durable (UrbanEra) et de la performance énergétique.</a:t>
            </a:r>
            <a:endParaRPr lang="en-US" sz="1100" dirty="0"/>
          </a:p>
        </p:txBody>
      </p:sp>
      <p:sp>
        <p:nvSpPr>
          <p:cNvPr id="10" name="Text 8"/>
          <p:cNvSpPr/>
          <p:nvPr/>
        </p:nvSpPr>
        <p:spPr>
          <a:xfrm>
            <a:off x="365760" y="1920240"/>
            <a:ext cx="859536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Objectif marketing : transformer un visiteur anonyme en prospect qualifié</a:t>
            </a:r>
            <a:endParaRPr lang="en-US" sz="1200" dirty="0"/>
          </a:p>
        </p:txBody>
      </p:sp>
      <p:sp>
        <p:nvSpPr>
          <p:cNvPr id="11" name="Shape 9"/>
          <p:cNvSpPr/>
          <p:nvPr/>
        </p:nvSpPr>
        <p:spPr>
          <a:xfrm>
            <a:off x="365760" y="2331720"/>
            <a:ext cx="4160520" cy="1005840"/>
          </a:xfrm>
          <a:prstGeom prst="rect">
            <a:avLst/>
          </a:prstGeom>
          <a:solidFill>
            <a:srgbClr val="F5F7FB"/>
          </a:solidFill>
          <a:ln w="9525">
            <a:solidFill>
              <a:srgbClr val="CADCFC"/>
            </a:solidFill>
            <a:prstDash val="solid"/>
          </a:ln>
        </p:spPr>
        <p:txBody>
          <a:bodyPr/>
          <a:lstStyle/>
          <a:p>
            <a:endParaRPr lang="fr-FR"/>
          </a:p>
        </p:txBody>
      </p:sp>
      <p:sp>
        <p:nvSpPr>
          <p:cNvPr id="12" name="Shape 10"/>
          <p:cNvSpPr/>
          <p:nvPr/>
        </p:nvSpPr>
        <p:spPr>
          <a:xfrm>
            <a:off x="365760" y="2331720"/>
            <a:ext cx="73152" cy="1005840"/>
          </a:xfrm>
          <a:prstGeom prst="rect">
            <a:avLst/>
          </a:prstGeom>
          <a:solidFill>
            <a:srgbClr val="C9A227"/>
          </a:solidFill>
          <a:ln w="12700">
            <a:solidFill>
              <a:srgbClr val="C9A227"/>
            </a:solidFill>
            <a:prstDash val="solid"/>
          </a:ln>
        </p:spPr>
        <p:txBody>
          <a:bodyPr/>
          <a:lstStyle/>
          <a:p>
            <a:endParaRPr lang="fr-FR"/>
          </a:p>
        </p:txBody>
      </p:sp>
      <p:sp>
        <p:nvSpPr>
          <p:cNvPr id="13" name="Text 11"/>
          <p:cNvSpPr/>
          <p:nvPr/>
        </p:nvSpPr>
        <p:spPr>
          <a:xfrm>
            <a:off x="548640" y="2423160"/>
            <a:ext cx="38404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Notoriété</a:t>
            </a:r>
            <a:endParaRPr lang="en-US" sz="1200" dirty="0"/>
          </a:p>
        </p:txBody>
      </p:sp>
      <p:sp>
        <p:nvSpPr>
          <p:cNvPr id="14" name="Text 12"/>
          <p:cNvSpPr/>
          <p:nvPr/>
        </p:nvSpPr>
        <p:spPr>
          <a:xfrm>
            <a:off x="548640" y="2715768"/>
            <a:ext cx="3840480" cy="64008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Campagnes TV &amp; digitales, sponsoring, marque employeur, partenariats institutionnels (Grand Paris, label E+C-)</a:t>
            </a:r>
            <a:endParaRPr lang="en-US" sz="1000" dirty="0"/>
          </a:p>
        </p:txBody>
      </p:sp>
      <p:sp>
        <p:nvSpPr>
          <p:cNvPr id="15" name="Shape 13"/>
          <p:cNvSpPr/>
          <p:nvPr/>
        </p:nvSpPr>
        <p:spPr>
          <a:xfrm>
            <a:off x="4709160" y="2331720"/>
            <a:ext cx="4160520" cy="1005840"/>
          </a:xfrm>
          <a:prstGeom prst="rect">
            <a:avLst/>
          </a:prstGeom>
          <a:solidFill>
            <a:srgbClr val="F5F7FB"/>
          </a:solidFill>
          <a:ln w="9525">
            <a:solidFill>
              <a:srgbClr val="CADCFC"/>
            </a:solidFill>
            <a:prstDash val="solid"/>
          </a:ln>
        </p:spPr>
        <p:txBody>
          <a:bodyPr/>
          <a:lstStyle/>
          <a:p>
            <a:endParaRPr lang="fr-FR"/>
          </a:p>
        </p:txBody>
      </p:sp>
      <p:sp>
        <p:nvSpPr>
          <p:cNvPr id="16" name="Shape 14"/>
          <p:cNvSpPr/>
          <p:nvPr/>
        </p:nvSpPr>
        <p:spPr>
          <a:xfrm>
            <a:off x="4709160" y="2331720"/>
            <a:ext cx="73152" cy="1005840"/>
          </a:xfrm>
          <a:prstGeom prst="rect">
            <a:avLst/>
          </a:prstGeom>
          <a:solidFill>
            <a:srgbClr val="C9A227"/>
          </a:solidFill>
          <a:ln w="12700">
            <a:solidFill>
              <a:srgbClr val="C9A227"/>
            </a:solidFill>
            <a:prstDash val="solid"/>
          </a:ln>
        </p:spPr>
        <p:txBody>
          <a:bodyPr/>
          <a:lstStyle/>
          <a:p>
            <a:endParaRPr lang="fr-FR"/>
          </a:p>
        </p:txBody>
      </p:sp>
      <p:sp>
        <p:nvSpPr>
          <p:cNvPr id="17" name="Text 15"/>
          <p:cNvSpPr/>
          <p:nvPr/>
        </p:nvSpPr>
        <p:spPr>
          <a:xfrm>
            <a:off x="4892040" y="2423160"/>
            <a:ext cx="38404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Acquisition digitale</a:t>
            </a:r>
            <a:endParaRPr lang="en-US" sz="1200" dirty="0"/>
          </a:p>
        </p:txBody>
      </p:sp>
      <p:sp>
        <p:nvSpPr>
          <p:cNvPr id="18" name="Text 16"/>
          <p:cNvSpPr/>
          <p:nvPr/>
        </p:nvSpPr>
        <p:spPr>
          <a:xfrm>
            <a:off x="4892040" y="2715768"/>
            <a:ext cx="3840480" cy="64008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Site bouygues-immobilier.com, </a:t>
            </a:r>
            <a:r>
              <a:rPr lang="en-US" sz="1500" dirty="0" err="1">
                <a:solidFill>
                  <a:srgbClr val="1C2B3A"/>
                </a:solidFill>
                <a:latin typeface="Trebuchet MS" pitchFamily="34" charset="0"/>
                <a:ea typeface="Calibri" pitchFamily="34" charset="-122"/>
                <a:cs typeface="Calibri" pitchFamily="34" charset="-120"/>
              </a:rPr>
              <a:t>présence</a:t>
            </a:r>
            <a:r>
              <a:rPr lang="en-US" sz="1500" dirty="0">
                <a:solidFill>
                  <a:srgbClr val="1C2B3A"/>
                </a:solidFill>
                <a:latin typeface="Trebuchet MS" pitchFamily="34" charset="0"/>
                <a:ea typeface="Calibri" pitchFamily="34" charset="-122"/>
                <a:cs typeface="Calibri" pitchFamily="34" charset="-120"/>
              </a:rPr>
              <a:t> sur SeLoger &amp; Bien'ici, retargeting, configurateurs en ligne</a:t>
            </a:r>
            <a:endParaRPr lang="en-US" sz="1000" dirty="0"/>
          </a:p>
        </p:txBody>
      </p:sp>
      <p:sp>
        <p:nvSpPr>
          <p:cNvPr id="19" name="Shape 17"/>
          <p:cNvSpPr/>
          <p:nvPr/>
        </p:nvSpPr>
        <p:spPr>
          <a:xfrm>
            <a:off x="365760" y="3474720"/>
            <a:ext cx="4160520" cy="1005840"/>
          </a:xfrm>
          <a:prstGeom prst="rect">
            <a:avLst/>
          </a:prstGeom>
          <a:solidFill>
            <a:srgbClr val="F5F7FB"/>
          </a:solidFill>
          <a:ln w="9525">
            <a:solidFill>
              <a:srgbClr val="CADCFC"/>
            </a:solidFill>
            <a:prstDash val="solid"/>
          </a:ln>
        </p:spPr>
        <p:txBody>
          <a:bodyPr/>
          <a:lstStyle/>
          <a:p>
            <a:endParaRPr lang="fr-FR"/>
          </a:p>
        </p:txBody>
      </p:sp>
      <p:sp>
        <p:nvSpPr>
          <p:cNvPr id="20" name="Shape 18"/>
          <p:cNvSpPr/>
          <p:nvPr/>
        </p:nvSpPr>
        <p:spPr>
          <a:xfrm>
            <a:off x="365760" y="3474720"/>
            <a:ext cx="73152" cy="1005840"/>
          </a:xfrm>
          <a:prstGeom prst="rect">
            <a:avLst/>
          </a:prstGeom>
          <a:solidFill>
            <a:srgbClr val="C9A227"/>
          </a:solidFill>
          <a:ln w="12700">
            <a:solidFill>
              <a:srgbClr val="C9A227"/>
            </a:solidFill>
            <a:prstDash val="solid"/>
          </a:ln>
        </p:spPr>
        <p:txBody>
          <a:bodyPr/>
          <a:lstStyle/>
          <a:p>
            <a:endParaRPr lang="fr-FR"/>
          </a:p>
        </p:txBody>
      </p:sp>
      <p:sp>
        <p:nvSpPr>
          <p:cNvPr id="21" name="Text 19"/>
          <p:cNvSpPr/>
          <p:nvPr/>
        </p:nvSpPr>
        <p:spPr>
          <a:xfrm>
            <a:off x="548640" y="3566160"/>
            <a:ext cx="38404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Lead generation</a:t>
            </a:r>
            <a:endParaRPr lang="en-US" sz="1200" dirty="0"/>
          </a:p>
        </p:txBody>
      </p:sp>
      <p:sp>
        <p:nvSpPr>
          <p:cNvPr id="22" name="Text 20"/>
          <p:cNvSpPr/>
          <p:nvPr/>
        </p:nvSpPr>
        <p:spPr>
          <a:xfrm>
            <a:off x="548640" y="3858768"/>
            <a:ext cx="3840480" cy="64008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Formulaires de contact, demandes de documentation, simulateurs de financement, inscriptions newsletter</a:t>
            </a:r>
            <a:endParaRPr lang="en-US" sz="1000" dirty="0"/>
          </a:p>
        </p:txBody>
      </p:sp>
      <p:sp>
        <p:nvSpPr>
          <p:cNvPr id="23" name="Shape 21"/>
          <p:cNvSpPr/>
          <p:nvPr/>
        </p:nvSpPr>
        <p:spPr>
          <a:xfrm>
            <a:off x="4709160" y="3474720"/>
            <a:ext cx="4160520" cy="1005840"/>
          </a:xfrm>
          <a:prstGeom prst="rect">
            <a:avLst/>
          </a:prstGeom>
          <a:solidFill>
            <a:srgbClr val="F5F7FB"/>
          </a:solidFill>
          <a:ln w="9525">
            <a:solidFill>
              <a:srgbClr val="CADCFC"/>
            </a:solidFill>
            <a:prstDash val="solid"/>
          </a:ln>
        </p:spPr>
        <p:txBody>
          <a:bodyPr/>
          <a:lstStyle/>
          <a:p>
            <a:endParaRPr lang="fr-FR" dirty="0"/>
          </a:p>
        </p:txBody>
      </p:sp>
      <p:sp>
        <p:nvSpPr>
          <p:cNvPr id="24" name="Shape 22"/>
          <p:cNvSpPr/>
          <p:nvPr/>
        </p:nvSpPr>
        <p:spPr>
          <a:xfrm>
            <a:off x="4709160" y="3474720"/>
            <a:ext cx="73152" cy="1005840"/>
          </a:xfrm>
          <a:prstGeom prst="rect">
            <a:avLst/>
          </a:prstGeom>
          <a:solidFill>
            <a:srgbClr val="C9A227"/>
          </a:solidFill>
          <a:ln w="12700">
            <a:solidFill>
              <a:srgbClr val="C9A227"/>
            </a:solidFill>
            <a:prstDash val="solid"/>
          </a:ln>
        </p:spPr>
        <p:txBody>
          <a:bodyPr/>
          <a:lstStyle/>
          <a:p>
            <a:endParaRPr lang="fr-FR"/>
          </a:p>
        </p:txBody>
      </p:sp>
      <p:sp>
        <p:nvSpPr>
          <p:cNvPr id="25" name="Text 23"/>
          <p:cNvSpPr/>
          <p:nvPr/>
        </p:nvSpPr>
        <p:spPr>
          <a:xfrm>
            <a:off x="4892040" y="3566160"/>
            <a:ext cx="384048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Recommendation</a:t>
            </a:r>
            <a:endParaRPr lang="en-US" sz="1200" dirty="0"/>
          </a:p>
        </p:txBody>
      </p:sp>
      <p:sp>
        <p:nvSpPr>
          <p:cNvPr id="26" name="Text 24"/>
          <p:cNvSpPr/>
          <p:nvPr/>
        </p:nvSpPr>
        <p:spPr>
          <a:xfrm>
            <a:off x="4892040" y="3858768"/>
            <a:ext cx="3840480" cy="64008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Visites virtuelles 3D, vidéos de chantier, témoignages clients, certifications NF Habitat HQE</a:t>
            </a:r>
            <a:endParaRPr lang="en-US" sz="1000" dirty="0"/>
          </a:p>
        </p:txBody>
      </p:sp>
      <p:sp>
        <p:nvSpPr>
          <p:cNvPr id="28" name="Rectangle 27"/>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19">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0"/>
        </a:solidFill>
        <a:effectLst/>
      </p:bgPr>
    </p:bg>
    <p:spTree>
      <p:nvGrpSpPr>
        <p:cNvPr id="1" name=""/>
        <p:cNvGrpSpPr/>
        <p:nvPr/>
      </p:nvGrpSpPr>
      <p:grpSpPr>
        <a:xfrm>
          <a:off x="0" y="0"/>
          <a:ext cx="0" cy="0"/>
          <a:chOff x="0" y="0"/>
          <a:chExt cx="0" cy="0"/>
        </a:xfrm>
      </p:grpSpPr>
      <p:sp>
        <p:nvSpPr>
          <p:cNvPr id="34" name="Rectangle 33"/>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ÉTUDE DE CAS — BOUYGUES IMMOBILIER</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Phase 2 — Pendant l'achat</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13 / 15</a:t>
            </a:r>
            <a:endParaRPr lang="en-US" sz="900" dirty="0"/>
          </a:p>
        </p:txBody>
      </p:sp>
      <p:sp>
        <p:nvSpPr>
          <p:cNvPr id="9" name="Text 7"/>
          <p:cNvSpPr/>
          <p:nvPr/>
        </p:nvSpPr>
        <p:spPr>
          <a:xfrm>
            <a:off x="365760" y="1417320"/>
            <a:ext cx="8595360" cy="292608"/>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Objectif : accompagner et rassurer durant un processus long, complexe et émotionnellement engageant</a:t>
            </a:r>
            <a:endParaRPr lang="en-US" sz="1200" dirty="0"/>
          </a:p>
        </p:txBody>
      </p:sp>
      <p:sp>
        <p:nvSpPr>
          <p:cNvPr id="10" name="Shape 8"/>
          <p:cNvSpPr/>
          <p:nvPr/>
        </p:nvSpPr>
        <p:spPr>
          <a:xfrm>
            <a:off x="365760" y="1874520"/>
            <a:ext cx="411480" cy="411480"/>
          </a:xfrm>
          <a:prstGeom prst="ellipse">
            <a:avLst/>
          </a:prstGeom>
          <a:solidFill>
            <a:srgbClr val="1E2761"/>
          </a:solidFill>
          <a:ln w="12700">
            <a:solidFill>
              <a:srgbClr val="1E2761"/>
            </a:solidFill>
            <a:prstDash val="solid"/>
          </a:ln>
        </p:spPr>
        <p:txBody>
          <a:bodyPr/>
          <a:lstStyle/>
          <a:p>
            <a:endParaRPr lang="fr-FR"/>
          </a:p>
        </p:txBody>
      </p:sp>
      <p:sp>
        <p:nvSpPr>
          <p:cNvPr id="11" name="Text 9"/>
          <p:cNvSpPr/>
          <p:nvPr/>
        </p:nvSpPr>
        <p:spPr>
          <a:xfrm>
            <a:off x="365760" y="1874520"/>
            <a:ext cx="411480" cy="41148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1</a:t>
            </a:r>
            <a:endParaRPr lang="en-US" sz="1600" dirty="0"/>
          </a:p>
        </p:txBody>
      </p:sp>
      <p:sp>
        <p:nvSpPr>
          <p:cNvPr id="12" name="Text 10"/>
          <p:cNvSpPr/>
          <p:nvPr/>
        </p:nvSpPr>
        <p:spPr>
          <a:xfrm>
            <a:off x="914400" y="1847088"/>
            <a:ext cx="2377440" cy="45720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Bulle de vente</a:t>
            </a:r>
            <a:endParaRPr lang="en-US" sz="1200" dirty="0"/>
          </a:p>
        </p:txBody>
      </p:sp>
      <p:sp>
        <p:nvSpPr>
          <p:cNvPr id="13" name="Text 11"/>
          <p:cNvSpPr/>
          <p:nvPr/>
        </p:nvSpPr>
        <p:spPr>
          <a:xfrm>
            <a:off x="3383280" y="1847088"/>
            <a:ext cx="5486400" cy="45720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Espace de vente sur site avec maquette, plans, échantillons matériaux : la preuve physique au cœur de la décision</a:t>
            </a:r>
            <a:endParaRPr lang="en-US" sz="1000" dirty="0"/>
          </a:p>
        </p:txBody>
      </p:sp>
      <p:sp>
        <p:nvSpPr>
          <p:cNvPr id="14" name="Shape 12"/>
          <p:cNvSpPr/>
          <p:nvPr/>
        </p:nvSpPr>
        <p:spPr>
          <a:xfrm>
            <a:off x="548640" y="2286000"/>
            <a:ext cx="36576" cy="91440"/>
          </a:xfrm>
          <a:prstGeom prst="rect">
            <a:avLst/>
          </a:prstGeom>
          <a:solidFill>
            <a:srgbClr val="CADCFC"/>
          </a:solidFill>
          <a:ln w="12700">
            <a:solidFill>
              <a:srgbClr val="CADCFC"/>
            </a:solidFill>
            <a:prstDash val="solid"/>
          </a:ln>
        </p:spPr>
        <p:txBody>
          <a:bodyPr/>
          <a:lstStyle/>
          <a:p>
            <a:endParaRPr lang="fr-FR"/>
          </a:p>
        </p:txBody>
      </p:sp>
      <p:sp>
        <p:nvSpPr>
          <p:cNvPr id="15" name="Shape 13"/>
          <p:cNvSpPr/>
          <p:nvPr/>
        </p:nvSpPr>
        <p:spPr>
          <a:xfrm>
            <a:off x="365760" y="2423160"/>
            <a:ext cx="411480" cy="411480"/>
          </a:xfrm>
          <a:prstGeom prst="ellipse">
            <a:avLst/>
          </a:prstGeom>
          <a:solidFill>
            <a:srgbClr val="1E2761"/>
          </a:solidFill>
          <a:ln w="12700">
            <a:solidFill>
              <a:srgbClr val="1E2761"/>
            </a:solidFill>
            <a:prstDash val="solid"/>
          </a:ln>
        </p:spPr>
        <p:txBody>
          <a:bodyPr/>
          <a:lstStyle/>
          <a:p>
            <a:endParaRPr lang="fr-FR"/>
          </a:p>
        </p:txBody>
      </p:sp>
      <p:sp>
        <p:nvSpPr>
          <p:cNvPr id="16" name="Text 14"/>
          <p:cNvSpPr/>
          <p:nvPr/>
        </p:nvSpPr>
        <p:spPr>
          <a:xfrm>
            <a:off x="365760" y="2423160"/>
            <a:ext cx="411480" cy="41148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2</a:t>
            </a:r>
            <a:endParaRPr lang="en-US" sz="1600" dirty="0"/>
          </a:p>
        </p:txBody>
      </p:sp>
      <p:sp>
        <p:nvSpPr>
          <p:cNvPr id="17" name="Text 15"/>
          <p:cNvSpPr/>
          <p:nvPr/>
        </p:nvSpPr>
        <p:spPr>
          <a:xfrm>
            <a:off x="914400" y="2395728"/>
            <a:ext cx="2377440" cy="45720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Conseiller dédié</a:t>
            </a:r>
            <a:endParaRPr lang="en-US" sz="1200" dirty="0"/>
          </a:p>
        </p:txBody>
      </p:sp>
      <p:sp>
        <p:nvSpPr>
          <p:cNvPr id="18" name="Text 16"/>
          <p:cNvSpPr/>
          <p:nvPr/>
        </p:nvSpPr>
        <p:spPr>
          <a:xfrm>
            <a:off x="3383280" y="2395728"/>
            <a:ext cx="5486400" cy="45720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Un interlocuteur unique qui suit le client de la première visite à la signature, incarnation du "People"</a:t>
            </a:r>
            <a:endParaRPr lang="en-US" sz="1000" dirty="0"/>
          </a:p>
        </p:txBody>
      </p:sp>
      <p:sp>
        <p:nvSpPr>
          <p:cNvPr id="19" name="Shape 17"/>
          <p:cNvSpPr/>
          <p:nvPr/>
        </p:nvSpPr>
        <p:spPr>
          <a:xfrm>
            <a:off x="548640" y="2834640"/>
            <a:ext cx="36576" cy="91440"/>
          </a:xfrm>
          <a:prstGeom prst="rect">
            <a:avLst/>
          </a:prstGeom>
          <a:solidFill>
            <a:srgbClr val="CADCFC"/>
          </a:solidFill>
          <a:ln w="12700">
            <a:solidFill>
              <a:srgbClr val="CADCFC"/>
            </a:solidFill>
            <a:prstDash val="solid"/>
          </a:ln>
        </p:spPr>
        <p:txBody>
          <a:bodyPr/>
          <a:lstStyle/>
          <a:p>
            <a:endParaRPr lang="fr-FR"/>
          </a:p>
        </p:txBody>
      </p:sp>
      <p:sp>
        <p:nvSpPr>
          <p:cNvPr id="20" name="Shape 18"/>
          <p:cNvSpPr/>
          <p:nvPr/>
        </p:nvSpPr>
        <p:spPr>
          <a:xfrm>
            <a:off x="365760" y="2971800"/>
            <a:ext cx="411480" cy="411480"/>
          </a:xfrm>
          <a:prstGeom prst="ellipse">
            <a:avLst/>
          </a:prstGeom>
          <a:solidFill>
            <a:srgbClr val="1E2761"/>
          </a:solidFill>
          <a:ln w="12700">
            <a:solidFill>
              <a:srgbClr val="1E2761"/>
            </a:solidFill>
            <a:prstDash val="solid"/>
          </a:ln>
        </p:spPr>
        <p:txBody>
          <a:bodyPr/>
          <a:lstStyle/>
          <a:p>
            <a:endParaRPr lang="fr-FR"/>
          </a:p>
        </p:txBody>
      </p:sp>
      <p:sp>
        <p:nvSpPr>
          <p:cNvPr id="21" name="Text 19"/>
          <p:cNvSpPr/>
          <p:nvPr/>
        </p:nvSpPr>
        <p:spPr>
          <a:xfrm>
            <a:off x="365760" y="2971800"/>
            <a:ext cx="411480" cy="41148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3</a:t>
            </a:r>
            <a:endParaRPr lang="en-US" sz="1600" dirty="0"/>
          </a:p>
        </p:txBody>
      </p:sp>
      <p:sp>
        <p:nvSpPr>
          <p:cNvPr id="22" name="Text 20"/>
          <p:cNvSpPr/>
          <p:nvPr/>
        </p:nvSpPr>
        <p:spPr>
          <a:xfrm>
            <a:off x="914400" y="2944368"/>
            <a:ext cx="2377440" cy="45720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Réservation &amp; contrat</a:t>
            </a:r>
            <a:endParaRPr lang="en-US" sz="1200" dirty="0"/>
          </a:p>
        </p:txBody>
      </p:sp>
      <p:sp>
        <p:nvSpPr>
          <p:cNvPr id="23" name="Text 21"/>
          <p:cNvSpPr/>
          <p:nvPr/>
        </p:nvSpPr>
        <p:spPr>
          <a:xfrm>
            <a:off x="3383280" y="2944368"/>
            <a:ext cx="5486400" cy="45720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Contrat préliminaire, dépôt de garantie, délai de rétractation SRU 10 jours</a:t>
            </a:r>
            <a:endParaRPr lang="en-US" sz="1000" dirty="0"/>
          </a:p>
        </p:txBody>
      </p:sp>
      <p:sp>
        <p:nvSpPr>
          <p:cNvPr id="24" name="Shape 22"/>
          <p:cNvSpPr/>
          <p:nvPr/>
        </p:nvSpPr>
        <p:spPr>
          <a:xfrm>
            <a:off x="548640" y="3383280"/>
            <a:ext cx="36576" cy="91440"/>
          </a:xfrm>
          <a:prstGeom prst="rect">
            <a:avLst/>
          </a:prstGeom>
          <a:solidFill>
            <a:srgbClr val="CADCFC"/>
          </a:solidFill>
          <a:ln w="12700">
            <a:solidFill>
              <a:srgbClr val="CADCFC"/>
            </a:solidFill>
            <a:prstDash val="solid"/>
          </a:ln>
        </p:spPr>
        <p:txBody>
          <a:bodyPr/>
          <a:lstStyle/>
          <a:p>
            <a:endParaRPr lang="fr-FR"/>
          </a:p>
        </p:txBody>
      </p:sp>
      <p:sp>
        <p:nvSpPr>
          <p:cNvPr id="25" name="Shape 23"/>
          <p:cNvSpPr/>
          <p:nvPr/>
        </p:nvSpPr>
        <p:spPr>
          <a:xfrm>
            <a:off x="365760" y="3520440"/>
            <a:ext cx="411480" cy="411480"/>
          </a:xfrm>
          <a:prstGeom prst="ellipse">
            <a:avLst/>
          </a:prstGeom>
          <a:solidFill>
            <a:srgbClr val="1E2761"/>
          </a:solidFill>
          <a:ln w="12700">
            <a:solidFill>
              <a:srgbClr val="1E2761"/>
            </a:solidFill>
            <a:prstDash val="solid"/>
          </a:ln>
        </p:spPr>
        <p:txBody>
          <a:bodyPr/>
          <a:lstStyle/>
          <a:p>
            <a:endParaRPr lang="fr-FR"/>
          </a:p>
        </p:txBody>
      </p:sp>
      <p:sp>
        <p:nvSpPr>
          <p:cNvPr id="26" name="Text 24"/>
          <p:cNvSpPr/>
          <p:nvPr/>
        </p:nvSpPr>
        <p:spPr>
          <a:xfrm>
            <a:off x="365760" y="3520440"/>
            <a:ext cx="411480" cy="41148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4</a:t>
            </a:r>
            <a:endParaRPr lang="en-US" sz="1600" dirty="0"/>
          </a:p>
        </p:txBody>
      </p:sp>
      <p:sp>
        <p:nvSpPr>
          <p:cNvPr id="27" name="Text 25"/>
          <p:cNvSpPr/>
          <p:nvPr/>
        </p:nvSpPr>
        <p:spPr>
          <a:xfrm>
            <a:off x="914400" y="3493008"/>
            <a:ext cx="2377440" cy="45720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Financement</a:t>
            </a:r>
            <a:endParaRPr lang="en-US" sz="1200" dirty="0"/>
          </a:p>
        </p:txBody>
      </p:sp>
      <p:sp>
        <p:nvSpPr>
          <p:cNvPr id="28" name="Text 26"/>
          <p:cNvSpPr/>
          <p:nvPr/>
        </p:nvSpPr>
        <p:spPr>
          <a:xfrm>
            <a:off x="3383280" y="3493008"/>
            <a:ext cx="5486400" cy="45720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Mise en relation avec courtiers partenaires, simulateurs, accompagnement au montage du dossier bancaire</a:t>
            </a:r>
            <a:endParaRPr lang="en-US" sz="1000" dirty="0"/>
          </a:p>
        </p:txBody>
      </p:sp>
      <p:sp>
        <p:nvSpPr>
          <p:cNvPr id="29" name="Shape 27"/>
          <p:cNvSpPr/>
          <p:nvPr/>
        </p:nvSpPr>
        <p:spPr>
          <a:xfrm>
            <a:off x="548640" y="3931920"/>
            <a:ext cx="36576" cy="91440"/>
          </a:xfrm>
          <a:prstGeom prst="rect">
            <a:avLst/>
          </a:prstGeom>
          <a:solidFill>
            <a:srgbClr val="CADCFC"/>
          </a:solidFill>
          <a:ln w="12700">
            <a:solidFill>
              <a:srgbClr val="CADCFC"/>
            </a:solidFill>
            <a:prstDash val="solid"/>
          </a:ln>
        </p:spPr>
        <p:txBody>
          <a:bodyPr/>
          <a:lstStyle/>
          <a:p>
            <a:endParaRPr lang="fr-FR"/>
          </a:p>
        </p:txBody>
      </p:sp>
      <p:sp>
        <p:nvSpPr>
          <p:cNvPr id="30" name="Shape 28"/>
          <p:cNvSpPr/>
          <p:nvPr/>
        </p:nvSpPr>
        <p:spPr>
          <a:xfrm>
            <a:off x="365760" y="4069080"/>
            <a:ext cx="411480" cy="411480"/>
          </a:xfrm>
          <a:prstGeom prst="ellipse">
            <a:avLst/>
          </a:prstGeom>
          <a:solidFill>
            <a:srgbClr val="1E2761"/>
          </a:solidFill>
          <a:ln w="12700">
            <a:solidFill>
              <a:srgbClr val="1E2761"/>
            </a:solidFill>
            <a:prstDash val="solid"/>
          </a:ln>
        </p:spPr>
        <p:txBody>
          <a:bodyPr/>
          <a:lstStyle/>
          <a:p>
            <a:endParaRPr lang="fr-FR"/>
          </a:p>
        </p:txBody>
      </p:sp>
      <p:sp>
        <p:nvSpPr>
          <p:cNvPr id="31" name="Text 29"/>
          <p:cNvSpPr/>
          <p:nvPr/>
        </p:nvSpPr>
        <p:spPr>
          <a:xfrm>
            <a:off x="365760" y="4069080"/>
            <a:ext cx="411480" cy="411480"/>
          </a:xfrm>
          <a:prstGeom prst="rect">
            <a:avLst/>
          </a:prstGeom>
          <a:noFill/>
          <a:ln/>
        </p:spPr>
        <p:txBody>
          <a:bodyPr wrap="square" lIns="0" tIns="0" rIns="0" bIns="0" rtlCol="0" anchor="ctr"/>
          <a:lstStyle/>
          <a:p>
            <a:pPr marL="0" indent="0" algn="ctr">
              <a:buNone/>
            </a:pPr>
            <a:r>
              <a:rPr lang="en-US" sz="1500" b="1" dirty="0">
                <a:solidFill>
                  <a:srgbClr val="1C2B3A"/>
                </a:solidFill>
                <a:latin typeface="Trebuchet MS" pitchFamily="34" charset="0"/>
                <a:ea typeface="Georgia" pitchFamily="34" charset="-122"/>
                <a:cs typeface="Georgia" pitchFamily="34" charset="-120"/>
              </a:rPr>
              <a:t>5</a:t>
            </a:r>
            <a:endParaRPr lang="en-US" sz="1600" dirty="0"/>
          </a:p>
        </p:txBody>
      </p:sp>
      <p:sp>
        <p:nvSpPr>
          <p:cNvPr id="32" name="Text 30"/>
          <p:cNvSpPr/>
          <p:nvPr/>
        </p:nvSpPr>
        <p:spPr>
          <a:xfrm>
            <a:off x="914400" y="4041648"/>
            <a:ext cx="2377440" cy="45720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Acte authentique</a:t>
            </a:r>
            <a:endParaRPr lang="en-US" sz="1200" dirty="0"/>
          </a:p>
        </p:txBody>
      </p:sp>
      <p:sp>
        <p:nvSpPr>
          <p:cNvPr id="33" name="Text 31"/>
          <p:cNvSpPr/>
          <p:nvPr/>
        </p:nvSpPr>
        <p:spPr>
          <a:xfrm>
            <a:off x="3383280" y="4041648"/>
            <a:ext cx="5486400" cy="457200"/>
          </a:xfrm>
          <a:prstGeom prst="rect">
            <a:avLst/>
          </a:prstGeom>
          <a:noFill/>
          <a:ln/>
        </p:spPr>
        <p:txBody>
          <a:bodyPr wrap="square" lIns="0" tIns="0" rIns="0" bIns="0" rtlCol="0" anchor="ctr"/>
          <a:lstStyle/>
          <a:p>
            <a:pPr marL="0" indent="0">
              <a:buNone/>
            </a:pPr>
            <a:r>
              <a:rPr lang="en-US" sz="1500" dirty="0">
                <a:solidFill>
                  <a:srgbClr val="1C2B3A"/>
                </a:solidFill>
                <a:latin typeface="Trebuchet MS" pitchFamily="34" charset="0"/>
                <a:ea typeface="Calibri" pitchFamily="34" charset="-122"/>
                <a:cs typeface="Calibri" pitchFamily="34" charset="-120"/>
              </a:rPr>
              <a:t>Signature notariée, démarrage des appels de fonds échelonnés selon l'avancement du chantier (VEFA)</a:t>
            </a:r>
            <a:endParaRPr lang="en-US" sz="1000" dirty="0"/>
          </a:p>
        </p:txBody>
      </p:sp>
      <p:sp>
        <p:nvSpPr>
          <p:cNvPr id="35" name="Rectangle 34"/>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EAE3"/>
        </a:solidFill>
        <a:effectLst/>
      </p:bgPr>
    </p:bg>
    <p:spTree>
      <p:nvGrpSpPr>
        <p:cNvPr id="1" name=""/>
        <p:cNvGrpSpPr/>
        <p:nvPr/>
      </p:nvGrpSpPr>
      <p:grpSpPr>
        <a:xfrm>
          <a:off x="0" y="0"/>
          <a:ext cx="0" cy="0"/>
          <a:chOff x="0" y="0"/>
          <a:chExt cx="0" cy="0"/>
        </a:xfrm>
      </p:grpSpPr>
      <p:sp>
        <p:nvSpPr>
          <p:cNvPr id="26" name="Rectangle 25"/>
          <p:cNvSpPr/>
          <p:nvPr/>
        </p:nvSpPr>
        <p:spPr>
          <a:xfrm>
            <a:off x="0" y="0"/>
            <a:ext cx="9144000" cy="1028700"/>
          </a:xfrm>
          <a:prstGeom prst="rect">
            <a:avLst/>
          </a:prstGeom>
          <a:solidFill>
            <a:srgbClr val="1C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1800" b="1" kern="0" spc="200" dirty="0">
                <a:solidFill>
                  <a:srgbClr val="1C2B3A"/>
                </a:solidFill>
                <a:latin typeface="Trebuchet MS" pitchFamily="34" charset="0"/>
                <a:ea typeface="Calibri" pitchFamily="34" charset="-122"/>
                <a:cs typeface="Calibri" pitchFamily="34" charset="-120"/>
              </a:rPr>
              <a:t>ÉTUDE DE CAS — BOUYGUES IMMOBILIER</a:t>
            </a:r>
            <a:endParaRPr lang="en-US" sz="1100" dirty="0"/>
          </a:p>
        </p:txBody>
      </p:sp>
      <p:sp>
        <p:nvSpPr>
          <p:cNvPr id="4" name="Text 2"/>
          <p:cNvSpPr/>
          <p:nvPr/>
        </p:nvSpPr>
        <p:spPr>
          <a:xfrm>
            <a:off x="365760" y="658368"/>
            <a:ext cx="8412480" cy="64008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Georgia" pitchFamily="34" charset="-122"/>
                <a:cs typeface="Georgia" pitchFamily="34" charset="-120"/>
              </a:rPr>
              <a:t>Phase 3 — Après l'achat</a:t>
            </a:r>
            <a:endParaRPr lang="en-US" sz="28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1500" dirty="0">
                <a:solidFill>
                  <a:srgbClr val="1C2B3A"/>
                </a:solidFill>
                <a:latin typeface="Trebuchet MS" pitchFamily="34" charset="0"/>
                <a:ea typeface="Calibri" pitchFamily="34" charset="-122"/>
                <a:cs typeface="Calibri" pitchFamily="34" charset="-120"/>
              </a:rPr>
              <a:t>14 / 15</a:t>
            </a:r>
            <a:endParaRPr lang="en-US" sz="900" dirty="0"/>
          </a:p>
        </p:txBody>
      </p:sp>
      <p:sp>
        <p:nvSpPr>
          <p:cNvPr id="9" name="Text 7"/>
          <p:cNvSpPr/>
          <p:nvPr/>
        </p:nvSpPr>
        <p:spPr>
          <a:xfrm>
            <a:off x="365760" y="1417320"/>
            <a:ext cx="8595360" cy="292608"/>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Objectif : transformer le client </a:t>
            </a:r>
            <a:r>
              <a:rPr lang="en-US" sz="1500" i="1" dirty="0" err="1">
                <a:solidFill>
                  <a:srgbClr val="1C2B3A"/>
                </a:solidFill>
                <a:latin typeface="Trebuchet MS" pitchFamily="34" charset="0"/>
                <a:ea typeface="Calibri" pitchFamily="34" charset="-122"/>
                <a:cs typeface="Calibri" pitchFamily="34" charset="-120"/>
              </a:rPr>
              <a:t>en</a:t>
            </a:r>
            <a:r>
              <a:rPr lang="en-US" sz="1500" i="1" dirty="0">
                <a:solidFill>
                  <a:srgbClr val="1C2B3A"/>
                </a:solidFill>
                <a:latin typeface="Trebuchet MS" pitchFamily="34" charset="0"/>
                <a:ea typeface="Calibri" pitchFamily="34" charset="-122"/>
                <a:cs typeface="Calibri" pitchFamily="34" charset="-120"/>
              </a:rPr>
              <a:t> </a:t>
            </a:r>
            <a:r>
              <a:rPr lang="en-US" sz="1500" i="1" dirty="0" err="1">
                <a:solidFill>
                  <a:srgbClr val="1C2B3A"/>
                </a:solidFill>
                <a:latin typeface="Trebuchet MS" pitchFamily="34" charset="0"/>
                <a:ea typeface="Calibri" pitchFamily="34" charset="-122"/>
                <a:cs typeface="Calibri" pitchFamily="34" charset="-120"/>
              </a:rPr>
              <a:t>ambassadeur</a:t>
            </a:r>
            <a:r>
              <a:rPr lang="en-US" sz="1500" i="1" dirty="0">
                <a:solidFill>
                  <a:srgbClr val="1C2B3A"/>
                </a:solidFill>
                <a:latin typeface="Trebuchet MS" pitchFamily="34" charset="0"/>
                <a:ea typeface="Calibri" pitchFamily="34" charset="-122"/>
                <a:cs typeface="Calibri" pitchFamily="34" charset="-120"/>
              </a:rPr>
              <a:t>. Un </a:t>
            </a:r>
            <a:r>
              <a:rPr lang="en-US" sz="1500" i="1" dirty="0" err="1">
                <a:solidFill>
                  <a:srgbClr val="1C2B3A"/>
                </a:solidFill>
                <a:latin typeface="Trebuchet MS" pitchFamily="34" charset="0"/>
                <a:ea typeface="Calibri" pitchFamily="34" charset="-122"/>
                <a:cs typeface="Calibri" pitchFamily="34" charset="-120"/>
              </a:rPr>
              <a:t>enjeu</a:t>
            </a:r>
            <a:r>
              <a:rPr lang="en-US" sz="1500" i="1" dirty="0">
                <a:solidFill>
                  <a:srgbClr val="1C2B3A"/>
                </a:solidFill>
                <a:latin typeface="Trebuchet MS" pitchFamily="34" charset="0"/>
                <a:ea typeface="Calibri" pitchFamily="34" charset="-122"/>
                <a:cs typeface="Calibri" pitchFamily="34" charset="-120"/>
              </a:rPr>
              <a:t> central du marketing relationnel</a:t>
            </a:r>
            <a:endParaRPr lang="en-US" sz="1200" dirty="0"/>
          </a:p>
        </p:txBody>
      </p:sp>
      <p:sp>
        <p:nvSpPr>
          <p:cNvPr id="10" name="Text 8"/>
          <p:cNvSpPr/>
          <p:nvPr/>
        </p:nvSpPr>
        <p:spPr>
          <a:xfrm>
            <a:off x="365760" y="1783080"/>
            <a:ext cx="4572000" cy="27432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Leviers déployés</a:t>
            </a:r>
            <a:endParaRPr lang="en-US" sz="1300" dirty="0"/>
          </a:p>
        </p:txBody>
      </p:sp>
      <p:sp>
        <p:nvSpPr>
          <p:cNvPr id="11" name="Shape 9"/>
          <p:cNvSpPr/>
          <p:nvPr/>
        </p:nvSpPr>
        <p:spPr>
          <a:xfrm>
            <a:off x="365760" y="2057400"/>
            <a:ext cx="365760" cy="27432"/>
          </a:xfrm>
          <a:prstGeom prst="rect">
            <a:avLst/>
          </a:prstGeom>
          <a:solidFill>
            <a:srgbClr val="C9A227"/>
          </a:solidFill>
          <a:ln/>
        </p:spPr>
        <p:txBody>
          <a:bodyPr/>
          <a:lstStyle/>
          <a:p>
            <a:endParaRPr lang="fr-FR"/>
          </a:p>
        </p:txBody>
      </p:sp>
      <p:sp>
        <p:nvSpPr>
          <p:cNvPr id="12" name="Text 10"/>
          <p:cNvSpPr/>
          <p:nvPr/>
        </p:nvSpPr>
        <p:spPr>
          <a:xfrm>
            <a:off x="365760" y="2148840"/>
            <a:ext cx="4846320" cy="2468880"/>
          </a:xfrm>
          <a:prstGeom prst="rect">
            <a:avLst/>
          </a:prstGeom>
          <a:noFill/>
          <a:ln/>
        </p:spPr>
        <p:txBody>
          <a:bodyPr wrap="square" lIns="0" tIns="0" rIns="0" bIns="0" rtlCol="0" anchor="ctr"/>
          <a:lstStyle/>
          <a:p>
            <a:pPr marL="0" indent="0">
              <a:spcAft>
                <a:spcPts val="400"/>
              </a:spcAft>
              <a:buNone/>
            </a:pPr>
            <a:r>
              <a:rPr lang="en-US" sz="1500" b="1" dirty="0">
                <a:solidFill>
                  <a:srgbClr val="1C2B3A"/>
                </a:solidFill>
                <a:latin typeface="Trebuchet MS" pitchFamily="34" charset="0"/>
                <a:ea typeface="Calibri" pitchFamily="34" charset="-122"/>
                <a:cs typeface="Calibri" pitchFamily="34" charset="-120"/>
              </a:rPr>
              <a:t>Livraison personnalisée</a:t>
            </a:r>
            <a:endParaRPr lang="en-US" sz="1000" dirty="0"/>
          </a:p>
          <a:p>
            <a:pPr marL="0" indent="0">
              <a:spcAft>
                <a:spcPts val="400"/>
              </a:spcAft>
              <a:buNone/>
            </a:pPr>
            <a:r>
              <a:rPr lang="en-US" sz="1500" dirty="0">
                <a:solidFill>
                  <a:srgbClr val="1C2B3A"/>
                </a:solidFill>
                <a:latin typeface="Trebuchet MS" pitchFamily="34" charset="0"/>
                <a:ea typeface="Calibri" pitchFamily="34" charset="-122"/>
                <a:cs typeface="Calibri" pitchFamily="34" charset="-120"/>
              </a:rPr>
              <a:t>Pré-livraison, visite de courtoisie, livret d'accueil de la résidence</a:t>
            </a:r>
            <a:endParaRPr lang="en-US" sz="1000" dirty="0"/>
          </a:p>
          <a:p>
            <a:pPr marL="0" indent="0">
              <a:spcAft>
                <a:spcPts val="400"/>
              </a:spcAft>
              <a:buNone/>
            </a:pPr>
            <a:r>
              <a:rPr lang="en-US" sz="1500" b="1" dirty="0">
                <a:solidFill>
                  <a:srgbClr val="1C2B3A"/>
                </a:solidFill>
                <a:latin typeface="Trebuchet MS" pitchFamily="34" charset="0"/>
                <a:ea typeface="Calibri" pitchFamily="34" charset="-122"/>
                <a:cs typeface="Calibri" pitchFamily="34" charset="-120"/>
              </a:rPr>
              <a:t>Garanties légales</a:t>
            </a:r>
            <a:endParaRPr lang="en-US" sz="1000" dirty="0"/>
          </a:p>
          <a:p>
            <a:pPr marL="0" indent="0">
              <a:spcAft>
                <a:spcPts val="400"/>
              </a:spcAft>
              <a:buNone/>
            </a:pPr>
            <a:r>
              <a:rPr lang="en-US" sz="1500" dirty="0">
                <a:solidFill>
                  <a:srgbClr val="1C2B3A"/>
                </a:solidFill>
                <a:latin typeface="Trebuchet MS" pitchFamily="34" charset="0"/>
                <a:ea typeface="Calibri" pitchFamily="34" charset="-122"/>
                <a:cs typeface="Calibri" pitchFamily="34" charset="-120"/>
              </a:rPr>
              <a:t>Parfait achèvement (1 an), biennale (2 ans), décennale (10 </a:t>
            </a:r>
            <a:r>
              <a:rPr lang="en-US" sz="1500" dirty="0" err="1">
                <a:solidFill>
                  <a:srgbClr val="1C2B3A"/>
                </a:solidFill>
                <a:latin typeface="Trebuchet MS" pitchFamily="34" charset="0"/>
                <a:ea typeface="Calibri" pitchFamily="34" charset="-122"/>
                <a:cs typeface="Calibri" pitchFamily="34" charset="-120"/>
              </a:rPr>
              <a:t>ans</a:t>
            </a:r>
            <a:r>
              <a:rPr lang="en-US" sz="1500" dirty="0">
                <a:solidFill>
                  <a:srgbClr val="1C2B3A"/>
                </a:solidFill>
                <a:latin typeface="Trebuchet MS" pitchFamily="34" charset="0"/>
                <a:ea typeface="Calibri" pitchFamily="34" charset="-122"/>
                <a:cs typeface="Calibri" pitchFamily="34" charset="-120"/>
              </a:rPr>
              <a:t>), </a:t>
            </a:r>
            <a:r>
              <a:rPr lang="en-US" sz="1500" dirty="0" err="1">
                <a:solidFill>
                  <a:srgbClr val="1C2B3A"/>
                </a:solidFill>
                <a:latin typeface="Trebuchet MS" pitchFamily="34" charset="0"/>
                <a:ea typeface="Calibri" pitchFamily="34" charset="-122"/>
                <a:cs typeface="Calibri" pitchFamily="34" charset="-120"/>
              </a:rPr>
              <a:t>suivi</a:t>
            </a:r>
            <a:r>
              <a:rPr lang="en-US" sz="1500" dirty="0">
                <a:solidFill>
                  <a:srgbClr val="1C2B3A"/>
                </a:solidFill>
                <a:latin typeface="Trebuchet MS" pitchFamily="34" charset="0"/>
                <a:ea typeface="Calibri" pitchFamily="34" charset="-122"/>
                <a:cs typeface="Calibri" pitchFamily="34" charset="-120"/>
              </a:rPr>
              <a:t> structuré</a:t>
            </a:r>
            <a:endParaRPr lang="en-US" sz="1000" dirty="0"/>
          </a:p>
          <a:p>
            <a:pPr marL="0" indent="0">
              <a:spcAft>
                <a:spcPts val="400"/>
              </a:spcAft>
              <a:buNone/>
            </a:pPr>
            <a:r>
              <a:rPr lang="en-US" sz="1500" b="1" dirty="0">
                <a:solidFill>
                  <a:srgbClr val="1C2B3A"/>
                </a:solidFill>
                <a:latin typeface="Trebuchet MS" pitchFamily="34" charset="0"/>
                <a:ea typeface="Calibri" pitchFamily="34" charset="-122"/>
                <a:cs typeface="Calibri" pitchFamily="34" charset="-120"/>
              </a:rPr>
              <a:t>Service Après-Vente dédié</a:t>
            </a:r>
            <a:endParaRPr lang="en-US" sz="1000" dirty="0"/>
          </a:p>
          <a:p>
            <a:pPr marL="0" indent="0">
              <a:spcAft>
                <a:spcPts val="400"/>
              </a:spcAft>
              <a:buNone/>
            </a:pPr>
            <a:r>
              <a:rPr lang="en-US" sz="1500" dirty="0">
                <a:solidFill>
                  <a:srgbClr val="1C2B3A"/>
                </a:solidFill>
                <a:latin typeface="Trebuchet MS" pitchFamily="34" charset="0"/>
                <a:ea typeface="Calibri" pitchFamily="34" charset="-122"/>
                <a:cs typeface="Calibri" pitchFamily="34" charset="-120"/>
              </a:rPr>
              <a:t>Plateforme client en ligne, application mobile pour signaler les réserves</a:t>
            </a:r>
            <a:endParaRPr lang="en-US" sz="1000" dirty="0"/>
          </a:p>
          <a:p>
            <a:pPr marL="0" indent="0">
              <a:spcAft>
                <a:spcPts val="400"/>
              </a:spcAft>
              <a:buNone/>
            </a:pPr>
            <a:r>
              <a:rPr lang="en-US" sz="1500" b="1" dirty="0">
                <a:solidFill>
                  <a:srgbClr val="1C2B3A"/>
                </a:solidFill>
                <a:latin typeface="Trebuchet MS" pitchFamily="34" charset="0"/>
                <a:ea typeface="Calibri" pitchFamily="34" charset="-122"/>
                <a:cs typeface="Calibri" pitchFamily="34" charset="-120"/>
              </a:rPr>
              <a:t>Programme de fidélisation</a:t>
            </a:r>
            <a:endParaRPr lang="en-US" sz="1000" dirty="0"/>
          </a:p>
          <a:p>
            <a:pPr marL="0" indent="0">
              <a:spcAft>
                <a:spcPts val="400"/>
              </a:spcAft>
              <a:buNone/>
            </a:pPr>
            <a:r>
              <a:rPr lang="en-US" sz="1500" dirty="0">
                <a:solidFill>
                  <a:srgbClr val="1C2B3A"/>
                </a:solidFill>
                <a:latin typeface="Trebuchet MS" pitchFamily="34" charset="0"/>
                <a:ea typeface="Calibri" pitchFamily="34" charset="-122"/>
                <a:cs typeface="Calibri" pitchFamily="34" charset="-120"/>
              </a:rPr>
              <a:t>Parrainage, offres préférentielles, invitations à des </a:t>
            </a:r>
            <a:r>
              <a:rPr lang="en-US" sz="1500" dirty="0" err="1">
                <a:solidFill>
                  <a:srgbClr val="1C2B3A"/>
                </a:solidFill>
                <a:latin typeface="Trebuchet MS" pitchFamily="34" charset="0"/>
                <a:ea typeface="Calibri" pitchFamily="34" charset="-122"/>
                <a:cs typeface="Calibri" pitchFamily="34" charset="-120"/>
              </a:rPr>
              <a:t>événements</a:t>
            </a:r>
            <a:endParaRPr lang="en-US" sz="1000" dirty="0"/>
          </a:p>
        </p:txBody>
      </p:sp>
      <p:sp>
        <p:nvSpPr>
          <p:cNvPr id="13" name="Shape 11"/>
          <p:cNvSpPr/>
          <p:nvPr/>
        </p:nvSpPr>
        <p:spPr>
          <a:xfrm>
            <a:off x="5486400" y="1783080"/>
            <a:ext cx="3383280" cy="2834640"/>
          </a:xfrm>
          <a:prstGeom prst="rect">
            <a:avLst/>
          </a:prstGeom>
          <a:solidFill>
            <a:srgbClr val="1E2761"/>
          </a:solidFill>
          <a:ln w="12700">
            <a:solidFill>
              <a:srgbClr val="1E2761"/>
            </a:solidFill>
            <a:prstDash val="solid"/>
          </a:ln>
        </p:spPr>
        <p:txBody>
          <a:bodyPr/>
          <a:lstStyle/>
          <a:p>
            <a:endParaRPr lang="fr-FR"/>
          </a:p>
        </p:txBody>
      </p:sp>
      <p:sp>
        <p:nvSpPr>
          <p:cNvPr id="14" name="Text 12"/>
          <p:cNvSpPr/>
          <p:nvPr/>
        </p:nvSpPr>
        <p:spPr>
          <a:xfrm>
            <a:off x="5623560" y="1874520"/>
            <a:ext cx="3108960" cy="292608"/>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Indicateurs de la relation</a:t>
            </a:r>
            <a:endParaRPr lang="en-US" sz="1300" dirty="0"/>
          </a:p>
        </p:txBody>
      </p:sp>
      <p:sp>
        <p:nvSpPr>
          <p:cNvPr id="15" name="Shape 13"/>
          <p:cNvSpPr/>
          <p:nvPr/>
        </p:nvSpPr>
        <p:spPr>
          <a:xfrm>
            <a:off x="5623560" y="2194560"/>
            <a:ext cx="365760" cy="27432"/>
          </a:xfrm>
          <a:prstGeom prst="rect">
            <a:avLst/>
          </a:prstGeom>
          <a:solidFill>
            <a:srgbClr val="C9A227"/>
          </a:solidFill>
          <a:ln/>
        </p:spPr>
        <p:txBody>
          <a:bodyPr/>
          <a:lstStyle/>
          <a:p>
            <a:endParaRPr lang="fr-FR"/>
          </a:p>
        </p:txBody>
      </p:sp>
      <p:sp>
        <p:nvSpPr>
          <p:cNvPr id="16" name="Text 14"/>
          <p:cNvSpPr/>
          <p:nvPr/>
        </p:nvSpPr>
        <p:spPr>
          <a:xfrm>
            <a:off x="5623560" y="2331720"/>
            <a:ext cx="1463040" cy="27432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NPS</a:t>
            </a:r>
            <a:endParaRPr lang="en-US" sz="1100" dirty="0"/>
          </a:p>
        </p:txBody>
      </p:sp>
      <p:sp>
        <p:nvSpPr>
          <p:cNvPr id="17" name="Text 15"/>
          <p:cNvSpPr/>
          <p:nvPr/>
        </p:nvSpPr>
        <p:spPr>
          <a:xfrm>
            <a:off x="7086600" y="2331720"/>
            <a:ext cx="1828800" cy="27432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mesure de la recommandation</a:t>
            </a:r>
            <a:endParaRPr lang="en-US" sz="900" dirty="0"/>
          </a:p>
        </p:txBody>
      </p:sp>
      <p:sp>
        <p:nvSpPr>
          <p:cNvPr id="18" name="Text 16"/>
          <p:cNvSpPr/>
          <p:nvPr/>
        </p:nvSpPr>
        <p:spPr>
          <a:xfrm>
            <a:off x="5623560" y="2770632"/>
            <a:ext cx="1463040" cy="27432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Taux de réitération</a:t>
            </a:r>
            <a:endParaRPr lang="en-US" sz="1100" dirty="0"/>
          </a:p>
        </p:txBody>
      </p:sp>
      <p:sp>
        <p:nvSpPr>
          <p:cNvPr id="19" name="Text 17"/>
          <p:cNvSpPr/>
          <p:nvPr/>
        </p:nvSpPr>
        <p:spPr>
          <a:xfrm>
            <a:off x="7086600" y="2770632"/>
            <a:ext cx="1828800" cy="27432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clients revenant pour un 2ᵉ projet</a:t>
            </a:r>
            <a:endParaRPr lang="en-US" sz="900" dirty="0"/>
          </a:p>
        </p:txBody>
      </p:sp>
      <p:sp>
        <p:nvSpPr>
          <p:cNvPr id="20" name="Text 18"/>
          <p:cNvSpPr/>
          <p:nvPr/>
        </p:nvSpPr>
        <p:spPr>
          <a:xfrm>
            <a:off x="5623560" y="3209544"/>
            <a:ext cx="1463040" cy="27432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Taux de réserves</a:t>
            </a:r>
            <a:endParaRPr lang="en-US" sz="1100" dirty="0"/>
          </a:p>
        </p:txBody>
      </p:sp>
      <p:sp>
        <p:nvSpPr>
          <p:cNvPr id="21" name="Text 19"/>
          <p:cNvSpPr/>
          <p:nvPr/>
        </p:nvSpPr>
        <p:spPr>
          <a:xfrm>
            <a:off x="7086600" y="3209544"/>
            <a:ext cx="1828800" cy="27432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qualité perçue à la livraison</a:t>
            </a:r>
            <a:endParaRPr lang="en-US" sz="900" dirty="0"/>
          </a:p>
        </p:txBody>
      </p:sp>
      <p:sp>
        <p:nvSpPr>
          <p:cNvPr id="22" name="Text 20"/>
          <p:cNvSpPr/>
          <p:nvPr/>
        </p:nvSpPr>
        <p:spPr>
          <a:xfrm>
            <a:off x="5623560" y="3648456"/>
            <a:ext cx="1463040" cy="27432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LTV</a:t>
            </a:r>
            <a:endParaRPr lang="en-US" sz="1100" dirty="0"/>
          </a:p>
        </p:txBody>
      </p:sp>
      <p:sp>
        <p:nvSpPr>
          <p:cNvPr id="23" name="Text 21"/>
          <p:cNvSpPr/>
          <p:nvPr/>
        </p:nvSpPr>
        <p:spPr>
          <a:xfrm>
            <a:off x="7086600" y="3648456"/>
            <a:ext cx="1828800" cy="27432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valeur actualisée du client</a:t>
            </a:r>
            <a:endParaRPr lang="en-US" sz="900" dirty="0"/>
          </a:p>
        </p:txBody>
      </p:sp>
      <p:sp>
        <p:nvSpPr>
          <p:cNvPr id="24" name="Text 22"/>
          <p:cNvSpPr/>
          <p:nvPr/>
        </p:nvSpPr>
        <p:spPr>
          <a:xfrm>
            <a:off x="5623560" y="4087368"/>
            <a:ext cx="1463040" cy="274320"/>
          </a:xfrm>
          <a:prstGeom prst="rect">
            <a:avLst/>
          </a:prstGeom>
          <a:noFill/>
          <a:ln/>
        </p:spPr>
        <p:txBody>
          <a:bodyPr wrap="square" lIns="0" tIns="0" rIns="0" bIns="0" rtlCol="0" anchor="ctr"/>
          <a:lstStyle/>
          <a:p>
            <a:pPr marL="0" indent="0">
              <a:buNone/>
            </a:pPr>
            <a:r>
              <a:rPr lang="en-US" sz="1500" b="1" dirty="0">
                <a:solidFill>
                  <a:srgbClr val="1C2B3A"/>
                </a:solidFill>
                <a:latin typeface="Trebuchet MS" pitchFamily="34" charset="0"/>
                <a:ea typeface="Calibri" pitchFamily="34" charset="-122"/>
                <a:cs typeface="Calibri" pitchFamily="34" charset="-120"/>
              </a:rPr>
              <a:t>Avis et e-réputation</a:t>
            </a:r>
            <a:endParaRPr lang="en-US" sz="1100" dirty="0"/>
          </a:p>
        </p:txBody>
      </p:sp>
      <p:sp>
        <p:nvSpPr>
          <p:cNvPr id="25" name="Text 23"/>
          <p:cNvSpPr/>
          <p:nvPr/>
        </p:nvSpPr>
        <p:spPr>
          <a:xfrm>
            <a:off x="7086600" y="4087368"/>
            <a:ext cx="1828800" cy="274320"/>
          </a:xfrm>
          <a:prstGeom prst="rect">
            <a:avLst/>
          </a:prstGeom>
          <a:noFill/>
          <a:ln/>
        </p:spPr>
        <p:txBody>
          <a:bodyPr wrap="square" lIns="0" tIns="0" rIns="0" bIns="0" rtlCol="0" anchor="ctr"/>
          <a:lstStyle/>
          <a:p>
            <a:pPr marL="0" indent="0">
              <a:buNone/>
            </a:pPr>
            <a:r>
              <a:rPr lang="en-US" sz="1500" i="1" dirty="0">
                <a:solidFill>
                  <a:srgbClr val="1C2B3A"/>
                </a:solidFill>
                <a:latin typeface="Trebuchet MS" pitchFamily="34" charset="0"/>
                <a:ea typeface="Calibri" pitchFamily="34" charset="-122"/>
                <a:cs typeface="Calibri" pitchFamily="34" charset="-120"/>
              </a:rPr>
              <a:t>Google, Trustpilot, forums</a:t>
            </a:r>
            <a:endParaRPr lang="en-US" sz="900" dirty="0"/>
          </a:p>
        </p:txBody>
      </p:sp>
      <p:sp>
        <p:nvSpPr>
          <p:cNvPr id="27" name="Rectangle 26"/>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466">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2B3A"/>
        </a:solidFill>
        <a:effectLst/>
      </p:bgPr>
    </p:bg>
    <p:spTree>
      <p:nvGrpSpPr>
        <p:cNvPr id="1" name=""/>
        <p:cNvGrpSpPr/>
        <p:nvPr/>
      </p:nvGrpSpPr>
      <p:grpSpPr>
        <a:xfrm>
          <a:off x="0" y="0"/>
          <a:ext cx="0" cy="0"/>
          <a:chOff x="0" y="0"/>
          <a:chExt cx="0" cy="0"/>
        </a:xfrm>
      </p:grpSpPr>
      <p:sp>
        <p:nvSpPr>
          <p:cNvPr id="2" name="Shape 0"/>
          <p:cNvSpPr/>
          <p:nvPr/>
        </p:nvSpPr>
        <p:spPr>
          <a:xfrm>
            <a:off x="365760" y="411480"/>
            <a:ext cx="164592" cy="164592"/>
          </a:xfrm>
          <a:prstGeom prst="rect">
            <a:avLst/>
          </a:prstGeom>
          <a:solidFill>
            <a:srgbClr val="C9A227"/>
          </a:solidFill>
          <a:ln w="12700">
            <a:solidFill>
              <a:srgbClr val="C9A227"/>
            </a:solidFill>
            <a:prstDash val="solid"/>
          </a:ln>
        </p:spPr>
        <p:txBody>
          <a:bodyPr/>
          <a:lstStyle/>
          <a:p>
            <a:endParaRPr lang="fr-FR"/>
          </a:p>
        </p:txBody>
      </p:sp>
      <p:sp>
        <p:nvSpPr>
          <p:cNvPr id="3" name="Text 1"/>
          <p:cNvSpPr/>
          <p:nvPr/>
        </p:nvSpPr>
        <p:spPr>
          <a:xfrm>
            <a:off x="640080" y="347472"/>
            <a:ext cx="7315200" cy="292608"/>
          </a:xfrm>
          <a:prstGeom prst="rect">
            <a:avLst/>
          </a:prstGeom>
          <a:noFill/>
          <a:ln/>
        </p:spPr>
        <p:txBody>
          <a:bodyPr wrap="square" lIns="0" tIns="0" rIns="0" bIns="0" rtlCol="0" anchor="ctr"/>
          <a:lstStyle/>
          <a:p>
            <a:pPr marL="0" indent="0">
              <a:buNone/>
            </a:pPr>
            <a:r>
              <a:rPr lang="en-US" sz="2200" b="1" kern="0" spc="200" dirty="0">
                <a:solidFill>
                  <a:srgbClr val="FFFFFF"/>
                </a:solidFill>
                <a:latin typeface="Trebuchet MS" pitchFamily="34" charset="0"/>
                <a:ea typeface="Calibri" pitchFamily="34" charset="-122"/>
                <a:cs typeface="Calibri" pitchFamily="34" charset="-120"/>
              </a:rPr>
              <a:t>CONCLUSION</a:t>
            </a:r>
            <a:endParaRPr lang="en-US" sz="1100" dirty="0"/>
          </a:p>
        </p:txBody>
      </p:sp>
      <p:sp>
        <p:nvSpPr>
          <p:cNvPr id="4" name="Text 2"/>
          <p:cNvSpPr/>
          <p:nvPr/>
        </p:nvSpPr>
        <p:spPr>
          <a:xfrm>
            <a:off x="313294" y="658368"/>
            <a:ext cx="9452796"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Georgia" pitchFamily="34" charset="-122"/>
                <a:cs typeface="Georgia" pitchFamily="34" charset="-120"/>
              </a:rPr>
              <a:t>Vers une expérience client immobilière augmentée</a:t>
            </a:r>
            <a:endParaRPr lang="en-US" sz="2600" dirty="0"/>
          </a:p>
        </p:txBody>
      </p:sp>
      <p:sp>
        <p:nvSpPr>
          <p:cNvPr id="5" name="Shape 3"/>
          <p:cNvSpPr/>
          <p:nvPr/>
        </p:nvSpPr>
        <p:spPr>
          <a:xfrm>
            <a:off x="365760" y="1325880"/>
            <a:ext cx="914400" cy="36576"/>
          </a:xfrm>
          <a:prstGeom prst="rect">
            <a:avLst/>
          </a:prstGeom>
          <a:solidFill>
            <a:srgbClr val="1E2761"/>
          </a:solidFill>
          <a:ln/>
        </p:spPr>
        <p:txBody>
          <a:bodyPr/>
          <a:lstStyle/>
          <a:p>
            <a:endParaRPr lang="fr-FR"/>
          </a:p>
        </p:txBody>
      </p:sp>
      <p:sp>
        <p:nvSpPr>
          <p:cNvPr id="6" name="Shape 4"/>
          <p:cNvSpPr/>
          <p:nvPr/>
        </p:nvSpPr>
        <p:spPr>
          <a:xfrm>
            <a:off x="0" y="4850892"/>
            <a:ext cx="9144000" cy="292608"/>
          </a:xfrm>
          <a:prstGeom prst="rect">
            <a:avLst/>
          </a:prstGeom>
          <a:solidFill>
            <a:srgbClr val="1E2761"/>
          </a:solidFill>
          <a:ln/>
        </p:spPr>
        <p:txBody>
          <a:bodyPr/>
          <a:lstStyle/>
          <a:p>
            <a:endParaRPr lang="fr-FR"/>
          </a:p>
        </p:txBody>
      </p:sp>
      <p:sp>
        <p:nvSpPr>
          <p:cNvPr id="8" name="Text 6"/>
          <p:cNvSpPr/>
          <p:nvPr/>
        </p:nvSpPr>
        <p:spPr>
          <a:xfrm>
            <a:off x="8229600" y="4850892"/>
            <a:ext cx="548640" cy="292608"/>
          </a:xfrm>
          <a:prstGeom prst="rect">
            <a:avLst/>
          </a:prstGeom>
          <a:noFill/>
          <a:ln/>
        </p:spPr>
        <p:txBody>
          <a:bodyPr wrap="square" lIns="0" tIns="0" rIns="0" bIns="0" rtlCol="0" anchor="ctr"/>
          <a:lstStyle/>
          <a:p>
            <a:pPr marL="0" indent="0" algn="r">
              <a:buNone/>
            </a:pPr>
            <a:r>
              <a:rPr lang="en-US" sz="2200" dirty="0">
                <a:solidFill>
                  <a:srgbClr val="FFFFFF"/>
                </a:solidFill>
                <a:latin typeface="Trebuchet MS" pitchFamily="34" charset="0"/>
                <a:ea typeface="Calibri" pitchFamily="34" charset="-122"/>
                <a:cs typeface="Calibri" pitchFamily="34" charset="-120"/>
              </a:rPr>
              <a:t>15 / 15</a:t>
            </a:r>
            <a:endParaRPr lang="en-US" sz="900" dirty="0"/>
          </a:p>
        </p:txBody>
      </p:sp>
      <p:sp>
        <p:nvSpPr>
          <p:cNvPr id="9" name="Text 7"/>
          <p:cNvSpPr/>
          <p:nvPr/>
        </p:nvSpPr>
        <p:spPr>
          <a:xfrm>
            <a:off x="365760" y="1508760"/>
            <a:ext cx="8595360" cy="82296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Calibri" pitchFamily="34" charset="-122"/>
                <a:cs typeface="Calibri" pitchFamily="34" charset="-120"/>
              </a:rPr>
              <a:t>Le marketing immobilier </a:t>
            </a:r>
            <a:r>
              <a:rPr lang="en-US" sz="2200" dirty="0">
                <a:solidFill>
                  <a:srgbClr val="FFFFFF"/>
                </a:solidFill>
                <a:latin typeface="Trebuchet MS" pitchFamily="34" charset="0"/>
                <a:ea typeface="Calibri" pitchFamily="34" charset="-122"/>
                <a:cs typeface="Calibri" pitchFamily="34" charset="-120"/>
              </a:rPr>
              <a:t>ne se résume plus à la commercialisation d'un bien : il orchestre un </a:t>
            </a:r>
            <a:r>
              <a:rPr lang="en-US" sz="2200" b="1" dirty="0">
                <a:solidFill>
                  <a:srgbClr val="FFFFFF"/>
                </a:solidFill>
                <a:latin typeface="Trebuchet MS" pitchFamily="34" charset="0"/>
                <a:ea typeface="Calibri" pitchFamily="34" charset="-122"/>
                <a:cs typeface="Calibri" pitchFamily="34" charset="-120"/>
              </a:rPr>
              <a:t>écosystème de services</a:t>
            </a:r>
            <a:r>
              <a:rPr lang="en-US" sz="2200" dirty="0">
                <a:solidFill>
                  <a:srgbClr val="FFFFFF"/>
                </a:solidFill>
                <a:latin typeface="Trebuchet MS" pitchFamily="34" charset="0"/>
                <a:ea typeface="Calibri" pitchFamily="34" charset="-122"/>
                <a:cs typeface="Calibri" pitchFamily="34" charset="-120"/>
              </a:rPr>
              <a:t> (les 7P) au sein d'un </a:t>
            </a:r>
            <a:r>
              <a:rPr lang="en-US" sz="2200" dirty="0" err="1">
                <a:solidFill>
                  <a:srgbClr val="FFFFFF"/>
                </a:solidFill>
                <a:latin typeface="Trebuchet MS" pitchFamily="34" charset="0"/>
                <a:ea typeface="Calibri" pitchFamily="34" charset="-122"/>
                <a:cs typeface="Calibri" pitchFamily="34" charset="-120"/>
              </a:rPr>
              <a:t>parcours</a:t>
            </a:r>
            <a:r>
              <a:rPr lang="en-US" sz="2200" dirty="0">
                <a:solidFill>
                  <a:srgbClr val="FFFFFF"/>
                </a:solidFill>
                <a:latin typeface="Trebuchet MS" pitchFamily="34" charset="0"/>
                <a:ea typeface="Calibri" pitchFamily="34" charset="-122"/>
                <a:cs typeface="Calibri" pitchFamily="34" charset="-120"/>
              </a:rPr>
              <a:t> long </a:t>
            </a:r>
            <a:r>
              <a:rPr lang="en-US" sz="2200" dirty="0" err="1">
                <a:solidFill>
                  <a:srgbClr val="FFFFFF"/>
                </a:solidFill>
                <a:latin typeface="Trebuchet MS" pitchFamily="34" charset="0"/>
                <a:ea typeface="Calibri" pitchFamily="34" charset="-122"/>
                <a:cs typeface="Calibri" pitchFamily="34" charset="-120"/>
              </a:rPr>
              <a:t>où</a:t>
            </a:r>
            <a:r>
              <a:rPr lang="en-US" sz="2200" dirty="0">
                <a:solidFill>
                  <a:srgbClr val="FFFFFF"/>
                </a:solidFill>
                <a:latin typeface="Trebuchet MS" pitchFamily="34" charset="0"/>
                <a:ea typeface="Calibri" pitchFamily="34" charset="-122"/>
                <a:cs typeface="Calibri" pitchFamily="34" charset="-120"/>
              </a:rPr>
              <a:t> la GRC devient l'arme stratégique pour transformer une transaction en relation de confiance.</a:t>
            </a:r>
            <a:endParaRPr lang="en-US" sz="1200" dirty="0"/>
          </a:p>
        </p:txBody>
      </p:sp>
      <p:sp>
        <p:nvSpPr>
          <p:cNvPr id="10" name="Shape 8"/>
          <p:cNvSpPr/>
          <p:nvPr/>
        </p:nvSpPr>
        <p:spPr>
          <a:xfrm>
            <a:off x="365760" y="2606040"/>
            <a:ext cx="2743200" cy="1508760"/>
          </a:xfrm>
          <a:prstGeom prst="rect">
            <a:avLst/>
          </a:prstGeom>
          <a:solidFill>
            <a:srgbClr val="F5F7FB"/>
          </a:solidFill>
          <a:ln w="9525">
            <a:solidFill>
              <a:srgbClr val="CADCFC"/>
            </a:solidFill>
            <a:prstDash val="solid"/>
          </a:ln>
        </p:spPr>
        <p:txBody>
          <a:bodyPr/>
          <a:lstStyle/>
          <a:p>
            <a:endParaRPr lang="fr-FR"/>
          </a:p>
        </p:txBody>
      </p:sp>
      <p:sp>
        <p:nvSpPr>
          <p:cNvPr id="11" name="Shape 9"/>
          <p:cNvSpPr/>
          <p:nvPr/>
        </p:nvSpPr>
        <p:spPr>
          <a:xfrm>
            <a:off x="1463040" y="2697480"/>
            <a:ext cx="548640" cy="548640"/>
          </a:xfrm>
          <a:prstGeom prst="ellipse">
            <a:avLst/>
          </a:prstGeom>
          <a:solidFill>
            <a:srgbClr val="1E2761"/>
          </a:solidFill>
          <a:ln w="19050">
            <a:solidFill>
              <a:srgbClr val="C9A227"/>
            </a:solidFill>
            <a:prstDash val="solid"/>
          </a:ln>
        </p:spPr>
        <p:txBody>
          <a:bodyPr/>
          <a:lstStyle/>
          <a:p>
            <a:endParaRPr lang="fr-FR"/>
          </a:p>
        </p:txBody>
      </p:sp>
      <p:sp>
        <p:nvSpPr>
          <p:cNvPr id="12" name="Text 10"/>
          <p:cNvSpPr/>
          <p:nvPr/>
        </p:nvSpPr>
        <p:spPr>
          <a:xfrm>
            <a:off x="1463040" y="26974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Georgia" pitchFamily="34" charset="-122"/>
                <a:cs typeface="Georgia" pitchFamily="34" charset="-120"/>
              </a:rPr>
              <a:t>1</a:t>
            </a:r>
            <a:endParaRPr lang="en-US" sz="1600" dirty="0"/>
          </a:p>
        </p:txBody>
      </p:sp>
      <p:sp>
        <p:nvSpPr>
          <p:cNvPr id="13" name="Text 11"/>
          <p:cNvSpPr/>
          <p:nvPr/>
        </p:nvSpPr>
        <p:spPr>
          <a:xfrm>
            <a:off x="502920" y="3291840"/>
            <a:ext cx="2468880" cy="29260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Calibri" pitchFamily="34" charset="-122"/>
                <a:cs typeface="Calibri" pitchFamily="34" charset="-120"/>
              </a:rPr>
              <a:t>Cohérence</a:t>
            </a:r>
            <a:endParaRPr lang="en-US" sz="1300" dirty="0"/>
          </a:p>
        </p:txBody>
      </p:sp>
      <p:sp>
        <p:nvSpPr>
          <p:cNvPr id="14" name="Text 12"/>
          <p:cNvSpPr/>
          <p:nvPr/>
        </p:nvSpPr>
        <p:spPr>
          <a:xfrm>
            <a:off x="548640" y="3584448"/>
            <a:ext cx="2377440" cy="502920"/>
          </a:xfrm>
          <a:prstGeom prst="rect">
            <a:avLst/>
          </a:prstGeom>
          <a:noFill/>
          <a:ln/>
        </p:spPr>
        <p:txBody>
          <a:bodyPr wrap="square" lIns="0" tIns="0" rIns="0" bIns="0" rtlCol="0" anchor="ctr"/>
          <a:lstStyle/>
          <a:p>
            <a:pPr marL="0" indent="0" algn="ctr">
              <a:buNone/>
            </a:pPr>
            <a:r>
              <a:rPr lang="en-US" sz="2200" dirty="0">
                <a:solidFill>
                  <a:srgbClr val="FFFFFF"/>
                </a:solidFill>
                <a:latin typeface="Trebuchet MS" pitchFamily="34" charset="0"/>
                <a:ea typeface="Calibri" pitchFamily="34" charset="-122"/>
                <a:cs typeface="Calibri" pitchFamily="34" charset="-120"/>
              </a:rPr>
              <a:t>Aligner les 7P sur la promesse de marque et la cible</a:t>
            </a:r>
            <a:endParaRPr lang="en-US" sz="1000" dirty="0"/>
          </a:p>
        </p:txBody>
      </p:sp>
      <p:sp>
        <p:nvSpPr>
          <p:cNvPr id="15" name="Shape 13"/>
          <p:cNvSpPr/>
          <p:nvPr/>
        </p:nvSpPr>
        <p:spPr>
          <a:xfrm>
            <a:off x="3291840" y="2606040"/>
            <a:ext cx="2743200" cy="1508760"/>
          </a:xfrm>
          <a:prstGeom prst="rect">
            <a:avLst/>
          </a:prstGeom>
          <a:solidFill>
            <a:srgbClr val="F5F7FB"/>
          </a:solidFill>
          <a:ln w="9525">
            <a:solidFill>
              <a:srgbClr val="CADCFC"/>
            </a:solidFill>
            <a:prstDash val="solid"/>
          </a:ln>
        </p:spPr>
        <p:txBody>
          <a:bodyPr/>
          <a:lstStyle/>
          <a:p>
            <a:endParaRPr lang="fr-FR"/>
          </a:p>
        </p:txBody>
      </p:sp>
      <p:sp>
        <p:nvSpPr>
          <p:cNvPr id="16" name="Shape 14"/>
          <p:cNvSpPr/>
          <p:nvPr/>
        </p:nvSpPr>
        <p:spPr>
          <a:xfrm>
            <a:off x="4389120" y="2697480"/>
            <a:ext cx="548640" cy="548640"/>
          </a:xfrm>
          <a:prstGeom prst="ellipse">
            <a:avLst/>
          </a:prstGeom>
          <a:solidFill>
            <a:srgbClr val="1E2761"/>
          </a:solidFill>
          <a:ln w="19050">
            <a:solidFill>
              <a:srgbClr val="C9A227"/>
            </a:solidFill>
            <a:prstDash val="solid"/>
          </a:ln>
        </p:spPr>
        <p:txBody>
          <a:bodyPr/>
          <a:lstStyle/>
          <a:p>
            <a:endParaRPr lang="fr-FR"/>
          </a:p>
        </p:txBody>
      </p:sp>
      <p:sp>
        <p:nvSpPr>
          <p:cNvPr id="17" name="Text 15"/>
          <p:cNvSpPr/>
          <p:nvPr/>
        </p:nvSpPr>
        <p:spPr>
          <a:xfrm>
            <a:off x="4389120" y="26974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Georgia" pitchFamily="34" charset="-122"/>
                <a:cs typeface="Georgia" pitchFamily="34" charset="-120"/>
              </a:rPr>
              <a:t>2</a:t>
            </a:r>
            <a:endParaRPr lang="en-US" sz="1600" dirty="0"/>
          </a:p>
        </p:txBody>
      </p:sp>
      <p:sp>
        <p:nvSpPr>
          <p:cNvPr id="18" name="Text 16"/>
          <p:cNvSpPr/>
          <p:nvPr/>
        </p:nvSpPr>
        <p:spPr>
          <a:xfrm>
            <a:off x="3429000" y="3291840"/>
            <a:ext cx="2468880" cy="29260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Calibri" pitchFamily="34" charset="-122"/>
                <a:cs typeface="Calibri" pitchFamily="34" charset="-120"/>
              </a:rPr>
              <a:t>Personnalisation</a:t>
            </a:r>
            <a:endParaRPr lang="en-US" sz="1300" dirty="0"/>
          </a:p>
        </p:txBody>
      </p:sp>
      <p:sp>
        <p:nvSpPr>
          <p:cNvPr id="19" name="Text 17"/>
          <p:cNvSpPr/>
          <p:nvPr/>
        </p:nvSpPr>
        <p:spPr>
          <a:xfrm>
            <a:off x="3474720" y="3584448"/>
            <a:ext cx="2377440" cy="502920"/>
          </a:xfrm>
          <a:prstGeom prst="rect">
            <a:avLst/>
          </a:prstGeom>
          <a:noFill/>
          <a:ln/>
        </p:spPr>
        <p:txBody>
          <a:bodyPr wrap="square" lIns="0" tIns="0" rIns="0" bIns="0" rtlCol="0" anchor="ctr"/>
          <a:lstStyle/>
          <a:p>
            <a:pPr marL="0" indent="0" algn="ctr">
              <a:buNone/>
            </a:pPr>
            <a:r>
              <a:rPr lang="en-US" sz="2200" dirty="0">
                <a:solidFill>
                  <a:srgbClr val="FFFFFF"/>
                </a:solidFill>
                <a:latin typeface="Trebuchet MS" pitchFamily="34" charset="0"/>
                <a:ea typeface="Calibri" pitchFamily="34" charset="-122"/>
                <a:cs typeface="Calibri" pitchFamily="34" charset="-120"/>
              </a:rPr>
              <a:t>Exploiter la donnée pour un parcours client </a:t>
            </a:r>
            <a:r>
              <a:rPr lang="en-US" sz="2200" dirty="0" err="1">
                <a:solidFill>
                  <a:srgbClr val="FFFFFF"/>
                </a:solidFill>
                <a:latin typeface="Trebuchet MS" pitchFamily="34" charset="0"/>
                <a:ea typeface="Calibri" pitchFamily="34" charset="-122"/>
                <a:cs typeface="Calibri" pitchFamily="34" charset="-120"/>
              </a:rPr>
              <a:t>personnalisé</a:t>
            </a:r>
            <a:endParaRPr lang="en-US" sz="1000" dirty="0"/>
          </a:p>
        </p:txBody>
      </p:sp>
      <p:sp>
        <p:nvSpPr>
          <p:cNvPr id="20" name="Shape 18"/>
          <p:cNvSpPr/>
          <p:nvPr/>
        </p:nvSpPr>
        <p:spPr>
          <a:xfrm>
            <a:off x="6217920" y="2606040"/>
            <a:ext cx="2743200" cy="1508760"/>
          </a:xfrm>
          <a:prstGeom prst="rect">
            <a:avLst/>
          </a:prstGeom>
          <a:solidFill>
            <a:srgbClr val="F5F7FB"/>
          </a:solidFill>
          <a:ln w="9525">
            <a:solidFill>
              <a:srgbClr val="CADCFC"/>
            </a:solidFill>
            <a:prstDash val="solid"/>
          </a:ln>
        </p:spPr>
        <p:txBody>
          <a:bodyPr/>
          <a:lstStyle/>
          <a:p>
            <a:endParaRPr lang="fr-FR"/>
          </a:p>
        </p:txBody>
      </p:sp>
      <p:sp>
        <p:nvSpPr>
          <p:cNvPr id="21" name="Shape 19"/>
          <p:cNvSpPr/>
          <p:nvPr/>
        </p:nvSpPr>
        <p:spPr>
          <a:xfrm>
            <a:off x="7315200" y="2697480"/>
            <a:ext cx="548640" cy="548640"/>
          </a:xfrm>
          <a:prstGeom prst="ellipse">
            <a:avLst/>
          </a:prstGeom>
          <a:solidFill>
            <a:srgbClr val="1E2761"/>
          </a:solidFill>
          <a:ln w="19050">
            <a:solidFill>
              <a:srgbClr val="C9A227"/>
            </a:solidFill>
            <a:prstDash val="solid"/>
          </a:ln>
        </p:spPr>
        <p:txBody>
          <a:bodyPr/>
          <a:lstStyle/>
          <a:p>
            <a:endParaRPr lang="fr-FR"/>
          </a:p>
        </p:txBody>
      </p:sp>
      <p:sp>
        <p:nvSpPr>
          <p:cNvPr id="22" name="Text 20"/>
          <p:cNvSpPr/>
          <p:nvPr/>
        </p:nvSpPr>
        <p:spPr>
          <a:xfrm>
            <a:off x="7315200" y="26974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Georgia" pitchFamily="34" charset="-122"/>
                <a:cs typeface="Georgia" pitchFamily="34" charset="-120"/>
              </a:rPr>
              <a:t>3</a:t>
            </a:r>
            <a:endParaRPr lang="en-US" sz="1600" dirty="0"/>
          </a:p>
        </p:txBody>
      </p:sp>
      <p:sp>
        <p:nvSpPr>
          <p:cNvPr id="23" name="Text 21"/>
          <p:cNvSpPr/>
          <p:nvPr/>
        </p:nvSpPr>
        <p:spPr>
          <a:xfrm>
            <a:off x="6355080" y="3291840"/>
            <a:ext cx="2468880" cy="292608"/>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Calibri" pitchFamily="34" charset="-122"/>
                <a:cs typeface="Calibri" pitchFamily="34" charset="-120"/>
              </a:rPr>
              <a:t>Fidélisation</a:t>
            </a:r>
            <a:endParaRPr lang="en-US" sz="1300" dirty="0"/>
          </a:p>
        </p:txBody>
      </p:sp>
      <p:sp>
        <p:nvSpPr>
          <p:cNvPr id="24" name="Text 22"/>
          <p:cNvSpPr/>
          <p:nvPr/>
        </p:nvSpPr>
        <p:spPr>
          <a:xfrm>
            <a:off x="6400800" y="3584448"/>
            <a:ext cx="2377440" cy="502920"/>
          </a:xfrm>
          <a:prstGeom prst="rect">
            <a:avLst/>
          </a:prstGeom>
          <a:noFill/>
          <a:ln/>
        </p:spPr>
        <p:txBody>
          <a:bodyPr wrap="square" lIns="0" tIns="0" rIns="0" bIns="0" rtlCol="0" anchor="ctr"/>
          <a:lstStyle/>
          <a:p>
            <a:pPr marL="0" indent="0" algn="ctr">
              <a:buNone/>
            </a:pPr>
            <a:r>
              <a:rPr lang="en-US" sz="2200" dirty="0" err="1">
                <a:solidFill>
                  <a:srgbClr val="FFFFFF"/>
                </a:solidFill>
                <a:latin typeface="Trebuchet MS" pitchFamily="34" charset="0"/>
                <a:ea typeface="Calibri" pitchFamily="34" charset="-122"/>
                <a:cs typeface="Calibri" pitchFamily="34" charset="-120"/>
              </a:rPr>
              <a:t>Investir</a:t>
            </a:r>
            <a:r>
              <a:rPr lang="en-US" sz="2200" dirty="0">
                <a:solidFill>
                  <a:srgbClr val="FFFFFF"/>
                </a:solidFill>
                <a:latin typeface="Trebuchet MS" pitchFamily="34" charset="0"/>
                <a:ea typeface="Calibri" pitchFamily="34" charset="-122"/>
                <a:cs typeface="Calibri" pitchFamily="34" charset="-120"/>
              </a:rPr>
              <a:t> </a:t>
            </a:r>
            <a:r>
              <a:rPr lang="en-US" sz="2200" dirty="0" err="1">
                <a:solidFill>
                  <a:srgbClr val="FFFFFF"/>
                </a:solidFill>
                <a:latin typeface="Trebuchet MS" pitchFamily="34" charset="0"/>
                <a:ea typeface="Calibri" pitchFamily="34" charset="-122"/>
                <a:cs typeface="Calibri" pitchFamily="34" charset="-120"/>
              </a:rPr>
              <a:t>l'après</a:t>
            </a:r>
            <a:r>
              <a:rPr lang="en-US" sz="2200" dirty="0">
                <a:solidFill>
                  <a:srgbClr val="FFFFFF"/>
                </a:solidFill>
                <a:latin typeface="Trebuchet MS" pitchFamily="34" charset="0"/>
                <a:ea typeface="Calibri" pitchFamily="34" charset="-122"/>
                <a:cs typeface="Calibri" pitchFamily="34" charset="-120"/>
              </a:rPr>
              <a:t>-vente, le client d'aujourd'hui est le prescripteur de demain</a:t>
            </a:r>
            <a:endParaRPr lang="en-US" sz="1000" dirty="0"/>
          </a:p>
        </p:txBody>
      </p:sp>
      <p:sp>
        <p:nvSpPr>
          <p:cNvPr id="25" name="Rectangle 24"/>
          <p:cNvSpPr/>
          <p:nvPr/>
        </p:nvSpPr>
        <p:spPr>
          <a:xfrm>
            <a:off x="0" y="0"/>
            <a:ext cx="109728" cy="51435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5067300"/>
            <a:ext cx="9144000" cy="76200"/>
          </a:xfrm>
          <a:prstGeom prst="rect">
            <a:avLst/>
          </a:prstGeom>
          <a:solidFill>
            <a:srgbClr val="C8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dur="617">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1498</Words>
  <Application>Microsoft Office PowerPoint</Application>
  <PresentationFormat>Affichage à l'écran (16:9)</PresentationFormat>
  <Paragraphs>223</Paragraphs>
  <Slides>15</Slides>
  <Notes>15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15</vt:i4>
      </vt:variant>
    </vt:vector>
  </HeadingPairs>
  <TitlesOfParts>
    <vt:vector size="19"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de l'Immobilier - Team Work D2</dc:title>
  <dc:subject>PptxGenJS Presentation</dc:subject>
  <dc:creator>Groupe DSI 1 - ESPI</dc:creator>
  <cp:lastModifiedBy>Matisse LEBRETON</cp:lastModifiedBy>
  <cp:revision>7</cp:revision>
  <dcterms:created xsi:type="dcterms:W3CDTF">2026-04-08T08:24:09Z</dcterms:created>
  <dcterms:modified xsi:type="dcterms:W3CDTF">2026-04-08T09:32:57Z</dcterms:modified>
</cp:coreProperties>
</file>