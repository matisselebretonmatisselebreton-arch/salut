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548640" y="4937760"/>
            <a:ext cx="2194560" cy="2194560"/>
          </a:xfrm>
          <a:prstGeom prst="ellipse">
            <a:avLst/>
          </a:prstGeom>
          <a:solidFill>
            <a:srgbClr val="2E6DB4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3086100"/>
            <a:ext cx="4457700" cy="4457700"/>
          </a:xfrm>
          <a:prstGeom prst="ellipse">
            <a:avLst/>
          </a:prstGeom>
          <a:solidFill>
            <a:srgbClr val="7AAEDC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5669280" y="-1028700"/>
            <a:ext cx="6515100" cy="6515100"/>
          </a:xfrm>
          <a:prstGeom prst="ellipse">
            <a:avLst/>
          </a:prstGeom>
          <a:solidFill>
            <a:srgbClr val="2E6DB4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154680"/>
            <a:ext cx="5029200" cy="55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3468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E6DB4"/>
                </a:solidFill>
                <a:latin typeface="Palatino Linotype"/>
              </a:rPr>
              <a:t>Marketing Immobilier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206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C8F96"/>
                </a:solidFill>
                <a:latin typeface="Gill Sans MT"/>
              </a:rPr>
              <a:t>Stratégie · Outils · Perspectives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7AAED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365760" y="425196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Palatino Linotype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028700"/>
            <a:ext cx="55000" cy="480060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0574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E6DB4"/>
                </a:solidFill>
                <a:latin typeface="Palatino Linotype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6634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79AA0"/>
                </a:solidFill>
                <a:latin typeface="Gill Sans MT"/>
              </a:rPr>
              <a:t>Un marché en mutation profonde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0" y="5486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0" b="1" i="0">
                <a:solidFill>
                  <a:srgbClr val="E3E4E5"/>
                </a:solidFill>
                <a:latin typeface="Palatino Linotype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Palatino Linotype"/>
              </a:rPr>
              <a:t>Pourquoi le marketing en immobilier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1645920" cy="50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7440" y="1554480"/>
            <a:ext cx="6080760" cy="50000"/>
          </a:xfrm>
          <a:prstGeom prst="rect">
            <a:avLst/>
          </a:prstGeom>
          <a:solidFill>
            <a:srgbClr val="D5D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1A1F2E"/>
                </a:solidFill>
                <a:latin typeface="Gill Sans MT"/>
              </a:rPr>
              <a:t>Un marché en mutation profonde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1A1F2E"/>
                </a:solidFill>
                <a:latin typeface="Gill Sans MT"/>
              </a:rPr>
              <a:t>Hausse des taux, raréfaction du foncier, exigences ESG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1A1F2E"/>
                </a:solidFill>
                <a:latin typeface="Gill Sans MT"/>
              </a:rPr>
              <a:t>Le bien immobilier s'inscrit dans une promesse de marque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011680"/>
            <a:ext cx="45000" cy="4251960"/>
          </a:xfrm>
          <a:prstGeom prst="rect">
            <a:avLst/>
          </a:prstGeom>
          <a:solidFill>
            <a:srgbClr val="D1D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1A1F2E"/>
                </a:solidFill>
                <a:latin typeface="Gill Sans MT"/>
              </a:rPr>
              <a:t>Durée moyenne d'un parcours d'achat : 18 mois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1A1F2E"/>
                </a:solidFill>
                <a:latin typeface="Gill Sans MT"/>
              </a:rPr>
              <a:t>7 P du marketing des services appliqués à l'immobilier</a:t>
            </a:r>
          </a:p>
        </p:txBody>
      </p:sp>
      <p:sp>
        <p:nvSpPr>
          <p:cNvPr id="10" name="Oval 9"/>
          <p:cNvSpPr/>
          <p:nvPr/>
        </p:nvSpPr>
        <p:spPr>
          <a:xfrm>
            <a:off x="8293608" y="6190488"/>
            <a:ext cx="164592" cy="164592"/>
          </a:xfrm>
          <a:prstGeom prst="ellipse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2743200" y="1371600"/>
            <a:ext cx="4800600" cy="4800600"/>
          </a:xfrm>
          <a:prstGeom prst="ellipse">
            <a:avLst/>
          </a:prstGeom>
          <a:solidFill>
            <a:srgbClr val="7AAED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" y="-685800"/>
            <a:ext cx="8229600" cy="8229600"/>
          </a:xfrm>
          <a:prstGeom prst="ellipse">
            <a:avLst/>
          </a:prstGeom>
          <a:solidFill>
            <a:srgbClr val="2E6DB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6400800" cy="60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0752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2E6DB4"/>
                </a:solidFill>
                <a:latin typeface="Palatino Linotype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74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1838C"/>
                </a:solidFill>
                <a:latin typeface="Gill Sans MT"/>
              </a:rPr>
              <a:t>Questions &amp; échanges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7AAED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