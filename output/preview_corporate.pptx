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548640" y="4937760"/>
            <a:ext cx="2194560" cy="2194560"/>
          </a:xfrm>
          <a:prstGeom prst="ellipse">
            <a:avLst/>
          </a:prstGeom>
          <a:solidFill>
            <a:srgbClr val="D4893A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3086100"/>
            <a:ext cx="4457700" cy="4457700"/>
          </a:xfrm>
          <a:prstGeom prst="ellipse">
            <a:avLst/>
          </a:prstGeom>
          <a:solidFill>
            <a:srgbClr val="8AABB5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5669280" y="-1028700"/>
            <a:ext cx="6515100" cy="6515100"/>
          </a:xfrm>
          <a:prstGeom prst="ellipse">
            <a:avLst/>
          </a:prstGeom>
          <a:solidFill>
            <a:srgbClr val="D4893A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029200" cy="55000"/>
          </a:xfrm>
          <a:prstGeom prst="rect">
            <a:avLst/>
          </a:prstGeom>
          <a:solidFill>
            <a:srgbClr val="D4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468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4893A"/>
                </a:solidFill>
                <a:latin typeface="Georgia"/>
              </a:rPr>
              <a:t>Marketing Immobilier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20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78C91"/>
                </a:solidFill>
                <a:latin typeface="Trebuchet MS"/>
              </a:rPr>
              <a:t>Stratégie · Outils ·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8AABB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365760" y="425196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D4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28700"/>
            <a:ext cx="55000" cy="48006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893A"/>
                </a:solidFill>
                <a:latin typeface="Georgia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3979C"/>
                </a:solidFill>
                <a:latin typeface="Trebuchet MS"/>
              </a:rPr>
              <a:t>Un marché en mutation profonde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548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0" b="1" i="0">
                <a:solidFill>
                  <a:srgbClr val="E2E3E4"/>
                </a:solidFill>
                <a:latin typeface="Georgia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D4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923"/>
                </a:solidFill>
                <a:latin typeface="Georgia"/>
              </a:rPr>
              <a:t>Pourquoi le marketing en immobilier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645920" cy="50000"/>
          </a:xfrm>
          <a:prstGeom prst="rect">
            <a:avLst/>
          </a:prstGeom>
          <a:solidFill>
            <a:srgbClr val="D4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7440" y="1554480"/>
            <a:ext cx="6080760" cy="50000"/>
          </a:xfrm>
          <a:prstGeom prst="rect">
            <a:avLst/>
          </a:prstGeom>
          <a:solidFill>
            <a:srgbClr val="D3D5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0F1923"/>
                </a:solidFill>
                <a:latin typeface="Trebuchet MS"/>
              </a:rPr>
              <a:t>Un marché en mutation profonde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0F1923"/>
                </a:solidFill>
                <a:latin typeface="Trebuchet MS"/>
              </a:rPr>
              <a:t>Hausse des taux, raréfaction du foncier, exigences ESG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0F1923"/>
                </a:solidFill>
                <a:latin typeface="Trebuchet MS"/>
              </a:rPr>
              <a:t>Le bien immobilier s'inscrit dans une promesse de marque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45000" cy="4251960"/>
          </a:xfrm>
          <a:prstGeom prst="rect">
            <a:avLst/>
          </a:prstGeom>
          <a:solidFill>
            <a:srgbClr val="CFD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0F1923"/>
                </a:solidFill>
                <a:latin typeface="Trebuchet MS"/>
              </a:rPr>
              <a:t>Durée moyenne d'un parcours d'achat : 18 mois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0F1923"/>
                </a:solidFill>
                <a:latin typeface="Trebuchet MS"/>
              </a:rPr>
              <a:t>7 P du marketing des services appliqués à l'immobilier</a:t>
            </a:r>
          </a:p>
        </p:txBody>
      </p:sp>
      <p:sp>
        <p:nvSpPr>
          <p:cNvPr id="10" name="Oval 9"/>
          <p:cNvSpPr/>
          <p:nvPr/>
        </p:nvSpPr>
        <p:spPr>
          <a:xfrm>
            <a:off x="8293608" y="6190488"/>
            <a:ext cx="164592" cy="164592"/>
          </a:xfrm>
          <a:prstGeom prst="ellipse">
            <a:avLst/>
          </a:prstGeom>
          <a:solidFill>
            <a:srgbClr val="D4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2743200" y="1371600"/>
            <a:ext cx="4800600" cy="4800600"/>
          </a:xfrm>
          <a:prstGeom prst="ellipse">
            <a:avLst/>
          </a:prstGeom>
          <a:solidFill>
            <a:srgbClr val="8AABB5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" y="-685800"/>
            <a:ext cx="8229600" cy="8229600"/>
          </a:xfrm>
          <a:prstGeom prst="ellipse">
            <a:avLst/>
          </a:prstGeom>
          <a:solidFill>
            <a:srgbClr val="D4893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6400800" cy="60000"/>
          </a:xfrm>
          <a:prstGeom prst="rect">
            <a:avLst/>
          </a:prstGeom>
          <a:solidFill>
            <a:srgbClr val="D4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752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D4893A"/>
                </a:solidFill>
                <a:latin typeface="Georgia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7B8086"/>
                </a:solidFill>
                <a:latin typeface="Trebuchet MS"/>
              </a:rPr>
              <a:t>Questions &amp; échanges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8AABB5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