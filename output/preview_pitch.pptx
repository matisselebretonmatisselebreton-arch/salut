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70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4" name="Oval 3"/>
          <p:cNvSpPr/>
          <p:nvPr/>
        </p:nvSpPr>
        <p:spPr>
          <a:xfrm>
            <a:off x="-548640" y="4937760"/>
            <a:ext cx="2194560" cy="2194560"/>
          </a:xfrm>
          <a:prstGeom prst="ellipse">
            <a:avLst/>
          </a:prstGeom>
          <a:solidFill>
            <a:srgbClr val="3ECFCF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6583680" y="3086100"/>
            <a:ext cx="4457700" cy="4457700"/>
          </a:xfrm>
          <a:prstGeom prst="ellipse">
            <a:avLst/>
          </a:prstGeom>
          <a:solidFill>
            <a:srgbClr val="9B72CF">
              <a:alpha val="2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Oval 1"/>
          <p:cNvSpPr/>
          <p:nvPr/>
        </p:nvSpPr>
        <p:spPr>
          <a:xfrm>
            <a:off x="5669280" y="-1028700"/>
            <a:ext cx="6515100" cy="6515100"/>
          </a:xfrm>
          <a:prstGeom prst="ellipse">
            <a:avLst/>
          </a:prstGeom>
          <a:solidFill>
            <a:srgbClr val="3ECFCF">
              <a:alpha val="1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3154680"/>
            <a:ext cx="5029200" cy="55000"/>
          </a:xfrm>
          <a:prstGeom prst="rect">
            <a:avLst/>
          </a:prstGeom>
          <a:solidFill>
            <a:srgbClr val="3ECF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3234680"/>
            <a:ext cx="59436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 i="0">
                <a:solidFill>
                  <a:srgbClr val="3ECFCF"/>
                </a:solidFill>
                <a:latin typeface="Segoe UI"/>
              </a:rPr>
              <a:t>Marketing Immobilier 2025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5520680"/>
            <a:ext cx="5669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3F4F7"/>
                </a:solidFill>
                <a:latin typeface="Segoe UI Light"/>
              </a:rPr>
              <a:t>Stratégie · Outils · Perspectives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693408"/>
            <a:ext cx="9144000" cy="164592"/>
          </a:xfrm>
          <a:prstGeom prst="rect">
            <a:avLst/>
          </a:prstGeom>
          <a:solidFill>
            <a:srgbClr val="9B72CF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70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4" name="Oval 3"/>
          <p:cNvSpPr/>
          <p:nvPr/>
        </p:nvSpPr>
        <p:spPr>
          <a:xfrm>
            <a:off x="365760" y="4251960"/>
            <a:ext cx="2560320" cy="2560320"/>
          </a:xfrm>
          <a:prstGeom prst="ellipse">
            <a:avLst/>
          </a:prstGeom>
          <a:solidFill>
            <a:srgbClr val="FFFFFF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914400" y="-914400"/>
            <a:ext cx="4114800" cy="4114800"/>
          </a:xfrm>
          <a:prstGeom prst="ellipse">
            <a:avLst/>
          </a:prstGeom>
          <a:solidFill>
            <a:srgbClr val="FFFFFF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3840480" cy="6858000"/>
          </a:xfrm>
          <a:prstGeom prst="rect">
            <a:avLst/>
          </a:prstGeom>
          <a:solidFill>
            <a:srgbClr val="3ECF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1234440"/>
            <a:ext cx="34747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0" b="1" i="0">
                <a:solidFill>
                  <a:srgbClr val="FFFFFF"/>
                </a:solidFill>
                <a:latin typeface="Segoe UI"/>
              </a:rPr>
              <a:t>01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0480" y="1028700"/>
            <a:ext cx="55000" cy="4800600"/>
          </a:xfrm>
          <a:prstGeom prst="rect">
            <a:avLst/>
          </a:prstGeom>
          <a:solidFill>
            <a:srgbClr val="FFFFFF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023360" y="2057400"/>
            <a:ext cx="45720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3ECFCF"/>
                </a:solidFill>
                <a:latin typeface="Segoe UI"/>
              </a:rPr>
              <a:t>Introduction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23360" y="4663440"/>
            <a:ext cx="4572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1">
                <a:solidFill>
                  <a:srgbClr val="F4F5F8"/>
                </a:solidFill>
                <a:latin typeface="Segoe UI Light"/>
              </a:rPr>
              <a:t>Un marché en mutation profonde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C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0" y="548640"/>
            <a:ext cx="21945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500" b="1" i="0">
                <a:solidFill>
                  <a:srgbClr val="FCFCFD"/>
                </a:solidFill>
                <a:latin typeface="Segoe UI"/>
              </a:rPr>
              <a:t>02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3ECF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502920"/>
            <a:ext cx="62179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E8EAF0"/>
                </a:solidFill>
                <a:latin typeface="Segoe UI"/>
              </a:rPr>
              <a:t>Pourquoi le marketing en immobilier ?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554480"/>
            <a:ext cx="1645920" cy="50000"/>
          </a:xfrm>
          <a:prstGeom prst="rect">
            <a:avLst/>
          </a:prstGeom>
          <a:solidFill>
            <a:srgbClr val="3ECF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377440" y="1554480"/>
            <a:ext cx="6080760" cy="50000"/>
          </a:xfrm>
          <a:prstGeom prst="rect">
            <a:avLst/>
          </a:prstGeom>
          <a:solidFill>
            <a:srgbClr val="FAFB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920240"/>
            <a:ext cx="3566160" cy="4434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700" b="0">
                <a:solidFill>
                  <a:srgbClr val="E8EAF0"/>
                </a:solidFill>
                <a:latin typeface="Segoe UI Light"/>
              </a:rPr>
              <a:t>Un marché en mutation profonde</a:t>
            </a:r>
          </a:p>
          <a:p>
            <a:pPr algn="l">
              <a:spcBef>
                <a:spcPts val="700"/>
              </a:spcBef>
            </a:pPr>
            <a:r>
              <a:rPr sz="1700" b="0">
                <a:solidFill>
                  <a:srgbClr val="E8EAF0"/>
                </a:solidFill>
                <a:latin typeface="Segoe UI Light"/>
              </a:rPr>
              <a:t>Hausse des taux, raréfaction du foncier, exigences ESG</a:t>
            </a:r>
          </a:p>
          <a:p>
            <a:pPr algn="l">
              <a:spcBef>
                <a:spcPts val="700"/>
              </a:spcBef>
            </a:pPr>
            <a:r>
              <a:rPr sz="1700" b="0">
                <a:solidFill>
                  <a:srgbClr val="E8EAF0"/>
                </a:solidFill>
                <a:latin typeface="Segoe UI Light"/>
              </a:rPr>
              <a:t>Le bien immobilier s'inscrit dans une promesse de marque</a:t>
            </a:r>
          </a:p>
        </p:txBody>
      </p:sp>
      <p:sp>
        <p:nvSpPr>
          <p:cNvPr id="8" name="Rectangle 7"/>
          <p:cNvSpPr/>
          <p:nvPr/>
        </p:nvSpPr>
        <p:spPr>
          <a:xfrm>
            <a:off x="4544568" y="2011680"/>
            <a:ext cx="45000" cy="4251960"/>
          </a:xfrm>
          <a:prstGeom prst="rect">
            <a:avLst/>
          </a:prstGeom>
          <a:solidFill>
            <a:srgbClr val="FA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800600" y="1920240"/>
            <a:ext cx="3566160" cy="4434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700" b="0">
                <a:solidFill>
                  <a:srgbClr val="E8EAF0"/>
                </a:solidFill>
                <a:latin typeface="Segoe UI Light"/>
              </a:rPr>
              <a:t>Durée moyenne d'un parcours d'achat : 18 mois</a:t>
            </a:r>
          </a:p>
          <a:p>
            <a:pPr algn="l">
              <a:spcBef>
                <a:spcPts val="700"/>
              </a:spcBef>
            </a:pPr>
            <a:r>
              <a:rPr sz="1700" b="0">
                <a:solidFill>
                  <a:srgbClr val="E8EAF0"/>
                </a:solidFill>
                <a:latin typeface="Segoe UI Light"/>
              </a:rPr>
              <a:t>7 P du marketing des services appliqués à l'immobilier</a:t>
            </a:r>
          </a:p>
        </p:txBody>
      </p:sp>
      <p:sp>
        <p:nvSpPr>
          <p:cNvPr id="10" name="Oval 9"/>
          <p:cNvSpPr/>
          <p:nvPr/>
        </p:nvSpPr>
        <p:spPr>
          <a:xfrm>
            <a:off x="8293608" y="6190488"/>
            <a:ext cx="164592" cy="164592"/>
          </a:xfrm>
          <a:prstGeom prst="ellipse">
            <a:avLst/>
          </a:prstGeom>
          <a:solidFill>
            <a:srgbClr val="3ECF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70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Oval 2"/>
          <p:cNvSpPr/>
          <p:nvPr/>
        </p:nvSpPr>
        <p:spPr>
          <a:xfrm>
            <a:off x="2743200" y="1371600"/>
            <a:ext cx="4800600" cy="4800600"/>
          </a:xfrm>
          <a:prstGeom prst="ellipse">
            <a:avLst/>
          </a:prstGeom>
          <a:solidFill>
            <a:srgbClr val="9B72CF">
              <a:alpha val="14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Oval 1"/>
          <p:cNvSpPr/>
          <p:nvPr/>
        </p:nvSpPr>
        <p:spPr>
          <a:xfrm>
            <a:off x="457200" y="-685800"/>
            <a:ext cx="8229600" cy="8229600"/>
          </a:xfrm>
          <a:prstGeom prst="ellipse">
            <a:avLst/>
          </a:prstGeom>
          <a:solidFill>
            <a:srgbClr val="3ECFC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371600" y="3017520"/>
            <a:ext cx="6400800" cy="60000"/>
          </a:xfrm>
          <a:prstGeom prst="rect">
            <a:avLst/>
          </a:prstGeom>
          <a:solidFill>
            <a:srgbClr val="3ECF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3107520"/>
            <a:ext cx="69494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1" i="0">
                <a:solidFill>
                  <a:srgbClr val="3ECFCF"/>
                </a:solidFill>
                <a:latin typeface="Segoe UI"/>
              </a:rPr>
              <a:t>Merci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5074920"/>
            <a:ext cx="6400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 i="0">
                <a:solidFill>
                  <a:srgbClr val="FFFFFF"/>
                </a:solidFill>
                <a:latin typeface="Segoe UI Light"/>
              </a:rPr>
              <a:t>Questions &amp; échanges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748272"/>
            <a:ext cx="9144000" cy="109728"/>
          </a:xfrm>
          <a:prstGeom prst="rect">
            <a:avLst/>
          </a:prstGeom>
          <a:solidFill>
            <a:srgbClr val="9B72CF">
              <a:alpha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