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200400" cy="60000"/>
          </a:xfrm>
          <a:prstGeom prst="rect">
            <a:avLst/>
          </a:prstGeom>
          <a:solidFill>
            <a:srgbClr val="C4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9489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45C3A"/>
                </a:solidFill>
                <a:latin typeface="Georgia"/>
              </a:rPr>
              <a:t>Marketing Immobilier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37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AAAAAA"/>
                </a:solidFill>
                <a:latin typeface="Gill Sans MT"/>
              </a:rPr>
              <a:t>Stratégie, Outils &amp; Perspectives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332"/>
                </a:solidFill>
                <a:latin typeface="Georgia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55000"/>
          </a:xfrm>
          <a:prstGeom prst="rect">
            <a:avLst/>
          </a:prstGeom>
          <a:solidFill>
            <a:srgbClr val="C4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2"/>
                </a:solidFill>
                <a:latin typeface="Gill Sans MT"/>
              </a:rPr>
              <a:t>— Un marché en mutation profonde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2"/>
                </a:solidFill>
                <a:latin typeface="Gill Sans MT"/>
              </a:rPr>
              <a:t>— Hausse des taux, raréfaction du foncier, exigences ESG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2"/>
                </a:solidFill>
                <a:latin typeface="Gill Sans MT"/>
              </a:rPr>
              <a:t>— Le bien immobilier s'inscrit dans une promesse de marque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2"/>
                </a:solidFill>
                <a:latin typeface="Gill Sans MT"/>
              </a:rPr>
              <a:t>— Durée moyenne d'un parcours d'achat : 18 mois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