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0" y="0"/>
            <a:ext cx="2011680" cy="2011680"/>
          </a:xfrm>
          <a:prstGeom prst="rect">
            <a:avLst/>
          </a:prstGeom>
          <a:solidFill>
            <a:srgbClr val="D4E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0030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Impact"/>
              </a:rPr>
              <a:t>Marketing Immobilier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937760"/>
            <a:ext cx="4572000" cy="60000"/>
          </a:xfrm>
          <a:prstGeom prst="rect">
            <a:avLst/>
          </a:prstGeom>
          <a:solidFill>
            <a:srgbClr val="D4E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21208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88888"/>
                </a:solidFill>
                <a:latin typeface="Segoe UI"/>
              </a:rPr>
              <a:t>Stratégie, Outils &amp; Perspectives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D4E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0F0F0"/>
                </a:solidFill>
                <a:latin typeface="Impact"/>
              </a:rP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7680960" cy="5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0F0F0"/>
                </a:solidFill>
                <a:latin typeface="Segoe UI"/>
              </a:rPr>
              <a:t>— Un marché en mutation profonde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0F0F0"/>
                </a:solidFill>
                <a:latin typeface="Segoe UI"/>
              </a:rPr>
              <a:t>— Hausse des taux, raréfaction du foncier, exigences ESG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6616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0F0F0"/>
                </a:solidFill>
                <a:latin typeface="Segoe UI"/>
              </a:rPr>
              <a:t>— Le bien immobilier s'inscrit dans une promesse de marque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72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0F0F0"/>
                </a:solidFill>
                <a:latin typeface="Segoe UI"/>
              </a:rPr>
              <a:t>— Durée moyenne d'un parcours d'achat : 18 mois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0" y="0"/>
            <a:ext cx="64008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