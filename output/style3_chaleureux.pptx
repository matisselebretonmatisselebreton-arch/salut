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B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6748272"/>
            <a:ext cx="5486400" cy="109728"/>
          </a:xfrm>
          <a:prstGeom prst="rect">
            <a:avLst/>
          </a:prstGeom>
          <a:solidFill>
            <a:srgbClr val="7A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5740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7A9A6A"/>
                </a:solidFill>
                <a:latin typeface="Garamond"/>
              </a:rPr>
              <a:t>Marketing Immobilier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260604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2B1F14"/>
                </a:solidFill>
                <a:latin typeface="Century Gothic"/>
              </a:rPr>
              <a:t>Stratégie, Outils &amp; Perspectives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3931920" y="2400300"/>
            <a:ext cx="50000" cy="1280160"/>
          </a:xfrm>
          <a:prstGeom prst="rect">
            <a:avLst/>
          </a:prstGeom>
          <a:solidFill>
            <a:srgbClr val="7A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2B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680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7A9A6A"/>
                </a:solidFill>
                <a:latin typeface="Garamond"/>
              </a:rP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463040"/>
            <a:ext cx="64008" cy="5394960"/>
          </a:xfrm>
          <a:prstGeom prst="rect">
            <a:avLst/>
          </a:prstGeom>
          <a:solidFill>
            <a:srgbClr val="7A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B1F14"/>
                </a:solidFill>
                <a:latin typeface="Century Gothic"/>
              </a:rPr>
              <a:t>— Un marché en mutation profonde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74320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B1F14"/>
                </a:solidFill>
                <a:latin typeface="Century Gothic"/>
              </a:rPr>
              <a:t>— Hausse des taux, raréfaction du foncier, exigences ESG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5760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B1F14"/>
                </a:solidFill>
                <a:latin typeface="Century Gothic"/>
              </a:rPr>
              <a:t>— Le bien immobilier s'inscrit dans une promesse de marque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57200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B1F14"/>
                </a:solidFill>
                <a:latin typeface="Century Gothic"/>
              </a:rPr>
              <a:t>— Durée moyenne d'un parcours d'achat : 18 mois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