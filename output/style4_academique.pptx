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8B2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7680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0" b="1" i="0">
                <a:solidFill>
                  <a:srgbClr val="1C1C2E"/>
                </a:solidFill>
                <a:latin typeface="Palatino Linotype"/>
              </a:rPr>
              <a:t>Marketing Immobilier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0" y="4526280"/>
            <a:ext cx="3657600" cy="55000"/>
          </a:xfrm>
          <a:prstGeom prst="rect">
            <a:avLst/>
          </a:prstGeom>
          <a:solidFill>
            <a:srgbClr val="8B2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80060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666666"/>
                </a:solidFill>
                <a:latin typeface="Calibri"/>
              </a:rPr>
              <a:t>Stratégie, Outils &amp; Perspectives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60000" cy="1005840"/>
          </a:xfrm>
          <a:prstGeom prst="rect">
            <a:avLst/>
          </a:prstGeom>
          <a:solidFill>
            <a:srgbClr val="8B2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7680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1C1C2E"/>
                </a:solidFill>
                <a:latin typeface="Palatino Linotype"/>
              </a:rPr>
              <a:t>Introduction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7680960" cy="450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7498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C1C2E"/>
                </a:solidFill>
                <a:latin typeface="Calibri"/>
              </a:rPr>
              <a:t>— Un marché en mutation profonde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14600"/>
            <a:ext cx="7498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C1C2E"/>
                </a:solidFill>
                <a:latin typeface="Calibri"/>
              </a:rPr>
              <a:t>— Hausse des taux, raréfaction du foncier, exigences ESG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429000"/>
            <a:ext cx="7498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C1C2E"/>
                </a:solidFill>
                <a:latin typeface="Calibri"/>
              </a:rPr>
              <a:t>— Le bien immobilier s'inscrit dans une promesse de marque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343400"/>
            <a:ext cx="7498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C1C2E"/>
                </a:solidFill>
                <a:latin typeface="Calibri"/>
              </a:rPr>
              <a:t>— Durée moyenne d'un parcours d'achat : 18 mois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