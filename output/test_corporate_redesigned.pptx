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05600"/>
            <a:ext cx="9144000" cy="152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880360"/>
            <a:ext cx="4114800" cy="1524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3169920"/>
            <a:ext cx="7571232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800" b="1" i="0">
                <a:solidFill>
                  <a:srgbClr val="C8A84B"/>
                </a:solidFill>
                <a:latin typeface="Georgia"/>
              </a:rPr>
              <a:t>Stratégie Q3 2025</a:t>
            </a:r>
          </a:p>
        </p:txBody>
      </p:sp>
    </p:spTree>
  </p:cSld>
  <p:clrMapOvr>
    <a:masterClrMapping/>
  </p:clrMapOvr>
  <p:transition spd="med" dur="662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23560"/>
            <a:ext cx="9144000" cy="12344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0">
                <a:solidFill>
                  <a:srgbClr val="1C2B3A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71780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C8A84B"/>
                </a:solidFill>
                <a:latin typeface="Georgia"/>
              </a:rPr>
              <a:t>KPI Revenue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7955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FFFFFF"/>
                </a:solidFill>
                <a:latin typeface="Trebuchet MS"/>
              </a:rPr>
              <a:t>• Chiffre d'affaires +15%</a:t>
            </a:r>
          </a:p>
        </p:txBody>
      </p:sp>
    </p:spTree>
  </p:cSld>
  <p:clrMapOvr>
    <a:masterClrMapping/>
  </p:clrMapOvr>
  <p:transition spd="med" dur="656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23560"/>
            <a:ext cx="9144000" cy="12344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0">
                <a:solidFill>
                  <a:srgbClr val="1C2B3A"/>
                </a:solidFill>
                <a:latin typeface="Georg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71780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C8A84B"/>
                </a:solidFill>
                <a:latin typeface="Georgia"/>
              </a:rPr>
              <a:t>Market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7955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FFFFFF"/>
                </a:solidFill>
                <a:latin typeface="Trebuchet MS"/>
              </a:rPr>
              <a:t>Croissance du marché observée sur les 3 derniers trimestres.</a:t>
            </a:r>
          </a:p>
        </p:txBody>
      </p:sp>
    </p:spTree>
  </p:cSld>
  <p:clrMapOvr>
    <a:masterClrMapping/>
  </p:clrMapOvr>
  <p:transition spd="med" dur="584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623560"/>
            <a:ext cx="9144000" cy="12344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7145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0">
                <a:solidFill>
                  <a:srgbClr val="1C2B3A"/>
                </a:solidFill>
                <a:latin typeface="Georg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08760"/>
            <a:ext cx="717804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 i="0">
                <a:solidFill>
                  <a:srgbClr val="C8A84B"/>
                </a:solidFill>
                <a:latin typeface="Georgia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7955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0" i="1">
                <a:solidFill>
                  <a:srgbClr val="FFFFFF"/>
                </a:solidFill>
                <a:latin typeface="Trebuchet MS"/>
              </a:rPr>
              <a:t>• Phase 1 : Q1</a:t>
            </a:r>
          </a:p>
        </p:txBody>
      </p:sp>
    </p:spTree>
  </p:cSld>
  <p:clrMapOvr>
    <a:masterClrMapping/>
  </p:clrMapOvr>
  <p:transition spd="med" dur="51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286000" y="2880360"/>
            <a:ext cx="4572000" cy="22860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24128" y="3337560"/>
            <a:ext cx="7525512" cy="1645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800" b="1" i="0">
                <a:solidFill>
                  <a:srgbClr val="C8A84B"/>
                </a:solidFill>
                <a:latin typeface="Georgia"/>
              </a:rPr>
              <a:t>Merci</a:t>
            </a:r>
          </a:p>
        </p:txBody>
      </p:sp>
    </p:spTree>
  </p:cSld>
  <p:clrMapOvr>
    <a:masterClrMapping/>
  </p:clrMapOvr>
  <p:transition spd="med" dur="56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