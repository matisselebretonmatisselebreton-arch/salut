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0"/>
            <a:ext cx="6858000" cy="0"/>
          </a:xfrm>
        </p:spPr>
        <p:txBody>
          <a:bodyPr wrap="square"/>
          <a:lstStyle/>
          <a:p>
            <a:pPr algn="l"/>
            <a:r>
              <a:rPr sz="4400" b="1" u="none">
                <a:solidFill>
                  <a:srgbClr val="1C2B3A"/>
                </a:solidFill>
                <a:latin typeface="Georgia"/>
              </a:rPr>
              <a:t>Stratégie Q3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/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par>
              <p:cTn id="10" fill="hold" presetID="10" presetClass="entr" presetSubtype="0" dur="600" nodeType="clickEffect">
                <p:stCondLst>
                  <p:cond evt="onClick" delay="0"/>
                </p:stCondLst>
                <p:childTnLst/>
              </p:cTn>
            </p:par>
            <p:par>
              <p:cTn id="11" fill="hold" presetID="10" presetClass="entr" presetSubtype="0" dur="600" nodeType="clickEffect">
                <p:stCondLst>
                  <p:cond delay="200"/>
                </p:stCondLst>
                <p:childTnLst/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2800" b="1" u="none">
                <a:solidFill>
                  <a:srgbClr val="1C2B3A"/>
                </a:solidFill>
                <a:latin typeface="Georgia"/>
              </a:rPr>
              <a:t>KPI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sz="2000" b="0" u="none">
                <a:solidFill>
                  <a:srgbClr val="1C2B3A"/>
                </a:solidFill>
                <a:latin typeface="Trebuchet MS"/>
              </a:rPr>
              <a:t>— Chiffre d'affaires +15%</a:t>
            </a:r>
          </a:p>
          <a:p>
            <a:pPr algn="ctr"/>
            <a:r>
              <a:rPr sz="2000" b="0" u="none">
                <a:solidFill>
                  <a:srgbClr val="1C2B3A"/>
                </a:solidFill>
                <a:latin typeface="Trebuchet MS"/>
              </a:rPr>
              <a:t>— ROI amélioré</a:t>
            </a:r>
          </a:p>
          <a:p>
            <a:pPr algn="ctr"/>
            <a:r>
              <a:rPr sz="2000" b="0" u="none">
                <a:solidFill>
                  <a:srgbClr val="1C2B3A"/>
                </a:solidFill>
                <a:latin typeface="Trebuchet MS"/>
              </a:rPr>
              <a:t>— Budget optimisé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95782" y="115424"/>
            <a:ext cx="1508556" cy="36576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par>
              <p:cTn id="10" fill="hold" presetID="10" presetClass="entr" presetSubtype="0" dur="600" nodeType="clickEffect">
                <p:stCondLst>
                  <p:cond evt="onClick" delay="0"/>
                </p:stCondLst>
                <p:childTnLst/>
              </p:cTn>
            </p:par>
            <p:par>
              <p:cTn id="11" fill="hold" presetID="10" presetClass="entr" presetSubtype="0" dur="600" nodeType="clickEffect">
                <p:stCondLst>
                  <p:cond delay="200"/>
                </p:stCondLst>
                <p:childTnLst/>
              </p:cTn>
            </p:par>
            <p:par>
              <p:cTn id="12" fill="hold" presetID="10" presetClass="entr" presetSubtype="0" dur="600" nodeType="clickEffect">
                <p:stCondLst>
                  <p:cond delay="400"/>
                </p:stCondLst>
                <p:childTnLst/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000" b="1" u="none">
                <a:solidFill>
                  <a:srgbClr val="1C2B3A"/>
                </a:solidFill>
                <a:latin typeface="Georgia"/>
              </a:rPr>
              <a:t>Market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000" b="0" u="none">
                <a:solidFill>
                  <a:srgbClr val="1C2B3A"/>
                </a:solidFill>
                <a:latin typeface="Trebuchet MS"/>
              </a:rPr>
              <a:t>Croissance du marché observée sur les 3 derniers trimestres.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18371" y="136631"/>
            <a:ext cx="2264555" cy="36576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 u="none">
                <a:solidFill>
                  <a:srgbClr val="1C2B3A"/>
                </a:solidFill>
                <a:latin typeface="Georgia"/>
              </a:rP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000" b="0" u="none">
                <a:solidFill>
                  <a:srgbClr val="1C2B3A"/>
                </a:solidFill>
                <a:latin typeface="Trebuchet MS"/>
              </a:rPr>
              <a:t>— Phase 1 : Q1</a:t>
            </a:r>
          </a:p>
          <a:p>
            <a:pPr algn="l"/>
            <a:r>
              <a:rPr sz="2000" b="0" u="none">
                <a:solidFill>
                  <a:srgbClr val="1C2B3A"/>
                </a:solidFill>
                <a:latin typeface="Trebuchet MS"/>
              </a:rPr>
              <a:t>— Phase 2 : Q2</a:t>
            </a:r>
          </a:p>
          <a:p>
            <a:pPr algn="l"/>
            <a:r>
              <a:rPr sz="2000" b="0" u="none">
                <a:solidFill>
                  <a:srgbClr val="1C2B3A"/>
                </a:solidFill>
                <a:latin typeface="Trebuchet MS"/>
              </a:rPr>
              <a:t>— Phase 3 : Q3</a:t>
            </a:r>
          </a:p>
        </p:txBody>
      </p:sp>
      <p:sp>
        <p:nvSpPr>
          <p:cNvPr id="4" name="Rectangle 3"/>
          <p:cNvSpPr/>
          <p:nvPr/>
        </p:nvSpPr>
        <p:spPr>
          <a:xfrm>
            <a:off x="666947" y="74718"/>
            <a:ext cx="3100427" cy="36576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3600" b="1" u="none">
                <a:solidFill>
                  <a:srgbClr val="C8A84B"/>
                </a:solidFill>
                <a:latin typeface="Georgia"/>
              </a:rPr>
              <a:t>Merci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par>
              <p:cTn id="10" fill="hold" presetID="10" presetClass="entr" presetSubtype="0" dur="600" nodeType="clickEffect">
                <p:stCondLst>
                  <p:cond evt="onClick" delay="0"/>
                </p:stCondLst>
                <p:childTnLst/>
              </p:cTn>
            </p:par>
            <p:par>
              <p:cTn id="11" fill="hold" presetID="10" presetClass="entr" presetSubtype="0" dur="600" nodeType="clickEffect">
                <p:stCondLst>
                  <p:cond delay="200"/>
                </p:stCondLst>
                <p:childTnLst/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