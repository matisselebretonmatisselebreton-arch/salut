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0"/>
            <a:ext cx="6858000" cy="0"/>
          </a:xfrm>
        </p:spPr>
        <p:txBody>
          <a:bodyPr wrap="square"/>
          <a:lstStyle/>
          <a:p>
            <a:pPr algn="l"/>
            <a:r>
              <a:rPr sz="4400" b="1" u="none">
                <a:solidFill>
                  <a:srgbClr val="1C2B3A"/>
                </a:solidFill>
                <a:latin typeface="Georgia"/>
              </a:rPr>
              <a:t>Stratégie Q3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/>
          </a:p>
        </p:txBody>
      </p:sp>
    </p:spTree>
  </p:cSld>
  <p:clrMapOvr>
    <a:masterClrMapping/>
  </p:clrMapOvr>
  <p:transition spd="med" dur="645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 b="1" u="none">
                <a:solidFill>
                  <a:srgbClr val="1C2B3A"/>
                </a:solidFill>
                <a:latin typeface="Georgia"/>
              </a:rPr>
              <a:t>KPI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sz="2000" b="0" u="none">
                <a:solidFill>
                  <a:srgbClr val="1C2B3A"/>
                </a:solidFill>
                <a:latin typeface="Trebuchet MS"/>
              </a:rPr>
              <a:t>— Chiffre d'affaires +15%</a:t>
            </a:r>
          </a:p>
          <a:p>
            <a:pPr algn="ctr"/>
            <a:r>
              <a:rPr sz="2000" b="0" u="none">
                <a:solidFill>
                  <a:srgbClr val="1C2B3A"/>
                </a:solidFill>
                <a:latin typeface="Trebuchet MS"/>
              </a:rPr>
              <a:t>— ROI amélioré</a:t>
            </a:r>
          </a:p>
          <a:p>
            <a:pPr algn="ctr"/>
            <a:r>
              <a:rPr sz="2000" b="0" u="none">
                <a:solidFill>
                  <a:srgbClr val="1C2B3A"/>
                </a:solidFill>
                <a:latin typeface="Trebuchet MS"/>
              </a:rPr>
              <a:t>— Budget optimisé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51193" y="74191"/>
            <a:ext cx="2356988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 u="none">
                <a:solidFill>
                  <a:srgbClr val="1C2B3A"/>
                </a:solidFill>
                <a:latin typeface="Georgia"/>
              </a:rP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Croissance du marché observée sur les 3 derniers trimestres.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0840" y="117741"/>
            <a:ext cx="2724851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dur="408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000" b="1" u="none">
                <a:solidFill>
                  <a:srgbClr val="1C2B3A"/>
                </a:solidFill>
                <a:latin typeface="Georgia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— Phase 1 : Q1</a:t>
            </a:r>
          </a:p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— Phase 2 : Q2</a:t>
            </a:r>
          </a:p>
          <a:p>
            <a:pPr algn="l"/>
            <a:r>
              <a:rPr sz="2000" b="0" u="none">
                <a:solidFill>
                  <a:srgbClr val="1C2B3A"/>
                </a:solidFill>
                <a:latin typeface="Trebuchet MS"/>
              </a:rPr>
              <a:t>— Phase 3 : Q3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811" y="80346"/>
            <a:ext cx="2967960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 u="none">
                <a:solidFill>
                  <a:srgbClr val="C8A84B"/>
                </a:solidFill>
                <a:latin typeface="Georgia"/>
              </a:rPr>
              <a:t>Merci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</a:p>
        </p:txBody>
      </p:sp>
    </p:spTree>
  </p:cSld>
  <p:clrMapOvr>
    <a:masterClrMapping/>
  </p:clrMapOvr>
  <p:transition spd="med" dur="697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